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8"/>
  </p:notesMasterIdLst>
  <p:sldIdLst>
    <p:sldId id="256" r:id="rId2"/>
    <p:sldId id="327" r:id="rId3"/>
    <p:sldId id="274" r:id="rId4"/>
    <p:sldId id="258" r:id="rId5"/>
    <p:sldId id="259" r:id="rId6"/>
    <p:sldId id="261" r:id="rId7"/>
    <p:sldId id="275" r:id="rId8"/>
    <p:sldId id="325" r:id="rId9"/>
    <p:sldId id="263" r:id="rId10"/>
    <p:sldId id="262" r:id="rId11"/>
    <p:sldId id="267" r:id="rId12"/>
    <p:sldId id="264" r:id="rId13"/>
    <p:sldId id="285" r:id="rId14"/>
    <p:sldId id="284" r:id="rId15"/>
    <p:sldId id="260" r:id="rId16"/>
    <p:sldId id="278" r:id="rId17"/>
    <p:sldId id="277" r:id="rId18"/>
    <p:sldId id="279" r:id="rId19"/>
    <p:sldId id="280" r:id="rId20"/>
    <p:sldId id="281" r:id="rId21"/>
    <p:sldId id="286" r:id="rId22"/>
    <p:sldId id="326" r:id="rId23"/>
    <p:sldId id="269" r:id="rId24"/>
    <p:sldId id="319" r:id="rId25"/>
    <p:sldId id="318" r:id="rId26"/>
    <p:sldId id="317" r:id="rId27"/>
    <p:sldId id="307" r:id="rId28"/>
    <p:sldId id="320" r:id="rId29"/>
    <p:sldId id="321" r:id="rId30"/>
    <p:sldId id="322" r:id="rId31"/>
    <p:sldId id="323" r:id="rId32"/>
    <p:sldId id="329" r:id="rId33"/>
    <p:sldId id="287" r:id="rId34"/>
    <p:sldId id="293" r:id="rId35"/>
    <p:sldId id="294" r:id="rId36"/>
    <p:sldId id="295" r:id="rId37"/>
    <p:sldId id="296" r:id="rId38"/>
    <p:sldId id="298" r:id="rId39"/>
    <p:sldId id="301" r:id="rId40"/>
    <p:sldId id="302" r:id="rId41"/>
    <p:sldId id="303" r:id="rId42"/>
    <p:sldId id="299" r:id="rId43"/>
    <p:sldId id="300" r:id="rId44"/>
    <p:sldId id="304" r:id="rId45"/>
    <p:sldId id="305" r:id="rId46"/>
    <p:sldId id="306" r:id="rId4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69B11291-C0C4-40EB-9831-7A4D69CD6236}">
          <p14:sldIdLst>
            <p14:sldId id="256"/>
            <p14:sldId id="327"/>
            <p14:sldId id="274"/>
            <p14:sldId id="258"/>
            <p14:sldId id="259"/>
            <p14:sldId id="261"/>
            <p14:sldId id="275"/>
            <p14:sldId id="325"/>
            <p14:sldId id="263"/>
            <p14:sldId id="262"/>
            <p14:sldId id="267"/>
            <p14:sldId id="264"/>
            <p14:sldId id="285"/>
            <p14:sldId id="284"/>
            <p14:sldId id="260"/>
            <p14:sldId id="278"/>
            <p14:sldId id="277"/>
            <p14:sldId id="279"/>
            <p14:sldId id="280"/>
            <p14:sldId id="281"/>
            <p14:sldId id="286"/>
            <p14:sldId id="326"/>
            <p14:sldId id="269"/>
            <p14:sldId id="319"/>
            <p14:sldId id="318"/>
            <p14:sldId id="317"/>
            <p14:sldId id="307"/>
            <p14:sldId id="320"/>
            <p14:sldId id="321"/>
            <p14:sldId id="322"/>
            <p14:sldId id="323"/>
            <p14:sldId id="329"/>
            <p14:sldId id="287"/>
            <p14:sldId id="293"/>
            <p14:sldId id="294"/>
            <p14:sldId id="295"/>
            <p14:sldId id="296"/>
            <p14:sldId id="298"/>
            <p14:sldId id="301"/>
            <p14:sldId id="302"/>
            <p14:sldId id="303"/>
            <p14:sldId id="299"/>
            <p14:sldId id="300"/>
            <p14:sldId id="304"/>
            <p14:sldId id="305"/>
            <p14:sldId id="30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86015" autoAdjust="0"/>
  </p:normalViewPr>
  <p:slideViewPr>
    <p:cSldViewPr snapToGrid="0">
      <p:cViewPr varScale="1">
        <p:scale>
          <a:sx n="60" d="100"/>
          <a:sy n="60" d="100"/>
        </p:scale>
        <p:origin x="1140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B1C5C1-54CE-4892-A53C-9115FF4B63AE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4AE1F8-3712-49A6-BC7C-273E12ADC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89373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Lược sử phát triển NLP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7774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Tx/>
              <a:buChar char="-"/>
            </a:pPr>
            <a:r>
              <a:rPr lang="en-US"/>
              <a:t>LLM là gì?</a:t>
            </a:r>
          </a:p>
          <a:p>
            <a:pPr marL="285750" indent="-285750">
              <a:buFontTx/>
              <a:buChar char="-"/>
            </a:pPr>
            <a:r>
              <a:rPr lang="en-US"/>
              <a:t>Tại sao lại gọi là LLM</a:t>
            </a:r>
          </a:p>
          <a:p>
            <a:pPr marL="285750" indent="-285750">
              <a:buFontTx/>
              <a:buChar char="-"/>
            </a:pPr>
            <a:r>
              <a:rPr lang="en-US"/>
              <a:t>Dựa trên nguyên lý? (xây dựng dựa trên transformer làm mô hình cơ sở, tuy nhiên thì có chút biến đổi)</a:t>
            </a:r>
          </a:p>
          <a:p>
            <a:pPr marL="285750" indent="-285750">
              <a:buFontTx/>
              <a:buChar char="-"/>
            </a:pPr>
            <a:r>
              <a:rPr lang="en-US"/>
              <a:t>Nó có thể làm gì? (sinh văn bản, xử lý âm thanh, video…)</a:t>
            </a:r>
          </a:p>
          <a:p>
            <a:pPr marL="285750" indent="-285750">
              <a:buFontTx/>
              <a:buChar char="-"/>
            </a:pPr>
            <a:r>
              <a:rPr lang="en-US"/>
              <a:t>Kể ra một vài thông số (LLM có thể lên tới hang tỉ tham số, chi phí huấn luyện khổng lồ, kiến trúc phức tạp)</a:t>
            </a:r>
          </a:p>
          <a:p>
            <a:pPr marL="285750" indent="-285750">
              <a:buFontTx/>
              <a:buChar char="-"/>
            </a:pPr>
            <a:r>
              <a:rPr lang="en-US"/>
              <a:t>chèn hình LLM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40228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Tx/>
              <a:buChar char="-"/>
            </a:pPr>
            <a:r>
              <a:rPr lang="en-US"/>
              <a:t>Hệ thống RAG là gì?</a:t>
            </a:r>
          </a:p>
          <a:p>
            <a:pPr marL="285750" indent="-285750">
              <a:buFontTx/>
              <a:buChar char="-"/>
            </a:pPr>
            <a:r>
              <a:rPr lang="en-US"/>
              <a:t>Tác dụng?</a:t>
            </a:r>
          </a:p>
          <a:p>
            <a:pPr marL="285750" indent="-285750">
              <a:buFontTx/>
              <a:buChar char="-"/>
            </a:pPr>
            <a:r>
              <a:rPr lang="en-US"/>
              <a:t>LLM được sử dụng trong hệ thống rag như thế nào?</a:t>
            </a:r>
          </a:p>
          <a:p>
            <a:pPr marL="285750" indent="-285750">
              <a:buFontTx/>
              <a:buChar char="-"/>
            </a:pPr>
            <a:r>
              <a:rPr lang="en-US"/>
              <a:t>Sử dụng LLM và hệ thống rag để xây dựng chatbot hõ trợ học lịch sử việt nam</a:t>
            </a:r>
          </a:p>
          <a:p>
            <a:pPr marL="285750" indent="-285750">
              <a:buFontTx/>
              <a:buChar char="-"/>
            </a:pPr>
            <a:r>
              <a:rPr lang="en-US"/>
              <a:t> (tại sao 2 cái đó lại có thể sử dụng để xây dung chatbot? Lợi tích so với các phương pháp truyền thống)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67812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81756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Tx/>
              <a:buChar char="-"/>
            </a:pPr>
            <a:r>
              <a:rPr lang="en-US"/>
              <a:t>Phát biểu và phân tích bài toán:</a:t>
            </a:r>
          </a:p>
          <a:p>
            <a:pPr marL="285750" indent="-285750">
              <a:buFontTx/>
              <a:buChar char="-"/>
            </a:pPr>
            <a:r>
              <a:rPr lang="en-US"/>
              <a:t>Yêu cầu của bài toán là gì?</a:t>
            </a:r>
          </a:p>
          <a:p>
            <a:pPr marL="285750" indent="-285750">
              <a:buFontTx/>
              <a:buChar char="-"/>
            </a:pPr>
            <a:r>
              <a:rPr lang="en-US"/>
              <a:t>Tính cấp thiết của bài toán</a:t>
            </a:r>
          </a:p>
          <a:p>
            <a:pPr marL="285750" indent="-285750">
              <a:buFontTx/>
              <a:buChar char="-"/>
            </a:pPr>
            <a:r>
              <a:rPr lang="en-US"/>
              <a:t>Phân tích bài toán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6800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Tx/>
              <a:buChar char="-"/>
            </a:pPr>
            <a:r>
              <a:rPr lang="en-US"/>
              <a:t>Phương pháp đề xuất</a:t>
            </a:r>
          </a:p>
          <a:p>
            <a:pPr marL="285750" indent="-285750">
              <a:buFontTx/>
              <a:buChar char="-"/>
            </a:pPr>
            <a:r>
              <a:rPr lang="en-US"/>
              <a:t>Chèn hình, miêu tả chi tiết phương pháp đề xuất</a:t>
            </a:r>
          </a:p>
          <a:p>
            <a:pPr marL="0" indent="0">
              <a:buFontTx/>
              <a:buNone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89596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Hệ thống rag đề xuất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2388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Tx/>
              <a:buChar char="-"/>
            </a:pPr>
            <a:r>
              <a:rPr lang="en-US"/>
              <a:t>Thu thập và tiền xử lý data</a:t>
            </a:r>
          </a:p>
          <a:p>
            <a:pPr marL="285750" indent="-285750">
              <a:buFontTx/>
              <a:buChar char="-"/>
            </a:pPr>
            <a:endParaRPr lang="en-US"/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183968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Mô tả phân bố của độ dài dữ liệu (đơn vị từ)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914738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Word embedding</a:t>
            </a:r>
          </a:p>
          <a:p>
            <a:r>
              <a:rPr lang="en-US"/>
              <a:t>We là gì? Ánh xạ từ word sang vector</a:t>
            </a:r>
          </a:p>
          <a:p>
            <a:r>
              <a:rPr lang="en-US"/>
              <a:t>Trong đó mỗi chiều là 1 thuộc tính…</a:t>
            </a:r>
          </a:p>
          <a:p>
            <a:r>
              <a:rPr lang="en-US"/>
              <a:t>Ví dụ như trong hình…</a:t>
            </a:r>
          </a:p>
          <a:p>
            <a:r>
              <a:rPr lang="en-US"/>
              <a:t>Như vậy,… “tóm tắt kết quả”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30603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Thông số của các mô hình embedding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29998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Đánh giá hiệu quả tokenization của các mô hình embedding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40738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Đánh giá hiệu quả embedding của các mô hình embedding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53981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Thông số các LLM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40848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Chỉ số benchmark các LLM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685901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578186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Các chức năng của hệ thống:</a:t>
            </a:r>
          </a:p>
          <a:p>
            <a:r>
              <a:rPr lang="en-US"/>
              <a:t>- Các chức năng đưuọc triển khai cho hệ thống (text chat, voice realtime.., exam…)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78997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BA8FF0-A370-F4FE-2B3E-2742A2871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FFFF73-1713-AF35-E6EB-BDDE3B9FAC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9572D1-11FD-04DE-9962-9603252203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Phương pháp triển khai hệ thống của chức năng trò chuyện realtime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280254-64FD-B7B7-B6BC-541E7AAE8B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57150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A6D1BE-2F28-C349-3A9B-B61894284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AF2E70-54A6-9D1C-4696-5C975B01D9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644C4F-D699-EA73-B5F6-52F23C794C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Giới thiệu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Lợi ích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Lợi ích khi áp dụng vào hệ thống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/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705C24-A847-DFA0-B49C-FAE4570B20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492248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CB6F9F-FE5B-CB0D-F30F-357AF32CF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1B1E36-BDCE-9FEA-F630-247FCE798C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28AB3F-9AB2-62D5-E170-37A70763CF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Phương pháp triển khai hệ thống của chức năng trò chuyện realtime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29AF9B-AA37-CC96-3DEA-ADE89D428B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60133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2E6F8-08DB-4B4B-33C5-2FE228C13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1112E2-1E5C-9B21-6641-7B14837AF9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9C3DF2-8A15-66A2-8AC4-5A15B001F8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Phương pháp triển khai hệ thống của chức năng trò chuyện realtime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C321A1-8260-116C-41AE-3354722561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055827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7DBCEC-54D0-7BBC-E46B-2E03AF9B67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59A93A-7D28-E47B-AB3D-170BE19BF3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DD6D49-CF55-A17E-8111-F237126F10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Phương pháp triển khai hệ thống của chức năng trò chuyện realtime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37947F-344F-8F53-154E-23597A8652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127189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42F870-85B9-E3EF-D359-016A19EB6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8F51B4-1035-4233-AB2D-D3BDDC238C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131019-ED3A-ACC4-EC91-BC76A59A5D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Phương pháp triển khai hệ thống của chức năng trò chuyện realtime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788F8-F212-3066-2386-A34B59547C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443952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96FB04-C9C6-229E-FC2B-5C2A68B77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E4BB12-E522-F915-5258-4D1BD4C430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79A216-FDDF-7FF7-B4AE-C9E39C4F56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Phương pháp triển khai hệ thống của chức năng trò chuyện realtime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DD7BB8-A797-C90F-5B29-FCB26E8C43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45286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AF435-F13C-C32A-EB61-A4154CBE7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1E1EFA-4272-3406-1D58-697E03DCB0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34EFE-90FD-6445-F499-172C4D9259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Phương pháp triển khai hệ thống của chức năng trò chuyện realtime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A3659-3C9F-B984-C3BD-7E4F4C7184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122719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A0777F-8110-B941-281F-CFEA3895A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BD2EAD-C99F-5A82-76BE-D5287F9B21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BF7901-983D-5261-4F20-8FBFCF5929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583F75-4811-A13E-C814-1F86FAF70A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915746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769451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45770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3D29AF-B355-D1E8-9B2D-B8269525B7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07E63C-8FF0-97E4-B4F0-33843DF8C2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9F2BF-AA70-F54C-B731-3D861AB98B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C5B464-2024-A8ED-9C7C-A41DA166F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D9A9B8-1EFD-5192-7DEB-46777E7654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146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D4409B-8C38-1A8F-29F7-B3B18D1296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BF2842-D70F-50B1-4B1C-D1B015C011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316A48-E558-E35D-8FC6-00F7621CE5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08BF35-E979-8F2E-1BDB-57BAF9AC60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528570-8D79-A971-B32C-4032154AA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89187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2318E3-A4FB-1672-078A-DBEFE342F4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BA2838-D279-21C8-2B1E-036EC5DF0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E73C9-9CB4-A847-9FD2-AC9E2FAE7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B44A77-FC0F-06FC-6A12-3276BCAE64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50003C-90A9-EA1C-D7ED-504494AC0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760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8ABA76-ED91-7EE0-7E8C-E9F29DAD0A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7285B7-563E-E1FD-3978-F25D88637E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37E7BB-0E71-5989-1231-F070DE9A84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133FCD-493A-7EE4-F542-189CC6704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CF390C-B99E-3CE7-631E-DBA1E2DED5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DB861D-E93F-EE54-EB47-C65B5B9CF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3970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C85041-915D-1B57-6585-E46D8F03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5897D1-315D-6F7F-6641-E07C60B261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2216A7-44AA-621D-CAF6-5D5C83B7AA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0825DA8-420D-BB30-4DE8-99CEB403CB1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86C9977-D0CD-C314-F299-66D26BF6D2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4B8C945-B118-A49B-4EFD-6F5BAA339F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77DDD7F-0432-89CD-B540-D031806EE2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E3C6C9F-7DC5-80BB-B555-881A6BD2E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853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3508FA-B87A-A158-7C30-0140BA3B9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709ABB-F651-41F9-52CA-A367A596B0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10CD08-030F-CEE8-9986-E879A72D6F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257DE-7934-DA4A-925E-3CA9B957C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848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C0E45D9-8CEB-7175-77D2-FD2E956EB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FEACD59-99D2-8B6B-F05D-120CD3031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8994E-693D-EA8A-B9B3-0BDEECB9F6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32501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8153DD-120D-7FE1-8213-1F75220C08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51D198-FB63-C5FF-3B4D-BE5129CF26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FA32C8-5ED0-57AE-7B20-6A14B6940B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887C8D-98E3-450C-F2BE-D7C3A59DF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1831C5-FC80-9F39-EC63-8FA36704A2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6A1AA8-A581-B978-BC1C-F2EEF05BA0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10885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FAE862-AEF1-8A07-360B-04C521CCCB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B5F83F-A5F3-6969-1539-9B9CF2F3259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F20172-6BD6-DAC4-947C-B7AC2905B2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EC2EAE-1317-1E3C-5167-BECD902443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372C58-D327-543A-6915-24726869B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434148-7F51-2855-5EFB-D9B60FF6F8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2402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0A707-8C7C-3DF2-50FA-D99B169D4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FAC39-5B78-9364-F32D-066FC405A5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A63DED-A28B-E216-59C6-C6C67E9BB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CA498F-6E05-C40A-8CCF-FA4D8AF19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538E0B-6E2A-8566-2999-056785A50B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76243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0DD25BC-7B38-FF50-F800-FA1833A84F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9EDB33-95B1-B4B7-D428-ED30E9C52E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ABD337-9F18-3111-99FA-19369376FD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95D57B-FB7A-723B-8362-E65B3F7D10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9E1B01-BE7F-FFCC-9094-7723BE49B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97943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465575-5DF7-CE07-B27E-D0D694C4CE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F06DA5-2478-C139-C50B-F75C3F8850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159DF3-996C-AAC9-862D-5DBE644FDE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C66C343-037B-4BB6-A079-7472CF8881D5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C08EB3-0CA6-B077-D700-62B6406716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2DD6CA-B4DC-3EB9-5C97-BAFAFF6937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88799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7.xml"/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Relationship Id="rId5" Type="http://schemas.openxmlformats.org/officeDocument/2006/relationships/slide" Target="slide32.xml"/><Relationship Id="rId4" Type="http://schemas.openxmlformats.org/officeDocument/2006/relationships/slide" Target="slide2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2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E1FDA4-4260-660A-25D4-B13E63AE6D7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chatbot hỗ trợ học Lịch sử Việt Nam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1CE1A54-8D5F-A2BE-1887-6DEA87C9E7E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8712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2D2C35-E293-4E99-479C-AE9A34A8B6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97401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Nội dung trình bày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2F53B9-DD61-BAD9-9879-CAC09A2F4B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62526"/>
            <a:ext cx="10515600" cy="4364205"/>
          </a:xfrm>
        </p:spPr>
        <p:txBody>
          <a:bodyPr anchor="ctr"/>
          <a:lstStyle/>
          <a:p>
            <a:pPr>
              <a:lnSpc>
                <a:spcPct val="150000"/>
              </a:lnSpc>
            </a:pP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  <a:hlinkClick r:id="rId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Cơ sở lý thuyết</a:t>
            </a:r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Phương pháp đề xuất</a:t>
            </a:r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Triển khai chức năng hệ thống</a:t>
            </a:r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Kết quả triển khai</a:t>
            </a:r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19811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C6112A-65E9-4562-42DC-CB4F7F3EA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943CAA20-3569-4189-9E48-239A229A8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F5F6B3A-30D3-C8DC-D08E-C389923C86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451381"/>
            <a:ext cx="10512552" cy="4066540"/>
          </a:xfrm>
        </p:spPr>
        <p:txBody>
          <a:bodyPr anchor="b">
            <a:normAutofit/>
          </a:bodyPr>
          <a:lstStyle/>
          <a:p>
            <a:pPr algn="l">
              <a:lnSpc>
                <a:spcPct val="150000"/>
              </a:lnSpc>
            </a:pPr>
            <a:r>
              <a:rPr lang="en-US" sz="6600" b="1">
                <a:latin typeface="Times New Roman" panose="02020603050405020304" pitchFamily="18" charset="0"/>
                <a:cs typeface="Times New Roman" panose="02020603050405020304" pitchFamily="18" charset="0"/>
              </a:rPr>
              <a:t>PHẦN 1</a:t>
            </a:r>
            <a:br>
              <a:rPr lang="en-US" sz="6600" b="1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6600" b="1">
                <a:latin typeface="Times New Roman" panose="02020603050405020304" pitchFamily="18" charset="0"/>
                <a:cs typeface="Times New Roman" panose="02020603050405020304" pitchFamily="18" charset="0"/>
              </a:rPr>
              <a:t>CƠ SỞ LÝ THUYẾT</a:t>
            </a:r>
          </a:p>
        </p:txBody>
      </p:sp>
      <p:sp>
        <p:nvSpPr>
          <p:cNvPr id="9" name="sketch line">
            <a:extLst>
              <a:ext uri="{FF2B5EF4-FFF2-40B4-BE49-F238E27FC236}">
                <a16:creationId xmlns:a16="http://schemas.microsoft.com/office/drawing/2014/main" id="{DA542B6D-E775-4832-91DC-2D20F85781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4718595"/>
            <a:ext cx="5410200" cy="18288"/>
          </a:xfrm>
          <a:custGeom>
            <a:avLst/>
            <a:gdLst>
              <a:gd name="connsiteX0" fmla="*/ 0 w 5410200"/>
              <a:gd name="connsiteY0" fmla="*/ 0 h 18288"/>
              <a:gd name="connsiteX1" fmla="*/ 568071 w 5410200"/>
              <a:gd name="connsiteY1" fmla="*/ 0 h 18288"/>
              <a:gd name="connsiteX2" fmla="*/ 1298448 w 5410200"/>
              <a:gd name="connsiteY2" fmla="*/ 0 h 18288"/>
              <a:gd name="connsiteX3" fmla="*/ 1920621 w 5410200"/>
              <a:gd name="connsiteY3" fmla="*/ 0 h 18288"/>
              <a:gd name="connsiteX4" fmla="*/ 2488692 w 5410200"/>
              <a:gd name="connsiteY4" fmla="*/ 0 h 18288"/>
              <a:gd name="connsiteX5" fmla="*/ 3219069 w 5410200"/>
              <a:gd name="connsiteY5" fmla="*/ 0 h 18288"/>
              <a:gd name="connsiteX6" fmla="*/ 3895344 w 5410200"/>
              <a:gd name="connsiteY6" fmla="*/ 0 h 18288"/>
              <a:gd name="connsiteX7" fmla="*/ 4571619 w 5410200"/>
              <a:gd name="connsiteY7" fmla="*/ 0 h 18288"/>
              <a:gd name="connsiteX8" fmla="*/ 5410200 w 5410200"/>
              <a:gd name="connsiteY8" fmla="*/ 0 h 18288"/>
              <a:gd name="connsiteX9" fmla="*/ 5410200 w 5410200"/>
              <a:gd name="connsiteY9" fmla="*/ 18288 h 18288"/>
              <a:gd name="connsiteX10" fmla="*/ 4842129 w 5410200"/>
              <a:gd name="connsiteY10" fmla="*/ 18288 h 18288"/>
              <a:gd name="connsiteX11" fmla="*/ 4328160 w 5410200"/>
              <a:gd name="connsiteY11" fmla="*/ 18288 h 18288"/>
              <a:gd name="connsiteX12" fmla="*/ 3597783 w 5410200"/>
              <a:gd name="connsiteY12" fmla="*/ 18288 h 18288"/>
              <a:gd name="connsiteX13" fmla="*/ 3029712 w 5410200"/>
              <a:gd name="connsiteY13" fmla="*/ 18288 h 18288"/>
              <a:gd name="connsiteX14" fmla="*/ 2299335 w 5410200"/>
              <a:gd name="connsiteY14" fmla="*/ 18288 h 18288"/>
              <a:gd name="connsiteX15" fmla="*/ 1514856 w 5410200"/>
              <a:gd name="connsiteY15" fmla="*/ 18288 h 18288"/>
              <a:gd name="connsiteX16" fmla="*/ 892683 w 5410200"/>
              <a:gd name="connsiteY16" fmla="*/ 18288 h 18288"/>
              <a:gd name="connsiteX17" fmla="*/ 0 w 5410200"/>
              <a:gd name="connsiteY17" fmla="*/ 18288 h 18288"/>
              <a:gd name="connsiteX18" fmla="*/ 0 w 5410200"/>
              <a:gd name="connsiteY1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857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B22E11-386E-4205-349B-2F114E6134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b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Lược sử sự phát triển của NLP cho đến nay</a:t>
            </a:r>
          </a:p>
        </p:txBody>
      </p:sp>
      <p:sp>
        <p:nvSpPr>
          <p:cNvPr id="14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670133F-4560-3710-C873-80B0D2A347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>
          <a:xfrm>
            <a:off x="1181670" y="2633472"/>
            <a:ext cx="9825612" cy="3586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22461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913FD91-B87F-D541-223A-6032EB708B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299" y="1193800"/>
            <a:ext cx="7443396" cy="44703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769234B-526C-DB72-DCD1-48DEC3E236E8}"/>
              </a:ext>
            </a:extLst>
          </p:cNvPr>
          <p:cNvSpPr txBox="1">
            <a:spLocks/>
          </p:cNvSpPr>
          <p:nvPr/>
        </p:nvSpPr>
        <p:spPr>
          <a:xfrm>
            <a:off x="838200" y="222806"/>
            <a:ext cx="10515600" cy="596343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Mô hình ngôn ngữ lớn - LLM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CA59B3-8C0A-7A66-B2C3-448998BBBA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87640" y="861058"/>
            <a:ext cx="4227061" cy="5551171"/>
          </a:xfrm>
        </p:spPr>
        <p:txBody>
          <a:bodyPr anchor="ctr">
            <a:normAutofit/>
          </a:bodyPr>
          <a:lstStyle/>
          <a:p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Xử lý và sinh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văn bản tự nhiên.</a:t>
            </a:r>
          </a:p>
          <a:p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Huấn luyện trên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dữ liệu quy mô lớn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Kiến trúc phức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tạp, có hàng tỉ tham số, dựa trên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nền Transformer.</a:t>
            </a:r>
          </a:p>
          <a:p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Có thể trích xuất, phân tích, gán nhãn, sinh văn bản.</a:t>
            </a:r>
          </a:p>
          <a:p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Ứng dụng trong chatbot, giáo dục, pháp lý, y tế…</a:t>
            </a:r>
          </a:p>
        </p:txBody>
      </p:sp>
    </p:spTree>
    <p:extLst>
      <p:ext uri="{BB962C8B-B14F-4D97-AF65-F5344CB8AC3E}">
        <p14:creationId xmlns:p14="http://schemas.microsoft.com/office/powerpoint/2010/main" val="29812616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diagram of a software model&#10;&#10;AI-generated content may be incorrect.">
            <a:extLst>
              <a:ext uri="{FF2B5EF4-FFF2-40B4-BE49-F238E27FC236}">
                <a16:creationId xmlns:a16="http://schemas.microsoft.com/office/drawing/2014/main" id="{025959DD-CF58-9169-6EB0-EDEB8CE888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611" y="880412"/>
            <a:ext cx="10024778" cy="509717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2238EEB-82D7-5E21-2DF3-74DA601367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9563"/>
            <a:ext cx="10515600" cy="582608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RAG</a:t>
            </a:r>
          </a:p>
        </p:txBody>
      </p:sp>
    </p:spTree>
    <p:extLst>
      <p:ext uri="{BB962C8B-B14F-4D97-AF65-F5344CB8AC3E}">
        <p14:creationId xmlns:p14="http://schemas.microsoft.com/office/powerpoint/2010/main" val="20711356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5C277F-9E35-80E7-BAF3-F5561C1C1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943CAA20-3569-4189-9E48-239A229A8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E26550-92BF-050F-8E50-6EDE860C60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451381"/>
            <a:ext cx="10512552" cy="4066540"/>
          </a:xfrm>
        </p:spPr>
        <p:txBody>
          <a:bodyPr anchor="b">
            <a:normAutofit/>
          </a:bodyPr>
          <a:lstStyle/>
          <a:p>
            <a:pPr algn="l">
              <a:lnSpc>
                <a:spcPct val="150000"/>
              </a:lnSpc>
            </a:pPr>
            <a:r>
              <a:rPr lang="en-US" sz="6600" b="1">
                <a:latin typeface="Times New Roman" panose="02020603050405020304" pitchFamily="18" charset="0"/>
                <a:cs typeface="Times New Roman" panose="02020603050405020304" pitchFamily="18" charset="0"/>
              </a:rPr>
              <a:t>PHẦN 2</a:t>
            </a:r>
            <a:br>
              <a:rPr lang="en-US" sz="6600" b="1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66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9" name="sketch line">
            <a:extLst>
              <a:ext uri="{FF2B5EF4-FFF2-40B4-BE49-F238E27FC236}">
                <a16:creationId xmlns:a16="http://schemas.microsoft.com/office/drawing/2014/main" id="{DA542B6D-E775-4832-91DC-2D20F85781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4718595"/>
            <a:ext cx="5410200" cy="18288"/>
          </a:xfrm>
          <a:custGeom>
            <a:avLst/>
            <a:gdLst>
              <a:gd name="connsiteX0" fmla="*/ 0 w 5410200"/>
              <a:gd name="connsiteY0" fmla="*/ 0 h 18288"/>
              <a:gd name="connsiteX1" fmla="*/ 568071 w 5410200"/>
              <a:gd name="connsiteY1" fmla="*/ 0 h 18288"/>
              <a:gd name="connsiteX2" fmla="*/ 1298448 w 5410200"/>
              <a:gd name="connsiteY2" fmla="*/ 0 h 18288"/>
              <a:gd name="connsiteX3" fmla="*/ 1920621 w 5410200"/>
              <a:gd name="connsiteY3" fmla="*/ 0 h 18288"/>
              <a:gd name="connsiteX4" fmla="*/ 2488692 w 5410200"/>
              <a:gd name="connsiteY4" fmla="*/ 0 h 18288"/>
              <a:gd name="connsiteX5" fmla="*/ 3219069 w 5410200"/>
              <a:gd name="connsiteY5" fmla="*/ 0 h 18288"/>
              <a:gd name="connsiteX6" fmla="*/ 3895344 w 5410200"/>
              <a:gd name="connsiteY6" fmla="*/ 0 h 18288"/>
              <a:gd name="connsiteX7" fmla="*/ 4571619 w 5410200"/>
              <a:gd name="connsiteY7" fmla="*/ 0 h 18288"/>
              <a:gd name="connsiteX8" fmla="*/ 5410200 w 5410200"/>
              <a:gd name="connsiteY8" fmla="*/ 0 h 18288"/>
              <a:gd name="connsiteX9" fmla="*/ 5410200 w 5410200"/>
              <a:gd name="connsiteY9" fmla="*/ 18288 h 18288"/>
              <a:gd name="connsiteX10" fmla="*/ 4842129 w 5410200"/>
              <a:gd name="connsiteY10" fmla="*/ 18288 h 18288"/>
              <a:gd name="connsiteX11" fmla="*/ 4328160 w 5410200"/>
              <a:gd name="connsiteY11" fmla="*/ 18288 h 18288"/>
              <a:gd name="connsiteX12" fmla="*/ 3597783 w 5410200"/>
              <a:gd name="connsiteY12" fmla="*/ 18288 h 18288"/>
              <a:gd name="connsiteX13" fmla="*/ 3029712 w 5410200"/>
              <a:gd name="connsiteY13" fmla="*/ 18288 h 18288"/>
              <a:gd name="connsiteX14" fmla="*/ 2299335 w 5410200"/>
              <a:gd name="connsiteY14" fmla="*/ 18288 h 18288"/>
              <a:gd name="connsiteX15" fmla="*/ 1514856 w 5410200"/>
              <a:gd name="connsiteY15" fmla="*/ 18288 h 18288"/>
              <a:gd name="connsiteX16" fmla="*/ 892683 w 5410200"/>
              <a:gd name="connsiteY16" fmla="*/ 18288 h 18288"/>
              <a:gd name="connsiteX17" fmla="*/ 0 w 5410200"/>
              <a:gd name="connsiteY17" fmla="*/ 18288 h 18288"/>
              <a:gd name="connsiteX18" fmla="*/ 0 w 5410200"/>
              <a:gd name="connsiteY1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35899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D22B329-5946-0058-2924-CAF410C0CE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24C33F-1BB9-7361-0EA8-3F90BC2D3B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Phát biểu bài toán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Phương pháp đề xuất triển khai hệ thống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Hệ thống RAG đề xuất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Quy trình thu thập và tiền xử lý dữ liệu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Mô hình embedding đề xuất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Các LLM đề xuất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8637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38C0A4-F40D-E95E-AA3C-784AF0AC48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B0949BD-FE15-2034-9E1F-C68CAFB203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5" y="640080"/>
            <a:ext cx="5641527" cy="148132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200" b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Phát biểu và phân tích bài toán</a:t>
            </a:r>
          </a:p>
        </p:txBody>
      </p:sp>
      <p:sp>
        <p:nvSpPr>
          <p:cNvPr id="20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D185E23-891A-7431-5F67-01B4A2C5ADB3}"/>
              </a:ext>
            </a:extLst>
          </p:cNvPr>
          <p:cNvSpPr txBox="1">
            <a:spLocks/>
          </p:cNvSpPr>
          <p:nvPr/>
        </p:nvSpPr>
        <p:spPr>
          <a:xfrm>
            <a:off x="630936" y="2660904"/>
            <a:ext cx="4818888" cy="354787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Nhu cầu cá nhân hóa và tự động hóa học tập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trong giáo dục ngày càng cao.</a:t>
            </a:r>
          </a:p>
          <a:p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Môn Lịch sử thường bị xem là khô khan =&gt; công cụ thông minh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giúp nâng cao hứng thú học tập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của người dùng.</a:t>
            </a:r>
          </a:p>
          <a:p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Sự phát triển của công nghệ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 giúp hiện thực hóa bài toán này trở nên khả thi.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AB38716-E23F-EBFD-4084-EB3D96FF793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>
          <a:xfrm>
            <a:off x="6099048" y="2350853"/>
            <a:ext cx="5458968" cy="2156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64159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EB900F-05B7-08CC-5194-A989A3B880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639464A9-8ACE-E2AB-1F57-892582DE6A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6328" y="1080321"/>
            <a:ext cx="8759344" cy="53751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F80899A-87A4-B069-E6D5-150CD2AC8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28643"/>
            <a:ext cx="10515600" cy="597071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 triển khai hệ thống</a:t>
            </a:r>
          </a:p>
        </p:txBody>
      </p:sp>
    </p:spTree>
    <p:extLst>
      <p:ext uri="{BB962C8B-B14F-4D97-AF65-F5344CB8AC3E}">
        <p14:creationId xmlns:p14="http://schemas.microsoft.com/office/powerpoint/2010/main" val="4241436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FB8E2-BAB1-3C88-F437-BD763C4BD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B2EA4F12-5E6C-115B-1FC5-640B3BC0BF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3933" y="775855"/>
            <a:ext cx="8744134" cy="54469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C0A7913-3FD0-8173-8106-223ADF6654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9002"/>
            <a:ext cx="10515600" cy="536853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RAG đề xuất</a:t>
            </a:r>
          </a:p>
        </p:txBody>
      </p:sp>
    </p:spTree>
    <p:extLst>
      <p:ext uri="{BB962C8B-B14F-4D97-AF65-F5344CB8AC3E}">
        <p14:creationId xmlns:p14="http://schemas.microsoft.com/office/powerpoint/2010/main" val="1369817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D2F7152-6CF2-FC53-F528-903F138F9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EC24352-318E-4678-A72F-9A7539F16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5" y="639520"/>
            <a:ext cx="3716475" cy="1719072"/>
          </a:xfrm>
        </p:spPr>
        <p:txBody>
          <a:bodyPr anchor="ctr">
            <a:normAutofit/>
          </a:bodyPr>
          <a:lstStyle/>
          <a:p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Quy trình thu thập dữ liệu</a:t>
            </a:r>
          </a:p>
        </p:txBody>
      </p:sp>
      <p:sp>
        <p:nvSpPr>
          <p:cNvPr id="21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8EBF7C-2AFF-055E-A7AE-F4ED5B9E08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4023360" cy="3570812"/>
          </a:xfrm>
        </p:spPr>
        <p:txBody>
          <a:bodyPr anchor="t">
            <a:noAutofit/>
          </a:bodyPr>
          <a:lstStyle/>
          <a:p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Các nội dung được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chuyển thành văn bản thô.</a:t>
            </a:r>
          </a:p>
          <a:p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Mỗi văn bản tương ứng với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một đơn vị kiến thức (chương, bài, đoạn)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cụ thể.</a:t>
            </a:r>
          </a:p>
          <a:p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Lưu trữ các văn bản trong các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tệp JSON.</a:t>
            </a:r>
          </a:p>
          <a:p>
            <a:endParaRPr lang="en-US" sz="18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Tại sao là JSON?</a:t>
            </a:r>
          </a:p>
          <a:p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Dễ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tổ chức dữ liệu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 và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mở rộng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Thân thiện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với các hệ thống lưu trữ, các mô hình NLP và pipeline xử lý.</a:t>
            </a:r>
          </a:p>
        </p:txBody>
      </p:sp>
      <p:pic>
        <p:nvPicPr>
          <p:cNvPr id="2" name="Picture 1" descr="A black background with red lines&#10;&#10;AI-generated content may be incorrect.">
            <a:extLst>
              <a:ext uri="{FF2B5EF4-FFF2-40B4-BE49-F238E27FC236}">
                <a16:creationId xmlns:a16="http://schemas.microsoft.com/office/drawing/2014/main" id="{3633D7FF-B793-8A53-A482-E4D42B1F04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4296" y="2065514"/>
            <a:ext cx="6903720" cy="2726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30147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74E8E9B-2986-2B75-F05E-024AE48AEF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Số liệu về độ dài của tài liệu theo loại (đơn vị từ)</a:t>
            </a: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4FDFC9D-F429-9A48-3418-2153B501AA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anchor="t">
            <a:normAutofit/>
          </a:bodyPr>
          <a:lstStyle/>
          <a:p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Có tổng cộng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1121 tài liệu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các loại.</a:t>
            </a:r>
          </a:p>
          <a:p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Tài liệu có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3 loại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chapter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 (chương), </a:t>
            </a:r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lesson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 (bài học) và </a:t>
            </a:r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title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 (câu hỏi hoặc tiêu đề).</a:t>
            </a:r>
          </a:p>
          <a:p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Tài liệu loại </a:t>
            </a:r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title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 chiếm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phần lớn số lượng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tài liệu thu thập được.</a:t>
            </a:r>
          </a:p>
          <a:p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Tài liệu loại </a:t>
            </a:r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title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 có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độ dài (đơn vị từ) vượt trội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so với các loại tài liệu còn lại.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CE99FB4-3AC3-CCAE-14DE-7193EDCA72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4296" y="1720330"/>
            <a:ext cx="6903720" cy="3417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30743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D95F80E-D65B-D141-A6C5-C3FF41DC9E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200" b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Quy trình tiền xử lý dữ liệu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ontent Placeholder 1">
            <a:extLst>
              <a:ext uri="{FF2B5EF4-FFF2-40B4-BE49-F238E27FC236}">
                <a16:creationId xmlns:a16="http://schemas.microsoft.com/office/drawing/2014/main" id="{E5D216DE-B5AF-62D6-A192-20976C329C99}"/>
              </a:ext>
            </a:extLst>
          </p:cNvPr>
          <p:cNvSpPr txBox="1">
            <a:spLocks/>
          </p:cNvSpPr>
          <p:nvPr/>
        </p:nvSpPr>
        <p:spPr>
          <a:xfrm>
            <a:off x="630936" y="2807208"/>
            <a:ext cx="3786294" cy="341071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Chuẩn hóa định dạng</a:t>
            </a:r>
          </a:p>
          <a:p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Loại bỏ l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ỗi chinh tả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và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ký tự đặc biệt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Loại bỏ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các mẫu dữ liệu trùng lặp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Loại bỏ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các mẫu dữ liệu không liên quan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Thống kê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các mẫu dữ liệu.</a:t>
            </a:r>
          </a:p>
          <a:p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Phân đoạn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các mẫu dữ liệu.</a:t>
            </a:r>
          </a:p>
          <a:p>
            <a:pPr marL="0"/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=&gt; Bộ dữ liệu đã được chuẩn hóa.</a:t>
            </a:r>
          </a:p>
        </p:txBody>
      </p:sp>
      <p:pic>
        <p:nvPicPr>
          <p:cNvPr id="3" name="Picture 2" descr="A diagram of a diagram&#10;&#10;AI-generated content may be incorrect.">
            <a:extLst>
              <a:ext uri="{FF2B5EF4-FFF2-40B4-BE49-F238E27FC236}">
                <a16:creationId xmlns:a16="http://schemas.microsoft.com/office/drawing/2014/main" id="{7DCC1BA7-523D-D22F-7167-44D8A3CA83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1561"/>
          <a:stretch>
            <a:fillRect/>
          </a:stretch>
        </p:blipFill>
        <p:spPr>
          <a:xfrm>
            <a:off x="4654296" y="1905973"/>
            <a:ext cx="6903720" cy="3046054"/>
          </a:xfrm>
          <a:prstGeom prst="rect">
            <a:avLst/>
          </a:prstGeom>
        </p:spPr>
      </p:pic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F1AC9F1C-B817-2F6F-7342-C759E7E42FC6}"/>
              </a:ext>
            </a:extLst>
          </p:cNvPr>
          <p:cNvSpPr txBox="1">
            <a:spLocks/>
          </p:cNvSpPr>
          <p:nvPr/>
        </p:nvSpPr>
        <p:spPr>
          <a:xfrm>
            <a:off x="7419109" y="886692"/>
            <a:ext cx="4535825" cy="4760129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68572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CF4BB7-356C-F5AE-49B0-E296505938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200" b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Word Embedding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B08AA7E-6712-4560-AADC-88353A12B52B}"/>
              </a:ext>
            </a:extLst>
          </p:cNvPr>
          <p:cNvSpPr/>
          <p:nvPr/>
        </p:nvSpPr>
        <p:spPr>
          <a:xfrm>
            <a:off x="630936" y="2807208"/>
            <a:ext cx="4564882" cy="341071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vert="horz" lIns="91440" tIns="45720" rIns="91440" bIns="45720" rtlCol="0" anchor="t">
            <a:no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i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Khái niệm:</a:t>
            </a: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Ánh xạ </a:t>
            </a:r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một từ trong tập từ điển sang vector không gian nhiều chiều.</a:t>
            </a: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Mỗi chiều </a:t>
            </a:r>
            <a:r>
              <a:rPr lang="en-US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đại diện cho một thuộc tính</a:t>
            </a:r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i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Lợi ích:</a:t>
            </a: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Giúp máy tính </a:t>
            </a:r>
            <a:r>
              <a:rPr lang="en-US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có thể tính toán được</a:t>
            </a:r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Giữ được ngữ cảnh </a:t>
            </a:r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và ý nghĩa của văn bản.</a:t>
            </a: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Quan trọng trong các tác vụ NLP.</a:t>
            </a:r>
          </a:p>
        </p:txBody>
      </p:sp>
      <p:pic>
        <p:nvPicPr>
          <p:cNvPr id="3" name="Picture 2" descr="A diagram of words and numbers&#10;&#10;AI-generated content may be incorrect.">
            <a:extLst>
              <a:ext uri="{FF2B5EF4-FFF2-40B4-BE49-F238E27FC236}">
                <a16:creationId xmlns:a16="http://schemas.microsoft.com/office/drawing/2014/main" id="{7D5E91D7-3243-CAC9-5D2F-3343213CA0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1562"/>
          <a:stretch>
            <a:fillRect/>
          </a:stretch>
        </p:blipFill>
        <p:spPr>
          <a:xfrm>
            <a:off x="5195818" y="640080"/>
            <a:ext cx="5820676" cy="5577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22173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661771-3F71-885B-E45A-CC15626E77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2148275"/>
              </p:ext>
            </p:extLst>
          </p:nvPr>
        </p:nvGraphicFramePr>
        <p:xfrm>
          <a:off x="168165" y="993863"/>
          <a:ext cx="11855669" cy="557784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640377">
                  <a:extLst>
                    <a:ext uri="{9D8B030D-6E8A-4147-A177-3AD203B41FA5}">
                      <a16:colId xmlns:a16="http://schemas.microsoft.com/office/drawing/2014/main" val="21212387"/>
                    </a:ext>
                  </a:extLst>
                </a:gridCol>
                <a:gridCol w="1108079">
                  <a:extLst>
                    <a:ext uri="{9D8B030D-6E8A-4147-A177-3AD203B41FA5}">
                      <a16:colId xmlns:a16="http://schemas.microsoft.com/office/drawing/2014/main" val="3098293506"/>
                    </a:ext>
                  </a:extLst>
                </a:gridCol>
                <a:gridCol w="1314156">
                  <a:extLst>
                    <a:ext uri="{9D8B030D-6E8A-4147-A177-3AD203B41FA5}">
                      <a16:colId xmlns:a16="http://schemas.microsoft.com/office/drawing/2014/main" val="1314405756"/>
                    </a:ext>
                  </a:extLst>
                </a:gridCol>
                <a:gridCol w="1318432">
                  <a:extLst>
                    <a:ext uri="{9D8B030D-6E8A-4147-A177-3AD203B41FA5}">
                      <a16:colId xmlns:a16="http://schemas.microsoft.com/office/drawing/2014/main" val="3674700715"/>
                    </a:ext>
                  </a:extLst>
                </a:gridCol>
                <a:gridCol w="1471737">
                  <a:extLst>
                    <a:ext uri="{9D8B030D-6E8A-4147-A177-3AD203B41FA5}">
                      <a16:colId xmlns:a16="http://schemas.microsoft.com/office/drawing/2014/main" val="3069290537"/>
                    </a:ext>
                  </a:extLst>
                </a:gridCol>
                <a:gridCol w="1203398">
                  <a:extLst>
                    <a:ext uri="{9D8B030D-6E8A-4147-A177-3AD203B41FA5}">
                      <a16:colId xmlns:a16="http://schemas.microsoft.com/office/drawing/2014/main" val="1466628104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3198331372"/>
                    </a:ext>
                  </a:extLst>
                </a:gridCol>
                <a:gridCol w="1103587">
                  <a:extLst>
                    <a:ext uri="{9D8B030D-6E8A-4147-A177-3AD203B41FA5}">
                      <a16:colId xmlns:a16="http://schemas.microsoft.com/office/drawing/2014/main" val="3783402126"/>
                    </a:ext>
                  </a:extLst>
                </a:gridCol>
                <a:gridCol w="1324303">
                  <a:extLst>
                    <a:ext uri="{9D8B030D-6E8A-4147-A177-3AD203B41FA5}">
                      <a16:colId xmlns:a16="http://schemas.microsoft.com/office/drawing/2014/main" val="1732880498"/>
                    </a:ext>
                  </a:extLst>
                </a:gridCol>
              </a:tblGrid>
              <a:tr h="870568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Tên mô hình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Kiến trúc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Kích thước đầu vào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Kích thước đầu ra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Số lớp Transformer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Số attention head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Kích thước </a:t>
                      </a:r>
                    </a:p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lớp ẩn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Số lượng tham số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Kích thước lưu trữ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4355500"/>
                  </a:ext>
                </a:extLst>
              </a:tr>
              <a:tr h="609397">
                <a:tc>
                  <a:txBody>
                    <a:bodyPr/>
                    <a:lstStyle/>
                    <a:p>
                      <a:pPr algn="ctr"/>
                      <a:r>
                        <a:rPr lang="en-US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all-MiniLM-L6-v2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MiniLM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256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22 triệu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~ 22 MB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99001891"/>
                  </a:ext>
                </a:extLst>
              </a:tr>
              <a:tr h="870568">
                <a:tc>
                  <a:txBody>
                    <a:bodyPr/>
                    <a:lstStyle/>
                    <a:p>
                      <a:pPr algn="ctr"/>
                      <a:r>
                        <a:rPr lang="en-US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bert-base-vietnamese-uncased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BERT base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110 triệu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418 MB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36594544"/>
                  </a:ext>
                </a:extLst>
              </a:tr>
              <a:tr h="870568">
                <a:tc>
                  <a:txBody>
                    <a:bodyPr/>
                    <a:lstStyle/>
                    <a:p>
                      <a:pPr algn="ctr"/>
                      <a:r>
                        <a:rPr lang="en-US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distiluse-base-multilingual-cased-v2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Distil-BERT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~135 triệu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~1 GB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31084599"/>
                  </a:ext>
                </a:extLst>
              </a:tr>
              <a:tr h="609397">
                <a:tc>
                  <a:txBody>
                    <a:bodyPr/>
                    <a:lstStyle/>
                    <a:p>
                      <a:pPr algn="ctr"/>
                      <a:r>
                        <a:rPr lang="en-US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multilingual-e5-small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22 triệu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86 MB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14910588"/>
                  </a:ext>
                </a:extLst>
              </a:tr>
              <a:tr h="870568">
                <a:tc>
                  <a:txBody>
                    <a:bodyPr/>
                    <a:lstStyle/>
                    <a:p>
                      <a:pPr algn="ctr"/>
                      <a:r>
                        <a:rPr lang="en-US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sup-SimSCE-VietNamese-phobert-base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PhoBERT base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110 triệu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~420 MB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30177079"/>
                  </a:ext>
                </a:extLst>
              </a:tr>
              <a:tr h="609397">
                <a:tc>
                  <a:txBody>
                    <a:bodyPr/>
                    <a:lstStyle/>
                    <a:p>
                      <a:pPr algn="ctr"/>
                      <a:r>
                        <a:rPr lang="en-US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vietnamese-bi-encoder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BERT base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~110 triệu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420 MB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14587989"/>
                  </a:ext>
                </a:extLst>
              </a:tr>
            </a:tbl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9B177B27-E32D-3C64-AA0B-31E5128D4E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1704"/>
            <a:ext cx="10515600" cy="50102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Thông số của các mô hình embedding đề xuất</a:t>
            </a:r>
          </a:p>
        </p:txBody>
      </p:sp>
    </p:spTree>
    <p:extLst>
      <p:ext uri="{BB962C8B-B14F-4D97-AF65-F5344CB8AC3E}">
        <p14:creationId xmlns:p14="http://schemas.microsoft.com/office/powerpoint/2010/main" val="39435450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9EB1C-7BB8-3DDD-C228-8251C982B0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74312"/>
            <a:ext cx="10515600" cy="515398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Hiệu quả tokenization của các mô hình embedding đề xuất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2C7826E-63F0-E204-4AFA-20B4004B3B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5305573"/>
              </p:ext>
            </p:extLst>
          </p:nvPr>
        </p:nvGraphicFramePr>
        <p:xfrm>
          <a:off x="207579" y="1923394"/>
          <a:ext cx="11776841" cy="4794079"/>
        </p:xfrm>
        <a:graphic>
          <a:graphicData uri="http://schemas.openxmlformats.org/drawingml/2006/table">
            <a:tbl>
              <a:tblPr firstRow="1" firstCol="1" bandRow="1">
                <a:tableStyleId>{3B4B98B0-60AC-42C2-AFA5-B58CD77FA1E5}</a:tableStyleId>
              </a:tblPr>
              <a:tblGrid>
                <a:gridCol w="2756338">
                  <a:extLst>
                    <a:ext uri="{9D8B030D-6E8A-4147-A177-3AD203B41FA5}">
                      <a16:colId xmlns:a16="http://schemas.microsoft.com/office/drawing/2014/main" val="3401729846"/>
                    </a:ext>
                  </a:extLst>
                </a:gridCol>
                <a:gridCol w="9020503">
                  <a:extLst>
                    <a:ext uri="{9D8B030D-6E8A-4147-A177-3AD203B41FA5}">
                      <a16:colId xmlns:a16="http://schemas.microsoft.com/office/drawing/2014/main" val="1479469748"/>
                    </a:ext>
                  </a:extLst>
                </a:gridCol>
              </a:tblGrid>
              <a:tr h="163987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Tên mô hình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Kết quả tokenization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3999059"/>
                  </a:ext>
                </a:extLst>
              </a:tr>
              <a:tr h="528343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all-MiniLM-L6-v2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['[CLS]', 'chu', '##ong', ':', 'bu', '##oi', 'đ', '##au', 'li', '##ch', 'su', 'nu', '##oc', 'ta', '[UNK]', '[UNK]', '(', '[UNK]', ')', '[UNK]', '[UNK]', '[UNK]', '[SEP]']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390032"/>
                  </a:ext>
                </a:extLst>
              </a:tr>
              <a:tr h="636140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bert-base-</a:t>
                      </a:r>
                      <a:endParaRPr lang="en-US" sz="16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vietnamese-uncased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['[CLS]', 'chuong', '[UNK]', 'bu', '##o', '##i', 'đau', 'lich', 'su', 'nu', '##oc', 'ta', '[UNK]', '[UNK]', '[UNK]', '[UNK]', '[UNK]', '[UNK]', '[UNK]', '[UNK]', '[SEP]']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32113233"/>
                  </a:ext>
                </a:extLst>
              </a:tr>
              <a:tr h="526950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distiluse-base-multilingual-cased-v2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['[CLS]', 'Chương', ':', '[UNK]', '[UNK]', '[UNK]', '[UNK]', '[UNK]', 'TA', '[UNK]', '[UNK]', '(', '[UNK]', ')', 'ʃ', '##♪', '</a:t>
                      </a: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卍</a:t>
                      </a: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', '[UNK]', '[SEP]']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15829504"/>
                  </a:ext>
                </a:extLst>
              </a:tr>
              <a:tr h="710521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multilingual-e5-small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['&lt;s&gt;', '▁Chương', ':', '▁BU', 'Ổ', 'I', '▁Đ', 'Ầ', 'U', '▁L', 'Ị', 'CH', '▁S', 'Ử', '▁N', 'ƯỚC', '▁TA', '▁', '❉', '▁', '♡', '&lt;unk&gt;', '(', 'ˆ', '◡', 'ˆ', ')', 'ʃ', '♪', '▁', '</a:t>
                      </a: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卍</a:t>
                      </a: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', '▁', '&lt;unk&gt;', '&lt;/s&gt;']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66756113"/>
                  </a:ext>
                </a:extLst>
              </a:tr>
              <a:tr h="892698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sup-SimCSE-VietNamese-phobert-base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['&lt;s&gt;', 'Ch@@', 'ương@@', ':', 'B@@', 'U@@', 'ỔI', 'Đ@@', 'Ầ@@', 'U', 'L@@', 'Ị@@', 'CH', 'S@@', 'Ử', 'N@@', 'ƯỚC', 'TA', '&lt;unk&gt;', '&lt;unk&gt;', '&lt;unk&gt;', '(@@', '&lt;unk&gt;', '&lt;unk&gt;', '&lt;unk&gt;', ')@@', 'ʃ@@', '&lt;unk&gt;', '&lt;unk&gt;', '&lt;unk&gt;', '&lt;/s&gt;']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9388337"/>
                  </a:ext>
                </a:extLst>
              </a:tr>
              <a:tr h="892698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vietnamese-bi-encoder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['&lt;s&gt;', 'Ch@@', 'ương@@', ':', 'B@@', 'U@@', 'ỔI', 'Đ@@', 'Ầ@@', 'U', 'L@@', 'Ị@@', 'CH', 'S@@', 'Ử', 'N@@', 'ƯỚC', 'TA', '&lt;unk&gt;', '&lt;unk&gt;', '&lt;unk&gt;', '(@@', '&lt;unk&gt;', '&lt;unk&gt;', '&lt;unk&gt;', ')@@', 'ʃ@@', '&lt;unk&gt;', '&lt;unk&gt;', '&lt;unk&gt;', '&lt;/s&gt;']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6204143"/>
                  </a:ext>
                </a:extLst>
              </a:tr>
            </a:tbl>
          </a:graphicData>
        </a:graphic>
      </p:graphicFrame>
      <p:sp>
        <p:nvSpPr>
          <p:cNvPr id="4" name="Title 1">
            <a:extLst>
              <a:ext uri="{FF2B5EF4-FFF2-40B4-BE49-F238E27FC236}">
                <a16:creationId xmlns:a16="http://schemas.microsoft.com/office/drawing/2014/main" id="{1CED3B1D-6194-DED2-9A17-11E9603C251E}"/>
              </a:ext>
            </a:extLst>
          </p:cNvPr>
          <p:cNvSpPr txBox="1">
            <a:spLocks/>
          </p:cNvSpPr>
          <p:nvPr/>
        </p:nvSpPr>
        <p:spPr>
          <a:xfrm>
            <a:off x="838199" y="1263761"/>
            <a:ext cx="10515600" cy="6596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i="1">
                <a:latin typeface="Times New Roman" panose="02020603050405020304" pitchFamily="18" charset="0"/>
                <a:cs typeface="Times New Roman" panose="02020603050405020304" pitchFamily="18" charset="0"/>
              </a:rPr>
              <a:t>Chuỗi mẫu:</a:t>
            </a:r>
            <a:r>
              <a:rPr lang="en-US" sz="320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vi-VN"/>
              <a:t>Chương: BUỔI ĐẦU LỊCH SỬ NƯỚC TA❉ ♡ƪ(ˆ◡ˆ)ʃ♪ </a:t>
            </a:r>
            <a:r>
              <a:rPr lang="en-US"/>
              <a:t>卍</a:t>
            </a:r>
            <a:r>
              <a:rPr lang="vi-VN"/>
              <a:t> ₯</a:t>
            </a:r>
            <a:endParaRPr lang="en-US"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02514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1014C97-2555-AAF9-4C63-8CD1146411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5019650"/>
              </p:ext>
            </p:extLst>
          </p:nvPr>
        </p:nvGraphicFramePr>
        <p:xfrm>
          <a:off x="350784" y="1166648"/>
          <a:ext cx="11490432" cy="5356632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915072">
                  <a:extLst>
                    <a:ext uri="{9D8B030D-6E8A-4147-A177-3AD203B41FA5}">
                      <a16:colId xmlns:a16="http://schemas.microsoft.com/office/drawing/2014/main" val="166289660"/>
                    </a:ext>
                  </a:extLst>
                </a:gridCol>
                <a:gridCol w="1915072">
                  <a:extLst>
                    <a:ext uri="{9D8B030D-6E8A-4147-A177-3AD203B41FA5}">
                      <a16:colId xmlns:a16="http://schemas.microsoft.com/office/drawing/2014/main" val="673666756"/>
                    </a:ext>
                  </a:extLst>
                </a:gridCol>
                <a:gridCol w="1915072">
                  <a:extLst>
                    <a:ext uri="{9D8B030D-6E8A-4147-A177-3AD203B41FA5}">
                      <a16:colId xmlns:a16="http://schemas.microsoft.com/office/drawing/2014/main" val="4127992246"/>
                    </a:ext>
                  </a:extLst>
                </a:gridCol>
                <a:gridCol w="1915072">
                  <a:extLst>
                    <a:ext uri="{9D8B030D-6E8A-4147-A177-3AD203B41FA5}">
                      <a16:colId xmlns:a16="http://schemas.microsoft.com/office/drawing/2014/main" val="985171975"/>
                    </a:ext>
                  </a:extLst>
                </a:gridCol>
                <a:gridCol w="1915072">
                  <a:extLst>
                    <a:ext uri="{9D8B030D-6E8A-4147-A177-3AD203B41FA5}">
                      <a16:colId xmlns:a16="http://schemas.microsoft.com/office/drawing/2014/main" val="3658319788"/>
                    </a:ext>
                  </a:extLst>
                </a:gridCol>
                <a:gridCol w="1915072">
                  <a:extLst>
                    <a:ext uri="{9D8B030D-6E8A-4147-A177-3AD203B41FA5}">
                      <a16:colId xmlns:a16="http://schemas.microsoft.com/office/drawing/2014/main" val="1633214803"/>
                    </a:ext>
                  </a:extLst>
                </a:gridCol>
              </a:tblGrid>
              <a:tr h="653358"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Tên mô hình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avg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max tokens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subword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OOV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9597094"/>
                  </a:ext>
                </a:extLst>
              </a:tr>
              <a:tr h="653358">
                <a:tc>
                  <a:txBody>
                    <a:bodyPr/>
                    <a:lstStyle/>
                    <a:p>
                      <a:pPr algn="ctr"/>
                      <a:r>
                        <a:rPr lang="en-US" sz="1800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all-MiniLM-L6-v2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332.72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195.55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0.35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9805985"/>
                  </a:ext>
                </a:extLst>
              </a:tr>
              <a:tr h="877480">
                <a:tc>
                  <a:txBody>
                    <a:bodyPr/>
                    <a:lstStyle/>
                    <a:p>
                      <a:pPr algn="ctr"/>
                      <a:r>
                        <a:rPr lang="en-US" sz="1800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bert-base-vietnamese-uncased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402.99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354.15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2240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0.17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6315199"/>
                  </a:ext>
                </a:extLst>
              </a:tr>
              <a:tr h="877480">
                <a:tc>
                  <a:txBody>
                    <a:bodyPr/>
                    <a:lstStyle/>
                    <a:p>
                      <a:pPr algn="ctr"/>
                      <a:r>
                        <a:rPr lang="en-US" sz="1800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distiluse-base-multilingual-cased-v2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295.42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188.49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26658815"/>
                  </a:ext>
                </a:extLst>
              </a:tr>
              <a:tr h="653358">
                <a:tc>
                  <a:txBody>
                    <a:bodyPr/>
                    <a:lstStyle/>
                    <a:p>
                      <a:pPr algn="ctr"/>
                      <a:r>
                        <a:rPr lang="en-US" sz="1800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multilingual-e5-small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293.46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185.51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0.78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11209192"/>
                  </a:ext>
                </a:extLst>
              </a:tr>
              <a:tr h="877480">
                <a:tc>
                  <a:txBody>
                    <a:bodyPr/>
                    <a:lstStyle/>
                    <a:p>
                      <a:pPr algn="ctr"/>
                      <a:r>
                        <a:rPr lang="en-US" sz="1800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sup-SimSCE-VietNamese-phobert-base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188.19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86.92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256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8183683"/>
                  </a:ext>
                </a:extLst>
              </a:tr>
              <a:tr h="653358">
                <a:tc>
                  <a:txBody>
                    <a:bodyPr/>
                    <a:lstStyle/>
                    <a:p>
                      <a:pPr algn="ctr"/>
                      <a:r>
                        <a:rPr lang="en-US" sz="1800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vietnamese-bi-encoder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368.92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313.05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1932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0.21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11196713"/>
                  </a:ext>
                </a:extLst>
              </a:tr>
            </a:tbl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14270C03-FC08-E22C-5FA5-381AF41569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4720"/>
            <a:ext cx="10515600" cy="507711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Hiệu quả embedding của các mô hình embedding đề xuất</a:t>
            </a:r>
          </a:p>
        </p:txBody>
      </p:sp>
    </p:spTree>
    <p:extLst>
      <p:ext uri="{BB962C8B-B14F-4D97-AF65-F5344CB8AC3E}">
        <p14:creationId xmlns:p14="http://schemas.microsoft.com/office/powerpoint/2010/main" val="1966808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C60DF0B-1CF0-A9FA-6663-45D03C4AFD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4682397"/>
              </p:ext>
            </p:extLst>
          </p:nvPr>
        </p:nvGraphicFramePr>
        <p:xfrm>
          <a:off x="112985" y="1946836"/>
          <a:ext cx="11966030" cy="3933971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2393206">
                  <a:extLst>
                    <a:ext uri="{9D8B030D-6E8A-4147-A177-3AD203B41FA5}">
                      <a16:colId xmlns:a16="http://schemas.microsoft.com/office/drawing/2014/main" val="693161458"/>
                    </a:ext>
                  </a:extLst>
                </a:gridCol>
                <a:gridCol w="2393206">
                  <a:extLst>
                    <a:ext uri="{9D8B030D-6E8A-4147-A177-3AD203B41FA5}">
                      <a16:colId xmlns:a16="http://schemas.microsoft.com/office/drawing/2014/main" val="3518794994"/>
                    </a:ext>
                  </a:extLst>
                </a:gridCol>
                <a:gridCol w="2393206">
                  <a:extLst>
                    <a:ext uri="{9D8B030D-6E8A-4147-A177-3AD203B41FA5}">
                      <a16:colId xmlns:a16="http://schemas.microsoft.com/office/drawing/2014/main" val="1480643193"/>
                    </a:ext>
                  </a:extLst>
                </a:gridCol>
                <a:gridCol w="2393206">
                  <a:extLst>
                    <a:ext uri="{9D8B030D-6E8A-4147-A177-3AD203B41FA5}">
                      <a16:colId xmlns:a16="http://schemas.microsoft.com/office/drawing/2014/main" val="4262199494"/>
                    </a:ext>
                  </a:extLst>
                </a:gridCol>
                <a:gridCol w="2393206">
                  <a:extLst>
                    <a:ext uri="{9D8B030D-6E8A-4147-A177-3AD203B41FA5}">
                      <a16:colId xmlns:a16="http://schemas.microsoft.com/office/drawing/2014/main" val="2223393053"/>
                    </a:ext>
                  </a:extLst>
                </a:gridCol>
              </a:tblGrid>
              <a:tr h="577830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Mô hình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Command 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Gemini 2.0 Flash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LLaMA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Mistral Large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48073651"/>
                  </a:ext>
                </a:extLst>
              </a:tr>
              <a:tr h="577830">
                <a:tc>
                  <a:txBody>
                    <a:bodyPr/>
                    <a:lstStyle/>
                    <a:p>
                      <a:pPr algn="ctr"/>
                      <a:r>
                        <a:rPr lang="en-US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Nhà cung cấp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Cohere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Google Deepmind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Mistral AI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95144492"/>
                  </a:ext>
                </a:extLst>
              </a:tr>
              <a:tr h="783611">
                <a:tc>
                  <a:txBody>
                    <a:bodyPr/>
                    <a:lstStyle/>
                    <a:p>
                      <a:pPr algn="ctr"/>
                      <a:r>
                        <a:rPr lang="en-US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Số lượng</a:t>
                      </a:r>
                    </a:p>
                    <a:p>
                      <a:pPr algn="ctr"/>
                      <a:r>
                        <a:rPr lang="en-US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tham số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111 tỷ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Không rõ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70 tỷ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123 tỷ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04914303"/>
                  </a:ext>
                </a:extLst>
              </a:tr>
              <a:tr h="997350">
                <a:tc>
                  <a:txBody>
                    <a:bodyPr/>
                    <a:lstStyle/>
                    <a:p>
                      <a:pPr algn="ctr"/>
                      <a:r>
                        <a:rPr lang="en-US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Số lượng token đầu vào tối đa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256 nghìn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1.048.576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128.000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32.768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76760618"/>
                  </a:ext>
                </a:extLst>
              </a:tr>
              <a:tr h="997350">
                <a:tc>
                  <a:txBody>
                    <a:bodyPr/>
                    <a:lstStyle/>
                    <a:p>
                      <a:pPr algn="ctr"/>
                      <a:r>
                        <a:rPr lang="en-US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Số lượng token đầu ra tối đa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8 nghìn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8.192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2.048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4.096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7841369"/>
                  </a:ext>
                </a:extLst>
              </a:tr>
            </a:tbl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91608CAD-BC1D-1ECA-750D-9425A708F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4288"/>
            <a:ext cx="10515600" cy="507711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Thông số của các mô hình LLM đề xuất</a:t>
            </a:r>
          </a:p>
        </p:txBody>
      </p:sp>
    </p:spTree>
    <p:extLst>
      <p:ext uri="{BB962C8B-B14F-4D97-AF65-F5344CB8AC3E}">
        <p14:creationId xmlns:p14="http://schemas.microsoft.com/office/powerpoint/2010/main" val="27926955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D9BF4E7-7D8D-8314-0BA4-B73681D235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1074679"/>
              </p:ext>
            </p:extLst>
          </p:nvPr>
        </p:nvGraphicFramePr>
        <p:xfrm>
          <a:off x="128752" y="1381632"/>
          <a:ext cx="11934495" cy="4519593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2386899">
                  <a:extLst>
                    <a:ext uri="{9D8B030D-6E8A-4147-A177-3AD203B41FA5}">
                      <a16:colId xmlns:a16="http://schemas.microsoft.com/office/drawing/2014/main" val="295268228"/>
                    </a:ext>
                  </a:extLst>
                </a:gridCol>
                <a:gridCol w="2386899">
                  <a:extLst>
                    <a:ext uri="{9D8B030D-6E8A-4147-A177-3AD203B41FA5}">
                      <a16:colId xmlns:a16="http://schemas.microsoft.com/office/drawing/2014/main" val="3669753581"/>
                    </a:ext>
                  </a:extLst>
                </a:gridCol>
                <a:gridCol w="2386899">
                  <a:extLst>
                    <a:ext uri="{9D8B030D-6E8A-4147-A177-3AD203B41FA5}">
                      <a16:colId xmlns:a16="http://schemas.microsoft.com/office/drawing/2014/main" val="3550204363"/>
                    </a:ext>
                  </a:extLst>
                </a:gridCol>
                <a:gridCol w="2386899">
                  <a:extLst>
                    <a:ext uri="{9D8B030D-6E8A-4147-A177-3AD203B41FA5}">
                      <a16:colId xmlns:a16="http://schemas.microsoft.com/office/drawing/2014/main" val="3573652473"/>
                    </a:ext>
                  </a:extLst>
                </a:gridCol>
                <a:gridCol w="2386899">
                  <a:extLst>
                    <a:ext uri="{9D8B030D-6E8A-4147-A177-3AD203B41FA5}">
                      <a16:colId xmlns:a16="http://schemas.microsoft.com/office/drawing/2014/main" val="1885265825"/>
                    </a:ext>
                  </a:extLst>
                </a:gridCol>
              </a:tblGrid>
              <a:tr h="502177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Tiêu chí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Gemini 2.0 Flash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Command 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LLaMA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Mistral Large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1146620"/>
                  </a:ext>
                </a:extLst>
              </a:tr>
              <a:tr h="502177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Nhà cung cấp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Google Deepmind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Cohere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Mistral AI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19030216"/>
                  </a:ext>
                </a:extLst>
              </a:tr>
              <a:tr h="502177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Trung bình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60.05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52.32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46.42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50.25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3301820"/>
                  </a:ext>
                </a:extLst>
              </a:tr>
              <a:tr h="502177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Suy luận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44.25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32.46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30.90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33.83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52965621"/>
                  </a:ext>
                </a:extLst>
              </a:tr>
              <a:tr h="502177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Lập trình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64.74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40.70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49.23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62.89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93101981"/>
                  </a:ext>
                </a:extLst>
              </a:tr>
              <a:tr h="502177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Toán học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63.19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34.23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39.33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42.20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1238244"/>
                  </a:ext>
                </a:extLst>
              </a:tr>
              <a:tr h="502177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Phân tích dữ liệu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59.92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73.85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38.75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54.20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45126792"/>
                  </a:ext>
                </a:extLst>
              </a:tr>
              <a:tr h="502177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Ngôn ngữ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42.39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46.29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41.77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40.45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74109131"/>
                  </a:ext>
                </a:extLst>
              </a:tr>
              <a:tr h="502177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Tuân thủ mệnh lệnh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85.79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86.42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78.54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67.93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56620854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9B22FCA9-DF8F-7B64-1F5A-8326287E6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4938"/>
            <a:ext cx="10515600" cy="550917"/>
          </a:xfrm>
        </p:spPr>
        <p:txBody>
          <a:bodyPr>
            <a:no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Kết quả benchmark của các LLM đề xuất</a:t>
            </a:r>
          </a:p>
        </p:txBody>
      </p:sp>
    </p:spTree>
    <p:extLst>
      <p:ext uri="{BB962C8B-B14F-4D97-AF65-F5344CB8AC3E}">
        <p14:creationId xmlns:p14="http://schemas.microsoft.com/office/powerpoint/2010/main" val="8516449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43CAA20-3569-4189-9E48-239A229A8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AE1F14-854D-0979-EB9D-62FE3FBCFD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451381"/>
            <a:ext cx="10512552" cy="4066540"/>
          </a:xfrm>
        </p:spPr>
        <p:txBody>
          <a:bodyPr anchor="b">
            <a:normAutofit/>
          </a:bodyPr>
          <a:lstStyle/>
          <a:p>
            <a:pPr algn="l"/>
            <a:r>
              <a:rPr lang="en-US" sz="6600" b="1">
                <a:latin typeface="Times New Roman" panose="02020603050405020304" pitchFamily="18" charset="0"/>
                <a:cs typeface="Times New Roman" panose="02020603050405020304" pitchFamily="18" charset="0"/>
              </a:rPr>
              <a:t>PHẦN 3</a:t>
            </a:r>
            <a:br>
              <a:rPr lang="en-US" sz="6600" b="1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6600" b="1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HỆ THỐNG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9B5BC8-5DC3-87AB-CC14-B5539F643D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199" y="4983276"/>
            <a:ext cx="10512552" cy="1126680"/>
          </a:xfrm>
        </p:spPr>
        <p:txBody>
          <a:bodyPr>
            <a:normAutofit/>
          </a:bodyPr>
          <a:lstStyle/>
          <a:p>
            <a:pPr algn="l"/>
            <a:endParaRPr lang="en-US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A542B6D-E775-4832-91DC-2D20F85781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4718595"/>
            <a:ext cx="5410200" cy="18288"/>
          </a:xfrm>
          <a:custGeom>
            <a:avLst/>
            <a:gdLst>
              <a:gd name="connsiteX0" fmla="*/ 0 w 5410200"/>
              <a:gd name="connsiteY0" fmla="*/ 0 h 18288"/>
              <a:gd name="connsiteX1" fmla="*/ 568071 w 5410200"/>
              <a:gd name="connsiteY1" fmla="*/ 0 h 18288"/>
              <a:gd name="connsiteX2" fmla="*/ 1298448 w 5410200"/>
              <a:gd name="connsiteY2" fmla="*/ 0 h 18288"/>
              <a:gd name="connsiteX3" fmla="*/ 1920621 w 5410200"/>
              <a:gd name="connsiteY3" fmla="*/ 0 h 18288"/>
              <a:gd name="connsiteX4" fmla="*/ 2488692 w 5410200"/>
              <a:gd name="connsiteY4" fmla="*/ 0 h 18288"/>
              <a:gd name="connsiteX5" fmla="*/ 3219069 w 5410200"/>
              <a:gd name="connsiteY5" fmla="*/ 0 h 18288"/>
              <a:gd name="connsiteX6" fmla="*/ 3895344 w 5410200"/>
              <a:gd name="connsiteY6" fmla="*/ 0 h 18288"/>
              <a:gd name="connsiteX7" fmla="*/ 4571619 w 5410200"/>
              <a:gd name="connsiteY7" fmla="*/ 0 h 18288"/>
              <a:gd name="connsiteX8" fmla="*/ 5410200 w 5410200"/>
              <a:gd name="connsiteY8" fmla="*/ 0 h 18288"/>
              <a:gd name="connsiteX9" fmla="*/ 5410200 w 5410200"/>
              <a:gd name="connsiteY9" fmla="*/ 18288 h 18288"/>
              <a:gd name="connsiteX10" fmla="*/ 4842129 w 5410200"/>
              <a:gd name="connsiteY10" fmla="*/ 18288 h 18288"/>
              <a:gd name="connsiteX11" fmla="*/ 4328160 w 5410200"/>
              <a:gd name="connsiteY11" fmla="*/ 18288 h 18288"/>
              <a:gd name="connsiteX12" fmla="*/ 3597783 w 5410200"/>
              <a:gd name="connsiteY12" fmla="*/ 18288 h 18288"/>
              <a:gd name="connsiteX13" fmla="*/ 3029712 w 5410200"/>
              <a:gd name="connsiteY13" fmla="*/ 18288 h 18288"/>
              <a:gd name="connsiteX14" fmla="*/ 2299335 w 5410200"/>
              <a:gd name="connsiteY14" fmla="*/ 18288 h 18288"/>
              <a:gd name="connsiteX15" fmla="*/ 1514856 w 5410200"/>
              <a:gd name="connsiteY15" fmla="*/ 18288 h 18288"/>
              <a:gd name="connsiteX16" fmla="*/ 892683 w 5410200"/>
              <a:gd name="connsiteY16" fmla="*/ 18288 h 18288"/>
              <a:gd name="connsiteX17" fmla="*/ 0 w 5410200"/>
              <a:gd name="connsiteY17" fmla="*/ 18288 h 18288"/>
              <a:gd name="connsiteX18" fmla="*/ 0 w 5410200"/>
              <a:gd name="connsiteY1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89496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566B5D6-B4F1-4270-E69E-F4F49A5F2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các chức năng hệ thống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784B7F-DAAB-1BD8-1EE4-68D495BEB4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Các chức năng của hệ thống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Triển khai chức năng chat text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Triển khai chức năng chat realtime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Triển khai quá trình sinh phản hồi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Triển khai chức năng cài đặt tùy chọn luồng chat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Triển khai chức năng đánh giá phản hồi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Triển khai chức năng khởi tạo luồng chat mới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Triển khai các chức năng xác thực người dùng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446250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6571E94-CE27-F948-46F8-8AEFD8B57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C608BEB-860E-4094-8511-78603564A7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059050" cy="685800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CDF1506-A9B8-E72A-C967-A11CD70E33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5669" y="1247078"/>
            <a:ext cx="3311720" cy="4363844"/>
          </a:xfrm>
        </p:spPr>
        <p:txBody>
          <a:bodyPr anchor="ctr">
            <a:normAutofit/>
          </a:bodyPr>
          <a:lstStyle/>
          <a:p>
            <a:r>
              <a:rPr lang="en-US" sz="3200"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Các chức năng của hệ thống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2AB956-248D-4469-5257-C9731AE3A1E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80855" y="1412489"/>
            <a:ext cx="3427283" cy="4363844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Trò chuyện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Trò chuyện văn bản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Trò chuyện thời gian thực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Khởi tạo luồng trò chuyện mới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Cài đặt tùy chọn luồng trò chuyện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Đánh giá phản hồi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F16A8D4-FE87-4604-88B2-394B5D1EB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29871" y="1412488"/>
            <a:ext cx="0" cy="365760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5376D5B-277F-09D7-AA5E-69FEF8D50F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51604" y="1412489"/>
            <a:ext cx="3197701" cy="4363844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Xác thực người dùng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Đăng nhập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Đăng ký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Đăng xuất</a:t>
            </a:r>
          </a:p>
        </p:txBody>
      </p:sp>
    </p:spTree>
    <p:extLst>
      <p:ext uri="{BB962C8B-B14F-4D97-AF65-F5344CB8AC3E}">
        <p14:creationId xmlns:p14="http://schemas.microsoft.com/office/powerpoint/2010/main" val="139197328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5F4C46-50E0-E2F4-AB13-4B9C59674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own Arrow 7">
            <a:extLst>
              <a:ext uri="{FF2B5EF4-FFF2-40B4-BE49-F238E27FC236}">
                <a16:creationId xmlns:a16="http://schemas.microsoft.com/office/drawing/2014/main" id="{89E206AD-4A18-BF0D-073E-CB716D1514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E7A47449-E9D3-7D3A-C03B-B204E608B6F4}"/>
              </a:ext>
            </a:extLst>
          </p:cNvPr>
          <p:cNvSpPr txBox="1">
            <a:spLocks/>
          </p:cNvSpPr>
          <p:nvPr/>
        </p:nvSpPr>
        <p:spPr>
          <a:xfrm>
            <a:off x="1028700" y="1967266"/>
            <a:ext cx="2628900" cy="2547257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Aft>
                <a:spcPts val="600"/>
              </a:spcAft>
            </a:pPr>
            <a:r>
              <a:rPr lang="en-US" sz="3200" b="1" kern="12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Triển khai</a:t>
            </a:r>
            <a:r>
              <a:rPr lang="en-US" sz="3200"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chức năng chat text</a:t>
            </a:r>
            <a:endParaRPr lang="en-US" sz="3200" b="1" kern="1200">
              <a:solidFill>
                <a:srgbClr val="FFFF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 descr="A group of white ovals with black text&#10;&#10;AI-generated content may be incorrect.">
            <a:extLst>
              <a:ext uri="{FF2B5EF4-FFF2-40B4-BE49-F238E27FC236}">
                <a16:creationId xmlns:a16="http://schemas.microsoft.com/office/drawing/2014/main" id="{93C0552D-E412-9A52-0602-FF32BEAE54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7804" y="842969"/>
            <a:ext cx="7462564" cy="2248593"/>
          </a:xfrm>
          <a:prstGeom prst="rect">
            <a:avLst/>
          </a:prstGeom>
        </p:spPr>
      </p:pic>
      <p:sp>
        <p:nvSpPr>
          <p:cNvPr id="6" name="Content Placeholder 1">
            <a:extLst>
              <a:ext uri="{FF2B5EF4-FFF2-40B4-BE49-F238E27FC236}">
                <a16:creationId xmlns:a16="http://schemas.microsoft.com/office/drawing/2014/main" id="{3D70ADF9-2038-0C94-84A3-DA6CBAC9D13B}"/>
              </a:ext>
            </a:extLst>
          </p:cNvPr>
          <p:cNvSpPr txBox="1">
            <a:spLocks/>
          </p:cNvSpPr>
          <p:nvPr/>
        </p:nvSpPr>
        <p:spPr>
          <a:xfrm>
            <a:off x="4527804" y="2695073"/>
            <a:ext cx="7322343" cy="2807421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Content Placeholder 1">
            <a:extLst>
              <a:ext uri="{FF2B5EF4-FFF2-40B4-BE49-F238E27FC236}">
                <a16:creationId xmlns:a16="http://schemas.microsoft.com/office/drawing/2014/main" id="{F000BBC6-7EE4-D00F-7F95-8A1DEC4EDA67}"/>
              </a:ext>
            </a:extLst>
          </p:cNvPr>
          <p:cNvSpPr txBox="1">
            <a:spLocks/>
          </p:cNvSpPr>
          <p:nvPr/>
        </p:nvSpPr>
        <p:spPr>
          <a:xfrm>
            <a:off x="4527804" y="3223319"/>
            <a:ext cx="7462564" cy="2807421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gửi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truy vấn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đến </a:t>
            </a:r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thống.</a:t>
            </a:r>
          </a:p>
          <a:p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lưu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truy vấn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vào </a:t>
            </a:r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cơ sở dữ liệu.</a:t>
            </a:r>
          </a:p>
          <a:p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gửi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truy vấn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đến </a:t>
            </a:r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thành phần sinh phản hồi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 để nhận một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phản hồi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18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trả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phản hồi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về </a:t>
            </a:r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981476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74F6D18-0D11-7068-D8FC-A7E58990E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own Arrow 7">
            <a:extLst>
              <a:ext uri="{FF2B5EF4-FFF2-40B4-BE49-F238E27FC236}">
                <a16:creationId xmlns:a16="http://schemas.microsoft.com/office/drawing/2014/main" id="{5AEDFFE1-0CD1-35E6-AC64-AC0921FFC6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A48C96C9-E561-661F-A84B-AE125732E510}"/>
              </a:ext>
            </a:extLst>
          </p:cNvPr>
          <p:cNvSpPr txBox="1">
            <a:spLocks/>
          </p:cNvSpPr>
          <p:nvPr/>
        </p:nvSpPr>
        <p:spPr>
          <a:xfrm>
            <a:off x="1028700" y="1967266"/>
            <a:ext cx="2628900" cy="2547257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Aft>
                <a:spcPts val="600"/>
              </a:spcAft>
            </a:pPr>
            <a:r>
              <a:rPr lang="en-US" sz="3200" b="1" kern="12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Triển khai</a:t>
            </a:r>
            <a:r>
              <a:rPr lang="en-US" sz="3200"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chức năng chat realtime</a:t>
            </a:r>
            <a:endParaRPr lang="en-US" sz="3200" b="1" kern="1200">
              <a:solidFill>
                <a:srgbClr val="FFFF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A1D177DD-0F50-7060-E2C7-9AAC63EA9232}"/>
              </a:ext>
            </a:extLst>
          </p:cNvPr>
          <p:cNvSpPr txBox="1">
            <a:spLocks/>
          </p:cNvSpPr>
          <p:nvPr/>
        </p:nvSpPr>
        <p:spPr>
          <a:xfrm>
            <a:off x="4652535" y="128953"/>
            <a:ext cx="7539465" cy="6593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Công nghệ chuyển đổi văn bản – âm thanh</a:t>
            </a:r>
          </a:p>
        </p:txBody>
      </p:sp>
      <p:pic>
        <p:nvPicPr>
          <p:cNvPr id="5" name="Picture 4" descr="A black and white image of a device&#10;&#10;AI-generated content may be incorrect.">
            <a:extLst>
              <a:ext uri="{FF2B5EF4-FFF2-40B4-BE49-F238E27FC236}">
                <a16:creationId xmlns:a16="http://schemas.microsoft.com/office/drawing/2014/main" id="{F59E000D-2BA4-A2F0-916F-B355E68827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6146" y="1267247"/>
            <a:ext cx="5312231" cy="278062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D681143-B154-4E44-2424-24C77F44BDC3}"/>
              </a:ext>
            </a:extLst>
          </p:cNvPr>
          <p:cNvSpPr txBox="1"/>
          <p:nvPr/>
        </p:nvSpPr>
        <p:spPr>
          <a:xfrm>
            <a:off x="4530273" y="4780313"/>
            <a:ext cx="326788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Tăng tốc độ tương tác và </a:t>
            </a:r>
          </a:p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mức độ tự nhiên khi giao tiếp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09E970-5C64-335D-C39E-B33B38067BB7}"/>
              </a:ext>
            </a:extLst>
          </p:cNvPr>
          <p:cNvSpPr txBox="1"/>
          <p:nvPr/>
        </p:nvSpPr>
        <p:spPr>
          <a:xfrm>
            <a:off x="8547916" y="4784876"/>
            <a:ext cx="330855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Mở rộng khả năng ứng dụng trong môi trường thực tế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C158DFD-768C-2FAD-9C30-5443BCAF3591}"/>
              </a:ext>
            </a:extLst>
          </p:cNvPr>
          <p:cNvSpPr txBox="1"/>
          <p:nvPr/>
        </p:nvSpPr>
        <p:spPr>
          <a:xfrm>
            <a:off x="6849448" y="5569785"/>
            <a:ext cx="31456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Tăng mức độ cá nhân hóa</a:t>
            </a:r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6F9A31D6-945D-D429-AF9D-5F114D91188E}"/>
              </a:ext>
            </a:extLst>
          </p:cNvPr>
          <p:cNvSpPr/>
          <p:nvPr/>
        </p:nvSpPr>
        <p:spPr>
          <a:xfrm rot="3036874">
            <a:off x="7180830" y="4081028"/>
            <a:ext cx="251312" cy="740809"/>
          </a:xfrm>
          <a:prstGeom prst="downArrow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48BC52E6-7B3B-469A-D8B3-1E92FA3BD86F}"/>
              </a:ext>
            </a:extLst>
          </p:cNvPr>
          <p:cNvSpPr/>
          <p:nvPr/>
        </p:nvSpPr>
        <p:spPr>
          <a:xfrm rot="18563126" flipH="1">
            <a:off x="9224287" y="4081029"/>
            <a:ext cx="251312" cy="740809"/>
          </a:xfrm>
          <a:prstGeom prst="downArrow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BC551A2D-0EE7-74D7-1850-C2AB73A5EF52}"/>
              </a:ext>
            </a:extLst>
          </p:cNvPr>
          <p:cNvSpPr/>
          <p:nvPr/>
        </p:nvSpPr>
        <p:spPr>
          <a:xfrm flipH="1">
            <a:off x="8234169" y="4160350"/>
            <a:ext cx="313747" cy="1398621"/>
          </a:xfrm>
          <a:prstGeom prst="downArrow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733396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181C05-4A38-EF8E-D69F-EF634B7010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own Arrow 7">
            <a:extLst>
              <a:ext uri="{FF2B5EF4-FFF2-40B4-BE49-F238E27FC236}">
                <a16:creationId xmlns:a16="http://schemas.microsoft.com/office/drawing/2014/main" id="{063E6E06-1AC9-C113-FFD5-D70A988811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45633E5C-6907-42C1-2F8F-23FE09DAB518}"/>
              </a:ext>
            </a:extLst>
          </p:cNvPr>
          <p:cNvSpPr txBox="1">
            <a:spLocks/>
          </p:cNvSpPr>
          <p:nvPr/>
        </p:nvSpPr>
        <p:spPr>
          <a:xfrm>
            <a:off x="1028700" y="1967266"/>
            <a:ext cx="2628900" cy="2547257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Aft>
                <a:spcPts val="600"/>
              </a:spcAft>
            </a:pPr>
            <a:r>
              <a:rPr lang="en-US" sz="3200" b="1" kern="12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Triển khai</a:t>
            </a:r>
            <a:r>
              <a:rPr lang="en-US" sz="3200"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chức năng chat realtime</a:t>
            </a:r>
            <a:endParaRPr lang="en-US" sz="3200" b="1" kern="1200">
              <a:solidFill>
                <a:srgbClr val="FFFF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 descr="A black and white oval with black text&#10;&#10;AI-generated content may be incorrect.">
            <a:extLst>
              <a:ext uri="{FF2B5EF4-FFF2-40B4-BE49-F238E27FC236}">
                <a16:creationId xmlns:a16="http://schemas.microsoft.com/office/drawing/2014/main" id="{7D089376-C3B8-937F-B760-7FD0C6471E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7804" y="633992"/>
            <a:ext cx="7267848" cy="2432154"/>
          </a:xfrm>
          <a:prstGeom prst="rect">
            <a:avLst/>
          </a:prstGeom>
        </p:spPr>
      </p:pic>
      <p:sp>
        <p:nvSpPr>
          <p:cNvPr id="3" name="Content Placeholder 1">
            <a:extLst>
              <a:ext uri="{FF2B5EF4-FFF2-40B4-BE49-F238E27FC236}">
                <a16:creationId xmlns:a16="http://schemas.microsoft.com/office/drawing/2014/main" id="{80213A1B-7225-288D-9E8F-DD1835212126}"/>
              </a:ext>
            </a:extLst>
          </p:cNvPr>
          <p:cNvSpPr txBox="1">
            <a:spLocks/>
          </p:cNvSpPr>
          <p:nvPr/>
        </p:nvSpPr>
        <p:spPr>
          <a:xfrm>
            <a:off x="4527804" y="3463738"/>
            <a:ext cx="7462564" cy="2807421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gửi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truy vấn âm thanh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đến </a:t>
            </a:r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thống.</a:t>
            </a:r>
          </a:p>
          <a:p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chuyển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 truy vấn âm thanh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sang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văn bản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lưu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truy vấn văn bản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vào </a:t>
            </a:r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cơ sở dữ liệu.</a:t>
            </a:r>
          </a:p>
          <a:p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gửi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truy vấn văn bản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đến </a:t>
            </a:r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thành phần sinh phản hồi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 để nhận một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phản hồi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chuyển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phản hồi văn bản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sang âm thanh.</a:t>
            </a:r>
          </a:p>
          <a:p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trả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phản hồi văn bản và âm thanh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về </a:t>
            </a:r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037342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6406F2-8916-A874-A242-A44A2FFA1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CDBDEA59-652C-7126-A754-D5E85C065DB2}"/>
              </a:ext>
            </a:extLst>
          </p:cNvPr>
          <p:cNvSpPr txBox="1">
            <a:spLocks/>
          </p:cNvSpPr>
          <p:nvPr/>
        </p:nvSpPr>
        <p:spPr>
          <a:xfrm>
            <a:off x="1028700" y="1967266"/>
            <a:ext cx="2628900" cy="2547257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Aft>
                <a:spcPts val="600"/>
              </a:spcAft>
            </a:pPr>
            <a:r>
              <a:rPr lang="en-US" sz="3200" b="1" kern="12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</a:t>
            </a:r>
          </a:p>
          <a:p>
            <a:pPr algn="ctr">
              <a:spcAft>
                <a:spcPts val="600"/>
              </a:spcAft>
            </a:pPr>
            <a:r>
              <a:rPr lang="en-US" sz="3200" b="1" kern="12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quá trình </a:t>
            </a:r>
          </a:p>
          <a:p>
            <a:pPr algn="ctr">
              <a:spcAft>
                <a:spcPts val="600"/>
              </a:spcAft>
            </a:pPr>
            <a:r>
              <a:rPr lang="en-US" sz="3200" b="1" kern="12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sinh phản hồi</a:t>
            </a:r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165FC9F-84B6-80BA-E6E0-68C6324F249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7316" y="1012210"/>
            <a:ext cx="6780700" cy="48312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80978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6151A2-9175-0E13-3747-A2DC1CD28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own Arrow 7">
            <a:extLst>
              <a:ext uri="{FF2B5EF4-FFF2-40B4-BE49-F238E27FC236}">
                <a16:creationId xmlns:a16="http://schemas.microsoft.com/office/drawing/2014/main" id="{EAF07150-BE70-BA04-2E37-C052F8581B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6667EEA7-39DC-797D-835A-955217BFBC10}"/>
              </a:ext>
            </a:extLst>
          </p:cNvPr>
          <p:cNvSpPr txBox="1">
            <a:spLocks/>
          </p:cNvSpPr>
          <p:nvPr/>
        </p:nvSpPr>
        <p:spPr>
          <a:xfrm>
            <a:off x="1028700" y="1967266"/>
            <a:ext cx="2628900" cy="2547257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Aft>
                <a:spcPts val="600"/>
              </a:spcAft>
            </a:pPr>
            <a:r>
              <a:rPr lang="en-US" sz="3200" b="1" kern="12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</a:t>
            </a:r>
          </a:p>
          <a:p>
            <a:pPr algn="ctr">
              <a:spcAft>
                <a:spcPts val="600"/>
              </a:spcAft>
            </a:pPr>
            <a:r>
              <a:rPr lang="en-US" sz="3200" b="1" kern="12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cài đặt</a:t>
            </a:r>
          </a:p>
          <a:p>
            <a:pPr algn="ctr">
              <a:spcAft>
                <a:spcPts val="600"/>
              </a:spcAft>
            </a:pPr>
            <a:r>
              <a:rPr lang="en-US" sz="3200" b="1" kern="12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tùy chọn</a:t>
            </a:r>
          </a:p>
          <a:p>
            <a:pPr algn="ctr">
              <a:spcAft>
                <a:spcPts val="600"/>
              </a:spcAft>
            </a:pPr>
            <a:r>
              <a:rPr lang="en-US" sz="3200" b="1" kern="12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luồng chat</a:t>
            </a:r>
          </a:p>
        </p:txBody>
      </p:sp>
      <p:pic>
        <p:nvPicPr>
          <p:cNvPr id="5" name="Picture 4" descr="A white oval with black text&#10;&#10;AI-generated content may be incorrect.">
            <a:extLst>
              <a:ext uri="{FF2B5EF4-FFF2-40B4-BE49-F238E27FC236}">
                <a16:creationId xmlns:a16="http://schemas.microsoft.com/office/drawing/2014/main" id="{3C458FF0-0405-821A-DB39-4420BA2E6F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7804" y="1289928"/>
            <a:ext cx="7269455" cy="1354676"/>
          </a:xfrm>
          <a:prstGeom prst="rect">
            <a:avLst/>
          </a:prstGeom>
        </p:spPr>
      </p:pic>
      <p:sp>
        <p:nvSpPr>
          <p:cNvPr id="3" name="Content Placeholder 1">
            <a:extLst>
              <a:ext uri="{FF2B5EF4-FFF2-40B4-BE49-F238E27FC236}">
                <a16:creationId xmlns:a16="http://schemas.microsoft.com/office/drawing/2014/main" id="{400ED71A-4F67-726A-5292-34093E8DF6EC}"/>
              </a:ext>
            </a:extLst>
          </p:cNvPr>
          <p:cNvSpPr txBox="1">
            <a:spLocks/>
          </p:cNvSpPr>
          <p:nvPr/>
        </p:nvSpPr>
        <p:spPr>
          <a:xfrm>
            <a:off x="4527804" y="2613090"/>
            <a:ext cx="7269455" cy="2744974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gửi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giá trị cài đặt tùy chọn mới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đến </a:t>
            </a:r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thống.</a:t>
            </a:r>
          </a:p>
          <a:p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lưu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giá trị cài đặt tùy chọn mới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vào </a:t>
            </a:r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cơ sở dữ liệu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trả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kết quả cập nhật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 về </a:t>
            </a:r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dùng.</a:t>
            </a:r>
            <a:endParaRPr lang="en-US" sz="1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873292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2FBDC6-72AA-9E66-BC03-7C2A4E3A9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own Arrow 7">
            <a:extLst>
              <a:ext uri="{FF2B5EF4-FFF2-40B4-BE49-F238E27FC236}">
                <a16:creationId xmlns:a16="http://schemas.microsoft.com/office/drawing/2014/main" id="{E41D787E-6965-A249-43E8-8275A77C24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13C6BBD6-C034-E4DB-E9C0-D82DD7ABCBC6}"/>
              </a:ext>
            </a:extLst>
          </p:cNvPr>
          <p:cNvSpPr txBox="1">
            <a:spLocks/>
          </p:cNvSpPr>
          <p:nvPr/>
        </p:nvSpPr>
        <p:spPr>
          <a:xfrm>
            <a:off x="1028700" y="1967266"/>
            <a:ext cx="2628900" cy="2547257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Aft>
                <a:spcPts val="600"/>
              </a:spcAft>
            </a:pPr>
            <a:r>
              <a:rPr lang="en-US" sz="3200" b="1" kern="12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</a:t>
            </a:r>
            <a:r>
              <a:rPr lang="en-US" sz="3200" b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năng đánh giá phản hồi</a:t>
            </a:r>
            <a:endParaRPr lang="en-US" sz="3200" b="1" kern="120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AE59624-E7A8-0F72-AE63-CD3C44538D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7804" y="1499936"/>
            <a:ext cx="7216219" cy="890190"/>
          </a:xfrm>
          <a:prstGeom prst="rect">
            <a:avLst/>
          </a:prstGeom>
        </p:spPr>
      </p:pic>
      <p:sp>
        <p:nvSpPr>
          <p:cNvPr id="3" name="Content Placeholder 1">
            <a:extLst>
              <a:ext uri="{FF2B5EF4-FFF2-40B4-BE49-F238E27FC236}">
                <a16:creationId xmlns:a16="http://schemas.microsoft.com/office/drawing/2014/main" id="{B766A6DA-C227-4589-0ED9-D0DE6CDB27F5}"/>
              </a:ext>
            </a:extLst>
          </p:cNvPr>
          <p:cNvSpPr txBox="1">
            <a:spLocks/>
          </p:cNvSpPr>
          <p:nvPr/>
        </p:nvSpPr>
        <p:spPr>
          <a:xfrm>
            <a:off x="4586991" y="2613090"/>
            <a:ext cx="7269455" cy="2744974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gửi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đánh giá cho một phản hồi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đến </a:t>
            </a:r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thống.</a:t>
            </a:r>
          </a:p>
          <a:p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lưu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đánh giá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vào </a:t>
            </a:r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cơ sở dữ liệu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trả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kết quả cập nhật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 về </a:t>
            </a:r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dùng.</a:t>
            </a:r>
            <a:endParaRPr lang="en-US" sz="1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630609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779F7E-C904-9E02-2E57-BF3F5364ED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own Arrow 7">
            <a:extLst>
              <a:ext uri="{FF2B5EF4-FFF2-40B4-BE49-F238E27FC236}">
                <a16:creationId xmlns:a16="http://schemas.microsoft.com/office/drawing/2014/main" id="{24B5A819-9268-DBE5-779B-8568F645A9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04A01ECF-0811-9469-0D28-9D6A9E66EB69}"/>
              </a:ext>
            </a:extLst>
          </p:cNvPr>
          <p:cNvSpPr txBox="1">
            <a:spLocks/>
          </p:cNvSpPr>
          <p:nvPr/>
        </p:nvSpPr>
        <p:spPr>
          <a:xfrm>
            <a:off x="1028700" y="1967266"/>
            <a:ext cx="2628900" cy="2547257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Aft>
                <a:spcPts val="600"/>
              </a:spcAft>
            </a:pPr>
            <a:r>
              <a:rPr lang="en-US" sz="3200" b="1" kern="12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khởi</a:t>
            </a:r>
            <a:r>
              <a:rPr lang="en-US" sz="3200" b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tạo luồng chat mới</a:t>
            </a:r>
            <a:endParaRPr lang="en-US" sz="3200" b="1" kern="120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 descr="A black and white screen with white text&#10;&#10;AI-generated content may be incorrect.">
            <a:extLst>
              <a:ext uri="{FF2B5EF4-FFF2-40B4-BE49-F238E27FC236}">
                <a16:creationId xmlns:a16="http://schemas.microsoft.com/office/drawing/2014/main" id="{0917632F-E832-AF86-60F2-FC1F98BE53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7804" y="186880"/>
            <a:ext cx="7254465" cy="3371266"/>
          </a:xfrm>
          <a:prstGeom prst="rect">
            <a:avLst/>
          </a:prstGeom>
        </p:spPr>
      </p:pic>
      <p:sp>
        <p:nvSpPr>
          <p:cNvPr id="3" name="Content Placeholder 1">
            <a:extLst>
              <a:ext uri="{FF2B5EF4-FFF2-40B4-BE49-F238E27FC236}">
                <a16:creationId xmlns:a16="http://schemas.microsoft.com/office/drawing/2014/main" id="{80080FBB-3A65-97A6-D5CB-00058532E303}"/>
              </a:ext>
            </a:extLst>
          </p:cNvPr>
          <p:cNvSpPr txBox="1">
            <a:spLocks/>
          </p:cNvSpPr>
          <p:nvPr/>
        </p:nvSpPr>
        <p:spPr>
          <a:xfrm>
            <a:off x="4527804" y="3558146"/>
            <a:ext cx="7269455" cy="2744974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gửi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yêu cầu khởi tạo luồng chat mới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đến </a:t>
            </a:r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thống.</a:t>
            </a:r>
          </a:p>
          <a:p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gọi</a:t>
            </a:r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 thành phần khởi tạo starter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để sinh các starter</a:t>
            </a:r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Thành phần khởi tạo starter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yêu cầu </a:t>
            </a:r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LLM</a:t>
            </a:r>
            <a:r>
              <a:rPr lang="en-US" sz="18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sinh ra một lược đồ starter</a:t>
            </a:r>
            <a:r>
              <a:rPr lang="en-US" sz="18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Thành phần khởi tạo starter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trích xuất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các starter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và trả về </a:t>
            </a:r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 nhúng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các starter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vào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giao diện luồng chat mới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 và trả nó về </a:t>
            </a:r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0122451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C15800-C6FC-DEB7-72B5-A5A343403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own Arrow 7">
            <a:extLst>
              <a:ext uri="{FF2B5EF4-FFF2-40B4-BE49-F238E27FC236}">
                <a16:creationId xmlns:a16="http://schemas.microsoft.com/office/drawing/2014/main" id="{0C16C8CD-9B33-86DC-CED8-39C6ADA63E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4796C4FF-F6B6-A04C-D37C-95C43DA72688}"/>
              </a:ext>
            </a:extLst>
          </p:cNvPr>
          <p:cNvSpPr txBox="1">
            <a:spLocks/>
          </p:cNvSpPr>
          <p:nvPr/>
        </p:nvSpPr>
        <p:spPr>
          <a:xfrm>
            <a:off x="1028700" y="1967266"/>
            <a:ext cx="2693068" cy="2547257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Aft>
                <a:spcPts val="600"/>
              </a:spcAft>
            </a:pPr>
            <a:r>
              <a:rPr lang="en-US" sz="3200" b="1" kern="12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</a:t>
            </a:r>
            <a:r>
              <a:rPr lang="en-US" sz="3200" b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các chức năng xác thực người dùng</a:t>
            </a:r>
            <a:endParaRPr lang="en-US" sz="3200" b="1" kern="120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7ABE13A-35F6-A159-E945-D5E68B7F26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7804" y="1920157"/>
            <a:ext cx="7258677" cy="850768"/>
          </a:xfrm>
          <a:prstGeom prst="rect">
            <a:avLst/>
          </a:prstGeom>
        </p:spPr>
      </p:pic>
      <p:pic>
        <p:nvPicPr>
          <p:cNvPr id="6" name="Picture 5" descr="A white oval with black text&#10;&#10;AI-generated content may be incorrect.">
            <a:extLst>
              <a:ext uri="{FF2B5EF4-FFF2-40B4-BE49-F238E27FC236}">
                <a16:creationId xmlns:a16="http://schemas.microsoft.com/office/drawing/2014/main" id="{CD0A0461-684F-D6AD-58C3-D0A4295B219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7805" y="548190"/>
            <a:ext cx="7258676" cy="1042132"/>
          </a:xfrm>
          <a:prstGeom prst="rect">
            <a:avLst/>
          </a:prstGeom>
        </p:spPr>
      </p:pic>
      <p:sp>
        <p:nvSpPr>
          <p:cNvPr id="3" name="Content Placeholder 1">
            <a:extLst>
              <a:ext uri="{FF2B5EF4-FFF2-40B4-BE49-F238E27FC236}">
                <a16:creationId xmlns:a16="http://schemas.microsoft.com/office/drawing/2014/main" id="{EA1EC072-B064-2353-9037-26CB26A06876}"/>
              </a:ext>
            </a:extLst>
          </p:cNvPr>
          <p:cNvSpPr txBox="1">
            <a:spLocks/>
          </p:cNvSpPr>
          <p:nvPr/>
        </p:nvSpPr>
        <p:spPr>
          <a:xfrm>
            <a:off x="4527804" y="3587032"/>
            <a:ext cx="7269455" cy="1854981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gửi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yêu cầu chức năng đính kèm thông tin tài khoản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đến </a:t>
            </a:r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thống.</a:t>
            </a:r>
          </a:p>
          <a:p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gọi</a:t>
            </a:r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 cơ sở dữ liệu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để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xác thực thông tin được gửi đến</a:t>
            </a:r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trả về </a:t>
            </a:r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kết quả thực thi chức năng.</a:t>
            </a:r>
          </a:p>
        </p:txBody>
      </p:sp>
    </p:spTree>
    <p:extLst>
      <p:ext uri="{BB962C8B-B14F-4D97-AF65-F5344CB8AC3E}">
        <p14:creationId xmlns:p14="http://schemas.microsoft.com/office/powerpoint/2010/main" val="211289115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36F37F2-9B26-CFB3-9569-4A2AAD338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3845CB0-8C87-33C3-4748-F9DF25DB2A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77AB8E-1566-A73E-B024-22414DF07A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451381"/>
            <a:ext cx="10512552" cy="4066540"/>
          </a:xfrm>
        </p:spPr>
        <p:txBody>
          <a:bodyPr anchor="b">
            <a:normAutofit/>
          </a:bodyPr>
          <a:lstStyle/>
          <a:p>
            <a:pPr algn="l">
              <a:lnSpc>
                <a:spcPct val="150000"/>
              </a:lnSpc>
            </a:pPr>
            <a:r>
              <a:rPr lang="en-US" sz="6600" b="1">
                <a:latin typeface="Times New Roman" panose="02020603050405020304" pitchFamily="18" charset="0"/>
                <a:cs typeface="Times New Roman" panose="02020603050405020304" pitchFamily="18" charset="0"/>
              </a:rPr>
              <a:t>PHẦN 4</a:t>
            </a:r>
            <a:br>
              <a:rPr lang="en-US" sz="6600" b="1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6600" b="1">
                <a:latin typeface="Times New Roman" panose="02020603050405020304" pitchFamily="18" charset="0"/>
                <a:cs typeface="Times New Roman" panose="02020603050405020304" pitchFamily="18" charset="0"/>
              </a:rPr>
              <a:t>KẾT QUẢ TRIỂN KHAI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B68620-789A-DECD-F0B0-93F889CABA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199" y="4983276"/>
            <a:ext cx="10512552" cy="1126680"/>
          </a:xfrm>
        </p:spPr>
        <p:txBody>
          <a:bodyPr>
            <a:normAutofit/>
          </a:bodyPr>
          <a:lstStyle/>
          <a:p>
            <a:pPr algn="l"/>
            <a:endParaRPr lang="en-US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727626CA-9409-4944-EC94-441133CBEC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4718595"/>
            <a:ext cx="5410200" cy="18288"/>
          </a:xfrm>
          <a:custGeom>
            <a:avLst/>
            <a:gdLst>
              <a:gd name="connsiteX0" fmla="*/ 0 w 5410200"/>
              <a:gd name="connsiteY0" fmla="*/ 0 h 18288"/>
              <a:gd name="connsiteX1" fmla="*/ 568071 w 5410200"/>
              <a:gd name="connsiteY1" fmla="*/ 0 h 18288"/>
              <a:gd name="connsiteX2" fmla="*/ 1298448 w 5410200"/>
              <a:gd name="connsiteY2" fmla="*/ 0 h 18288"/>
              <a:gd name="connsiteX3" fmla="*/ 1920621 w 5410200"/>
              <a:gd name="connsiteY3" fmla="*/ 0 h 18288"/>
              <a:gd name="connsiteX4" fmla="*/ 2488692 w 5410200"/>
              <a:gd name="connsiteY4" fmla="*/ 0 h 18288"/>
              <a:gd name="connsiteX5" fmla="*/ 3219069 w 5410200"/>
              <a:gd name="connsiteY5" fmla="*/ 0 h 18288"/>
              <a:gd name="connsiteX6" fmla="*/ 3895344 w 5410200"/>
              <a:gd name="connsiteY6" fmla="*/ 0 h 18288"/>
              <a:gd name="connsiteX7" fmla="*/ 4571619 w 5410200"/>
              <a:gd name="connsiteY7" fmla="*/ 0 h 18288"/>
              <a:gd name="connsiteX8" fmla="*/ 5410200 w 5410200"/>
              <a:gd name="connsiteY8" fmla="*/ 0 h 18288"/>
              <a:gd name="connsiteX9" fmla="*/ 5410200 w 5410200"/>
              <a:gd name="connsiteY9" fmla="*/ 18288 h 18288"/>
              <a:gd name="connsiteX10" fmla="*/ 4842129 w 5410200"/>
              <a:gd name="connsiteY10" fmla="*/ 18288 h 18288"/>
              <a:gd name="connsiteX11" fmla="*/ 4328160 w 5410200"/>
              <a:gd name="connsiteY11" fmla="*/ 18288 h 18288"/>
              <a:gd name="connsiteX12" fmla="*/ 3597783 w 5410200"/>
              <a:gd name="connsiteY12" fmla="*/ 18288 h 18288"/>
              <a:gd name="connsiteX13" fmla="*/ 3029712 w 5410200"/>
              <a:gd name="connsiteY13" fmla="*/ 18288 h 18288"/>
              <a:gd name="connsiteX14" fmla="*/ 2299335 w 5410200"/>
              <a:gd name="connsiteY14" fmla="*/ 18288 h 18288"/>
              <a:gd name="connsiteX15" fmla="*/ 1514856 w 5410200"/>
              <a:gd name="connsiteY15" fmla="*/ 18288 h 18288"/>
              <a:gd name="connsiteX16" fmla="*/ 892683 w 5410200"/>
              <a:gd name="connsiteY16" fmla="*/ 18288 h 18288"/>
              <a:gd name="connsiteX17" fmla="*/ 0 w 5410200"/>
              <a:gd name="connsiteY17" fmla="*/ 18288 h 18288"/>
              <a:gd name="connsiteX18" fmla="*/ 0 w 5410200"/>
              <a:gd name="connsiteY1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684883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32424A8-6119-9974-88AE-0F930B8D81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Đăng nhập – Giao diện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E0D7A51-1101-60C2-92A2-A01F03D49E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570" y="1135151"/>
            <a:ext cx="11082860" cy="5594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347751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329D17-A712-074A-2715-8C16E8208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03FDBAF-69B4-9152-E936-91F2B33735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Giao diện người dùng khi đăng nhập thành công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38A9484-6FE5-30D4-E3C9-5AE960C520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255" y="709449"/>
            <a:ext cx="11682248" cy="5986511"/>
          </a:xfrm>
          <a:prstGeom prst="rect">
            <a:avLst/>
          </a:prstGeom>
        </p:spPr>
      </p:pic>
      <p:sp>
        <p:nvSpPr>
          <p:cNvPr id="5" name="Arrow: Right 4">
            <a:extLst>
              <a:ext uri="{FF2B5EF4-FFF2-40B4-BE49-F238E27FC236}">
                <a16:creationId xmlns:a16="http://schemas.microsoft.com/office/drawing/2014/main" id="{982A83E3-C7A4-3151-6305-9900533ABC7B}"/>
              </a:ext>
            </a:extLst>
          </p:cNvPr>
          <p:cNvSpPr/>
          <p:nvPr/>
        </p:nvSpPr>
        <p:spPr>
          <a:xfrm rot="16200000">
            <a:off x="321085" y="1305095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496B292-FDF5-9CA1-E5AC-7699320CB385}"/>
              </a:ext>
            </a:extLst>
          </p:cNvPr>
          <p:cNvSpPr txBox="1"/>
          <p:nvPr/>
        </p:nvSpPr>
        <p:spPr>
          <a:xfrm>
            <a:off x="144517" y="1680668"/>
            <a:ext cx="13873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Danh sách luồng chat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E8B94B56-2ACB-AB1A-6D3E-3E9B9D744802}"/>
              </a:ext>
            </a:extLst>
          </p:cNvPr>
          <p:cNvSpPr/>
          <p:nvPr/>
        </p:nvSpPr>
        <p:spPr>
          <a:xfrm rot="10800000">
            <a:off x="1101708" y="887630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CD995A5-AFF4-F867-F825-0D1222E79A36}"/>
              </a:ext>
            </a:extLst>
          </p:cNvPr>
          <p:cNvSpPr txBox="1"/>
          <p:nvPr/>
        </p:nvSpPr>
        <p:spPr>
          <a:xfrm>
            <a:off x="1485480" y="786461"/>
            <a:ext cx="31978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Nút khởi tạo luồng chat mới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AC139C90-3A23-80E5-791D-DDE43BB8C30F}"/>
              </a:ext>
            </a:extLst>
          </p:cNvPr>
          <p:cNvSpPr/>
          <p:nvPr/>
        </p:nvSpPr>
        <p:spPr>
          <a:xfrm rot="19135893">
            <a:off x="10839668" y="1187779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FC5FF2-CB05-2489-D19E-17B705BB411F}"/>
              </a:ext>
            </a:extLst>
          </p:cNvPr>
          <p:cNvSpPr txBox="1"/>
          <p:nvPr/>
        </p:nvSpPr>
        <p:spPr>
          <a:xfrm>
            <a:off x="9434286" y="1326725"/>
            <a:ext cx="151011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Chọn theme sáng/tối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5AA9F55F-BDA1-9FFB-64F7-03DAD6164F12}"/>
              </a:ext>
            </a:extLst>
          </p:cNvPr>
          <p:cNvSpPr/>
          <p:nvPr/>
        </p:nvSpPr>
        <p:spPr>
          <a:xfrm rot="16200000">
            <a:off x="11395593" y="1401220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915FAD5-9CB3-D456-CEF0-074B40BE01CF}"/>
              </a:ext>
            </a:extLst>
          </p:cNvPr>
          <p:cNvSpPr txBox="1"/>
          <p:nvPr/>
        </p:nvSpPr>
        <p:spPr>
          <a:xfrm>
            <a:off x="10393478" y="1880722"/>
            <a:ext cx="151011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Tài khoản người dùng &amp; đăng xuất</a:t>
            </a:r>
          </a:p>
        </p:txBody>
      </p:sp>
    </p:spTree>
    <p:extLst>
      <p:ext uri="{BB962C8B-B14F-4D97-AF65-F5344CB8AC3E}">
        <p14:creationId xmlns:p14="http://schemas.microsoft.com/office/powerpoint/2010/main" val="244294367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E7EDC-5A9A-9DEB-525F-840C64C98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1893A3F-F17E-E5BE-EA64-E7AADD6AF1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Trò chuyện văn bản – Nhập câu hỏi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70A5FFA-3B86-20B9-18C5-DC668B464A3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1616"/>
          <a:stretch>
            <a:fillRect/>
          </a:stretch>
        </p:blipFill>
        <p:spPr>
          <a:xfrm>
            <a:off x="337334" y="1174670"/>
            <a:ext cx="11517332" cy="5113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41302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9A322D-F4E2-25D8-E0E7-5B3F0028CA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1683FDD-CB84-4EA2-D654-EC9D725E02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Trò chuyện văn bản – Hiển thị phản hồi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4B1341B-EDD9-5826-FC1C-D404C329868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897"/>
          <a:stretch>
            <a:fillRect/>
          </a:stretch>
        </p:blipFill>
        <p:spPr>
          <a:xfrm>
            <a:off x="1918843" y="709449"/>
            <a:ext cx="8354314" cy="6019908"/>
          </a:xfrm>
          <a:prstGeom prst="rect">
            <a:avLst/>
          </a:prstGeom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3E818B07-0F4F-956A-A67B-B1B6CAEACA52}"/>
              </a:ext>
            </a:extLst>
          </p:cNvPr>
          <p:cNvSpPr/>
          <p:nvPr/>
        </p:nvSpPr>
        <p:spPr>
          <a:xfrm>
            <a:off x="2211390" y="3719403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D2BF5EF-F70D-A20E-0EC1-2BBB1EEC78AB}"/>
              </a:ext>
            </a:extLst>
          </p:cNvPr>
          <p:cNvSpPr txBox="1"/>
          <p:nvPr/>
        </p:nvSpPr>
        <p:spPr>
          <a:xfrm>
            <a:off x="574455" y="3314047"/>
            <a:ext cx="160813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Gợi ý câu hỏi tiếp theo</a:t>
            </a:r>
          </a:p>
        </p:txBody>
      </p:sp>
    </p:spTree>
    <p:extLst>
      <p:ext uri="{BB962C8B-B14F-4D97-AF65-F5344CB8AC3E}">
        <p14:creationId xmlns:p14="http://schemas.microsoft.com/office/powerpoint/2010/main" val="185996075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33C04-03B4-E200-75AF-CCB8B3AD6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9CA3BF8-62D0-B0CE-DA76-DAABEA1B4D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Đánh giá phản hồi – Gửi hành vi đánh giá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D6ECA9D-188E-7287-C891-FFC70912C4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8189" y="709449"/>
            <a:ext cx="7475621" cy="318053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2DA06F8-8E6B-3140-261E-D2BEB84CC8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6732" y="4281090"/>
            <a:ext cx="5258534" cy="2448267"/>
          </a:xfrm>
          <a:prstGeom prst="rect">
            <a:avLst/>
          </a:prstGeom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6507C16-835E-C23C-C20F-D739BD8A900A}"/>
              </a:ext>
            </a:extLst>
          </p:cNvPr>
          <p:cNvSpPr/>
          <p:nvPr/>
        </p:nvSpPr>
        <p:spPr>
          <a:xfrm>
            <a:off x="3162300" y="3286125"/>
            <a:ext cx="704850" cy="361950"/>
          </a:xfrm>
          <a:prstGeom prst="round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2858B950-FE1F-E9D8-18A6-F3F3683C03DD}"/>
              </a:ext>
            </a:extLst>
          </p:cNvPr>
          <p:cNvSpPr/>
          <p:nvPr/>
        </p:nvSpPr>
        <p:spPr>
          <a:xfrm>
            <a:off x="5991224" y="4013413"/>
            <a:ext cx="209550" cy="390525"/>
          </a:xfrm>
          <a:prstGeom prst="down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Arrow: Right 1">
            <a:extLst>
              <a:ext uri="{FF2B5EF4-FFF2-40B4-BE49-F238E27FC236}">
                <a16:creationId xmlns:a16="http://schemas.microsoft.com/office/drawing/2014/main" id="{2C46C494-AA46-1078-E4B7-A4FC50FCC723}"/>
              </a:ext>
            </a:extLst>
          </p:cNvPr>
          <p:cNvSpPr/>
          <p:nvPr/>
        </p:nvSpPr>
        <p:spPr>
          <a:xfrm rot="10800000">
            <a:off x="4008528" y="3358806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38F024-7F17-F243-0B5F-E45170FB7F53}"/>
              </a:ext>
            </a:extLst>
          </p:cNvPr>
          <p:cNvSpPr txBox="1"/>
          <p:nvPr/>
        </p:nvSpPr>
        <p:spPr>
          <a:xfrm>
            <a:off x="4392301" y="3257637"/>
            <a:ext cx="26822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Chọn hành vi đánh giá</a:t>
            </a:r>
          </a:p>
        </p:txBody>
      </p:sp>
    </p:spTree>
    <p:extLst>
      <p:ext uri="{BB962C8B-B14F-4D97-AF65-F5344CB8AC3E}">
        <p14:creationId xmlns:p14="http://schemas.microsoft.com/office/powerpoint/2010/main" val="245104286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FFDCE6-5E5D-D35A-C705-F7C5E8CDD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811EB74-0364-049E-3EB6-6FF49C6464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Đánh giá phản hồi – Đánh giá được cập nhật thành công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25B93B7-C33F-D693-86EC-C9B3775D46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913" y="1137918"/>
            <a:ext cx="10374173" cy="4582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2236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C3EE7-AA88-345B-3580-ADD7EECD1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E956A8B-CAA8-BDAC-8D18-40C716A7D5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Cài đặt tùy chọn luồng chat – Danh sách tùy chọn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5105152-4C54-B83F-149B-34A0F3000E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37512"/>
            <a:ext cx="4379991" cy="318297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6C3CCA4-8612-A984-E265-EBA1DBF9F3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3106" y="709449"/>
            <a:ext cx="5344951" cy="5516815"/>
          </a:xfrm>
          <a:prstGeom prst="rect">
            <a:avLst/>
          </a:prstGeom>
        </p:spPr>
      </p:pic>
      <p:sp>
        <p:nvSpPr>
          <p:cNvPr id="7" name="Arrow: Right 6">
            <a:extLst>
              <a:ext uri="{FF2B5EF4-FFF2-40B4-BE49-F238E27FC236}">
                <a16:creationId xmlns:a16="http://schemas.microsoft.com/office/drawing/2014/main" id="{5B1D0D64-6886-15F0-1A37-177773D25362}"/>
              </a:ext>
            </a:extLst>
          </p:cNvPr>
          <p:cNvSpPr/>
          <p:nvPr/>
        </p:nvSpPr>
        <p:spPr>
          <a:xfrm>
            <a:off x="5399458" y="3247695"/>
            <a:ext cx="922380" cy="362607"/>
          </a:xfrm>
          <a:prstGeom prst="rightArrow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08EC4FC1-C177-F7CD-D655-EB946BD1CE45}"/>
              </a:ext>
            </a:extLst>
          </p:cNvPr>
          <p:cNvSpPr/>
          <p:nvPr/>
        </p:nvSpPr>
        <p:spPr>
          <a:xfrm rot="17565351">
            <a:off x="1508340" y="4930963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B53793-618D-7D05-A301-C4875A6171B6}"/>
              </a:ext>
            </a:extLst>
          </p:cNvPr>
          <p:cNvSpPr txBox="1"/>
          <p:nvPr/>
        </p:nvSpPr>
        <p:spPr>
          <a:xfrm>
            <a:off x="547898" y="5354495"/>
            <a:ext cx="16081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Click vào đây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934906-3E08-F933-9FFB-19D87F4C1640}"/>
              </a:ext>
            </a:extLst>
          </p:cNvPr>
          <p:cNvSpPr txBox="1"/>
          <p:nvPr/>
        </p:nvSpPr>
        <p:spPr>
          <a:xfrm>
            <a:off x="8385141" y="2530190"/>
            <a:ext cx="24979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Thay đổi các tùy chọn trong menu này 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3D6F02F-8EFB-6CAE-6C9C-8D7B686DE2E6}"/>
              </a:ext>
            </a:extLst>
          </p:cNvPr>
          <p:cNvSpPr/>
          <p:nvPr/>
        </p:nvSpPr>
        <p:spPr>
          <a:xfrm>
            <a:off x="6934200" y="1536700"/>
            <a:ext cx="4419600" cy="3734723"/>
          </a:xfrm>
          <a:prstGeom prst="roundRect">
            <a:avLst>
              <a:gd name="adj" fmla="val 3745"/>
            </a:avLst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CBC9AA2F-C5B2-0B33-104B-38FEE492C66C}"/>
              </a:ext>
            </a:extLst>
          </p:cNvPr>
          <p:cNvSpPr/>
          <p:nvPr/>
        </p:nvSpPr>
        <p:spPr>
          <a:xfrm rot="20004230">
            <a:off x="10094461" y="5670237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E3E3B7C-7AED-1514-EF69-210ED8AB1A32}"/>
              </a:ext>
            </a:extLst>
          </p:cNvPr>
          <p:cNvSpPr txBox="1"/>
          <p:nvPr/>
        </p:nvSpPr>
        <p:spPr>
          <a:xfrm>
            <a:off x="8226442" y="5584786"/>
            <a:ext cx="18982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Click “Confirm”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E58418F6-913B-216B-776A-C028BD980F31}"/>
              </a:ext>
            </a:extLst>
          </p:cNvPr>
          <p:cNvSpPr/>
          <p:nvPr/>
        </p:nvSpPr>
        <p:spPr>
          <a:xfrm>
            <a:off x="1747839" y="4324350"/>
            <a:ext cx="408192" cy="388033"/>
          </a:xfrm>
          <a:prstGeom prst="round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866072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343172-34BC-23DC-7AB7-319AAB251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C87D9C7-621B-0184-164F-D615FADB73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Trò chuyện văn bản với cài đặt tùy chọn mới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C0CA446-B112-B192-413A-F3FC27DEF1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5311" y="709449"/>
            <a:ext cx="7541378" cy="59924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390271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4273B8-D54F-C2E5-FD62-584770DBB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49B3CF9-1635-07EF-2ED3-6E0F21D7FD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Khởi tạo luồng chat mới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EF83D29-ED0B-AA96-29C7-7858CB0300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478" y="709449"/>
            <a:ext cx="3958961" cy="263671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F4D8F61-0A43-26C2-CB88-5038A2AD3C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791" y="4213401"/>
            <a:ext cx="5642998" cy="207704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BEDF337-5DEC-D1B0-73A1-DAE9E6AD2C9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3947"/>
          <a:stretch>
            <a:fillRect/>
          </a:stretch>
        </p:blipFill>
        <p:spPr>
          <a:xfrm>
            <a:off x="6732050" y="1349958"/>
            <a:ext cx="5099159" cy="4158084"/>
          </a:xfrm>
          <a:prstGeom prst="rect">
            <a:avLst/>
          </a:prstGeom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00D43366-CC73-4C5A-13B3-A452C6538688}"/>
              </a:ext>
            </a:extLst>
          </p:cNvPr>
          <p:cNvSpPr/>
          <p:nvPr/>
        </p:nvSpPr>
        <p:spPr>
          <a:xfrm rot="17565351">
            <a:off x="3082141" y="1541532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D373F4-8F65-0A60-1017-E156D01EEE5C}"/>
              </a:ext>
            </a:extLst>
          </p:cNvPr>
          <p:cNvSpPr txBox="1"/>
          <p:nvPr/>
        </p:nvSpPr>
        <p:spPr>
          <a:xfrm>
            <a:off x="2148098" y="1849295"/>
            <a:ext cx="160813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Click vào đây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FB9AADAD-4580-374D-0B15-A337D8E99746}"/>
              </a:ext>
            </a:extLst>
          </p:cNvPr>
          <p:cNvSpPr/>
          <p:nvPr/>
        </p:nvSpPr>
        <p:spPr>
          <a:xfrm rot="2723501">
            <a:off x="4897154" y="5180476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5C649E9-B69D-787E-CC53-C9793CE6C448}"/>
              </a:ext>
            </a:extLst>
          </p:cNvPr>
          <p:cNvSpPr txBox="1"/>
          <p:nvPr/>
        </p:nvSpPr>
        <p:spPr>
          <a:xfrm>
            <a:off x="2988360" y="5051866"/>
            <a:ext cx="18998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Chọn “Confirm”</a:t>
            </a:r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D05D5FA0-37EE-6FF3-314F-9B100CA6656E}"/>
              </a:ext>
            </a:extLst>
          </p:cNvPr>
          <p:cNvSpPr/>
          <p:nvPr/>
        </p:nvSpPr>
        <p:spPr>
          <a:xfrm>
            <a:off x="2726228" y="3452654"/>
            <a:ext cx="155404" cy="654257"/>
          </a:xfrm>
          <a:prstGeom prst="downArrow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C372DDF3-82CC-6117-A778-07937D7671F5}"/>
              </a:ext>
            </a:extLst>
          </p:cNvPr>
          <p:cNvSpPr/>
          <p:nvPr/>
        </p:nvSpPr>
        <p:spPr>
          <a:xfrm rot="16200000">
            <a:off x="6362749" y="4214655"/>
            <a:ext cx="155404" cy="654257"/>
          </a:xfrm>
          <a:prstGeom prst="downArrow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C3253E5D-4AE0-EE44-FBC8-6A0C75ECB6DA}"/>
              </a:ext>
            </a:extLst>
          </p:cNvPr>
          <p:cNvSpPr/>
          <p:nvPr/>
        </p:nvSpPr>
        <p:spPr>
          <a:xfrm>
            <a:off x="3297228" y="934665"/>
            <a:ext cx="408192" cy="388033"/>
          </a:xfrm>
          <a:prstGeom prst="round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36221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D5787-362F-F733-2A3B-78981BD3E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182D402-A58F-CC91-7E4F-29D701E7C6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Trò chuyện thời gian thực – Gửi câu hỏi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82DDE68-21B6-6D7A-D81A-3D02F91F8B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185" y="2123893"/>
            <a:ext cx="4648849" cy="261021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A915E9F-3E2A-5B7B-314D-592554EF43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612593"/>
            <a:ext cx="5901815" cy="3632814"/>
          </a:xfrm>
          <a:prstGeom prst="rect">
            <a:avLst/>
          </a:prstGeom>
        </p:spPr>
      </p:pic>
      <p:sp>
        <p:nvSpPr>
          <p:cNvPr id="6" name="Arrow: Right 5">
            <a:extLst>
              <a:ext uri="{FF2B5EF4-FFF2-40B4-BE49-F238E27FC236}">
                <a16:creationId xmlns:a16="http://schemas.microsoft.com/office/drawing/2014/main" id="{A7A4D96F-86C3-3454-CFC1-B4B9B73DC2C1}"/>
              </a:ext>
            </a:extLst>
          </p:cNvPr>
          <p:cNvSpPr/>
          <p:nvPr/>
        </p:nvSpPr>
        <p:spPr>
          <a:xfrm rot="17565351">
            <a:off x="1596241" y="3969084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3AF47F7-C0B3-1024-C010-C403188868EA}"/>
              </a:ext>
            </a:extLst>
          </p:cNvPr>
          <p:cNvSpPr txBox="1"/>
          <p:nvPr/>
        </p:nvSpPr>
        <p:spPr>
          <a:xfrm>
            <a:off x="662198" y="4276847"/>
            <a:ext cx="160813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Click vào đây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FF3F8EA-76D3-9AB1-E111-08B5069906AC}"/>
              </a:ext>
            </a:extLst>
          </p:cNvPr>
          <p:cNvSpPr/>
          <p:nvPr/>
        </p:nvSpPr>
        <p:spPr>
          <a:xfrm>
            <a:off x="1811328" y="3362217"/>
            <a:ext cx="408192" cy="388033"/>
          </a:xfrm>
          <a:prstGeom prst="round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4F1C322F-E58F-74C3-8720-56EDB96F7C79}"/>
              </a:ext>
            </a:extLst>
          </p:cNvPr>
          <p:cNvSpPr/>
          <p:nvPr/>
        </p:nvSpPr>
        <p:spPr>
          <a:xfrm>
            <a:off x="5143500" y="3448283"/>
            <a:ext cx="952500" cy="215900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39030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57AC2A-54C6-BA0C-322B-24EF9C15A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1194981-B30B-C3EA-69B7-CD8C44D1CA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Trò chuyện thời gian thực – Nhận phản hồi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0A4553E-09EC-D79B-669A-6AC0AA6598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3396" y="1466606"/>
            <a:ext cx="9165207" cy="3924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145765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223B7C-C8A4-1833-96CF-02965D092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A88EF09-C815-68BB-ADD6-46732509EA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Tạo câu hỏi trắc nghiệm (Tính năng thử nghiệm)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4DAC962-3016-D6E0-8F5F-6C2448F74A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7600" y="642946"/>
            <a:ext cx="7849695" cy="5763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762631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C3714A-37B5-A3C3-F695-3032CC2385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F9E6065-F807-F765-B75A-F98F0FCE04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Đăng xuất khỏi hệ thống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2BC2247-3942-A877-08E4-555F8B7C4F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709449"/>
            <a:ext cx="3019846" cy="173379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6B1094F-0B8C-9BB9-3083-8C956F7B4F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7464" y="3485943"/>
            <a:ext cx="2200582" cy="185763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18E3C72-41B7-B347-C8BC-5410A1FDFA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7887" y="860614"/>
            <a:ext cx="7252138" cy="5250657"/>
          </a:xfrm>
          <a:prstGeom prst="rect">
            <a:avLst/>
          </a:prstGeom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05306262-8DE5-2E96-DF07-AB5B28D47C37}"/>
              </a:ext>
            </a:extLst>
          </p:cNvPr>
          <p:cNvSpPr/>
          <p:nvPr/>
        </p:nvSpPr>
        <p:spPr>
          <a:xfrm rot="17565351">
            <a:off x="3032798" y="1370284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23B6C6-34E2-0CAD-79FA-6EA087861FE7}"/>
              </a:ext>
            </a:extLst>
          </p:cNvPr>
          <p:cNvSpPr txBox="1"/>
          <p:nvPr/>
        </p:nvSpPr>
        <p:spPr>
          <a:xfrm>
            <a:off x="2088425" y="1597495"/>
            <a:ext cx="160813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Click vào đây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D4CF1B5B-AAC0-E76A-D61C-53B828173266}"/>
              </a:ext>
            </a:extLst>
          </p:cNvPr>
          <p:cNvSpPr/>
          <p:nvPr/>
        </p:nvSpPr>
        <p:spPr>
          <a:xfrm rot="17565351">
            <a:off x="2677405" y="4920045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0D262EE3-2C6D-71CD-00B0-DA7E64242420}"/>
              </a:ext>
            </a:extLst>
          </p:cNvPr>
          <p:cNvSpPr/>
          <p:nvPr/>
        </p:nvSpPr>
        <p:spPr>
          <a:xfrm>
            <a:off x="2714796" y="2717800"/>
            <a:ext cx="155404" cy="654257"/>
          </a:xfrm>
          <a:prstGeom prst="downArrow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99644513-A06B-4C91-5EB1-9A3479650DD8}"/>
              </a:ext>
            </a:extLst>
          </p:cNvPr>
          <p:cNvSpPr/>
          <p:nvPr/>
        </p:nvSpPr>
        <p:spPr>
          <a:xfrm>
            <a:off x="4019333" y="3898900"/>
            <a:ext cx="584200" cy="177800"/>
          </a:xfrm>
          <a:prstGeom prst="rightArrow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BFA2045-4E16-7365-05BC-A2CB00264060}"/>
              </a:ext>
            </a:extLst>
          </p:cNvPr>
          <p:cNvSpPr/>
          <p:nvPr/>
        </p:nvSpPr>
        <p:spPr>
          <a:xfrm>
            <a:off x="3324325" y="801360"/>
            <a:ext cx="408192" cy="388033"/>
          </a:xfrm>
          <a:prstGeom prst="round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3490364-0D69-9DC1-4E6C-89B1B232BF2B}"/>
              </a:ext>
            </a:extLst>
          </p:cNvPr>
          <p:cNvSpPr txBox="1"/>
          <p:nvPr/>
        </p:nvSpPr>
        <p:spPr>
          <a:xfrm>
            <a:off x="7177229" y="6262436"/>
            <a:ext cx="23134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Giao diện đăng nhập</a:t>
            </a:r>
          </a:p>
        </p:txBody>
      </p:sp>
    </p:spTree>
    <p:extLst>
      <p:ext uri="{BB962C8B-B14F-4D97-AF65-F5344CB8AC3E}">
        <p14:creationId xmlns:p14="http://schemas.microsoft.com/office/powerpoint/2010/main" val="301064364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3896A03-3945-419A-B66B-4EE266EDD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" y="0"/>
            <a:ext cx="4654286" cy="685800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A03A2FD-3F54-6DE7-3EC3-329E05980D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6028" y="637762"/>
            <a:ext cx="3519099" cy="557677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4800" i="1" kern="12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34F5AD2-EDBD-4BBD-A55C-EAFFD0C709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52535" y="0"/>
            <a:ext cx="7539455" cy="68580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31525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1449</TotalTime>
  <Words>2471</Words>
  <Application>Microsoft Office PowerPoint</Application>
  <PresentationFormat>Widescreen</PresentationFormat>
  <Paragraphs>420</Paragraphs>
  <Slides>46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2" baseType="lpstr">
      <vt:lpstr>Aptos</vt:lpstr>
      <vt:lpstr>Aptos Display</vt:lpstr>
      <vt:lpstr>Arial</vt:lpstr>
      <vt:lpstr>Calibri</vt:lpstr>
      <vt:lpstr>Times New Roman</vt:lpstr>
      <vt:lpstr>Office Theme</vt:lpstr>
      <vt:lpstr>Hệ thống chatbot hỗ trợ học Lịch sử Việt Nam</vt:lpstr>
      <vt:lpstr>Nội dung trình bày</vt:lpstr>
      <vt:lpstr>PHẦN 1 CƠ SỞ LÝ THUYẾT</vt:lpstr>
      <vt:lpstr>Lược sử sự phát triển của NLP cho đến nay</vt:lpstr>
      <vt:lpstr>PowerPoint Presentation</vt:lpstr>
      <vt:lpstr>Hệ thống RAG</vt:lpstr>
      <vt:lpstr>PHẦN 2 PHƯƠNG PHÁP ĐỀ XUẤT</vt:lpstr>
      <vt:lpstr>Phương pháp đề xuất</vt:lpstr>
      <vt:lpstr>Phát biểu và phân tích bài toán</vt:lpstr>
      <vt:lpstr>Phương pháp đề xuất triển khai hệ thống</vt:lpstr>
      <vt:lpstr>Hệ thống RAG đề xuất</vt:lpstr>
      <vt:lpstr>Quy trình thu thập dữ liệu</vt:lpstr>
      <vt:lpstr>Số liệu về độ dài của tài liệu theo loại (đơn vị từ)</vt:lpstr>
      <vt:lpstr>Quy trình tiền xử lý dữ liệu</vt:lpstr>
      <vt:lpstr>Word Embedding</vt:lpstr>
      <vt:lpstr>Thông số của các mô hình embedding đề xuất</vt:lpstr>
      <vt:lpstr>Hiệu quả tokenization của các mô hình embedding đề xuất</vt:lpstr>
      <vt:lpstr>Hiệu quả embedding của các mô hình embedding đề xuất</vt:lpstr>
      <vt:lpstr>Thông số của các mô hình LLM đề xuất</vt:lpstr>
      <vt:lpstr>Kết quả benchmark của các LLM đề xuất</vt:lpstr>
      <vt:lpstr>PHẦN 3 TRIỂN KHAI CHỨC NĂNG HỆ THỐNG</vt:lpstr>
      <vt:lpstr>Triển khai các chức năng hệ thống</vt:lpstr>
      <vt:lpstr>Các chức năng của hệ thống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PHẦN 4 KẾT QUẢ TRIỂN KHAI</vt:lpstr>
      <vt:lpstr>Đăng nhập – Giao diện</vt:lpstr>
      <vt:lpstr>Giao diện người dùng khi đăng nhập thành công</vt:lpstr>
      <vt:lpstr>Trò chuyện văn bản – Nhập câu hỏi</vt:lpstr>
      <vt:lpstr>Trò chuyện văn bản – Hiển thị phản hồi</vt:lpstr>
      <vt:lpstr>Đánh giá phản hồi – Gửi hành vi đánh giá</vt:lpstr>
      <vt:lpstr>Đánh giá phản hồi – Đánh giá được cập nhật thành công</vt:lpstr>
      <vt:lpstr>Cài đặt tùy chọn luồng chat – Danh sách tùy chọn</vt:lpstr>
      <vt:lpstr>Trò chuyện văn bản với cài đặt tùy chọn mới</vt:lpstr>
      <vt:lpstr>Khởi tạo luồng chat mới</vt:lpstr>
      <vt:lpstr>Trò chuyện thời gian thực – Gửi câu hỏi</vt:lpstr>
      <vt:lpstr>Trò chuyện thời gian thực – Nhận phản hồi</vt:lpstr>
      <vt:lpstr>Tạo câu hỏi trắc nghiệm (Tính năng thử nghiệm)</vt:lpstr>
      <vt:lpstr>Đăng xuất khỏi hệ thống</vt:lpstr>
      <vt:lpstr>FIN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trung lee vieet</dc:creator>
  <cp:lastModifiedBy>trung lee vieet</cp:lastModifiedBy>
  <cp:revision>58</cp:revision>
  <dcterms:created xsi:type="dcterms:W3CDTF">2025-06-09T12:09:11Z</dcterms:created>
  <dcterms:modified xsi:type="dcterms:W3CDTF">2025-06-13T13:44:52Z</dcterms:modified>
</cp:coreProperties>
</file>