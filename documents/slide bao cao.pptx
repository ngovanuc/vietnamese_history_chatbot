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327" r:id="rId3"/>
    <p:sldId id="274" r:id="rId4"/>
    <p:sldId id="258" r:id="rId5"/>
    <p:sldId id="259" r:id="rId6"/>
    <p:sldId id="261" r:id="rId7"/>
    <p:sldId id="275" r:id="rId8"/>
    <p:sldId id="325" r:id="rId9"/>
    <p:sldId id="263" r:id="rId10"/>
    <p:sldId id="262" r:id="rId11"/>
    <p:sldId id="267" r:id="rId12"/>
    <p:sldId id="264" r:id="rId13"/>
    <p:sldId id="285" r:id="rId14"/>
    <p:sldId id="284" r:id="rId15"/>
    <p:sldId id="260" r:id="rId16"/>
    <p:sldId id="278" r:id="rId17"/>
    <p:sldId id="277" r:id="rId18"/>
    <p:sldId id="279" r:id="rId19"/>
    <p:sldId id="280" r:id="rId20"/>
    <p:sldId id="281" r:id="rId21"/>
    <p:sldId id="286" r:id="rId22"/>
    <p:sldId id="326" r:id="rId23"/>
    <p:sldId id="269" r:id="rId24"/>
    <p:sldId id="319" r:id="rId25"/>
    <p:sldId id="318" r:id="rId26"/>
    <p:sldId id="317" r:id="rId27"/>
    <p:sldId id="307" r:id="rId28"/>
    <p:sldId id="320" r:id="rId29"/>
    <p:sldId id="321" r:id="rId30"/>
    <p:sldId id="322" r:id="rId31"/>
    <p:sldId id="323" r:id="rId32"/>
    <p:sldId id="329" r:id="rId33"/>
    <p:sldId id="287" r:id="rId34"/>
    <p:sldId id="293" r:id="rId35"/>
    <p:sldId id="294" r:id="rId36"/>
    <p:sldId id="295" r:id="rId37"/>
    <p:sldId id="296" r:id="rId38"/>
    <p:sldId id="298" r:id="rId39"/>
    <p:sldId id="301" r:id="rId40"/>
    <p:sldId id="302" r:id="rId41"/>
    <p:sldId id="303" r:id="rId42"/>
    <p:sldId id="299" r:id="rId43"/>
    <p:sldId id="300" r:id="rId44"/>
    <p:sldId id="304" r:id="rId45"/>
    <p:sldId id="305" r:id="rId46"/>
    <p:sldId id="30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9B11291-C0C4-40EB-9831-7A4D69CD6236}">
          <p14:sldIdLst>
            <p14:sldId id="256"/>
            <p14:sldId id="327"/>
            <p14:sldId id="274"/>
            <p14:sldId id="258"/>
            <p14:sldId id="259"/>
            <p14:sldId id="261"/>
            <p14:sldId id="275"/>
            <p14:sldId id="325"/>
            <p14:sldId id="263"/>
            <p14:sldId id="262"/>
            <p14:sldId id="267"/>
            <p14:sldId id="264"/>
            <p14:sldId id="285"/>
            <p14:sldId id="284"/>
            <p14:sldId id="260"/>
            <p14:sldId id="278"/>
            <p14:sldId id="277"/>
            <p14:sldId id="279"/>
            <p14:sldId id="280"/>
            <p14:sldId id="281"/>
            <p14:sldId id="286"/>
            <p14:sldId id="326"/>
            <p14:sldId id="269"/>
            <p14:sldId id="319"/>
            <p14:sldId id="318"/>
            <p14:sldId id="317"/>
            <p14:sldId id="307"/>
            <p14:sldId id="320"/>
            <p14:sldId id="321"/>
            <p14:sldId id="322"/>
            <p14:sldId id="323"/>
            <p14:sldId id="329"/>
            <p14:sldId id="287"/>
            <p14:sldId id="293"/>
            <p14:sldId id="294"/>
            <p14:sldId id="295"/>
            <p14:sldId id="296"/>
            <p14:sldId id="298"/>
            <p14:sldId id="301"/>
            <p14:sldId id="302"/>
            <p14:sldId id="303"/>
            <p14:sldId id="299"/>
            <p14:sldId id="300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6015" autoAdjust="0"/>
  </p:normalViewPr>
  <p:slideViewPr>
    <p:cSldViewPr snapToGrid="0">
      <p:cViewPr varScale="1">
        <p:scale>
          <a:sx n="60" d="100"/>
          <a:sy n="60" d="100"/>
        </p:scale>
        <p:origin x="114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phát triển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7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LLM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 lại gọi là LLM</a:t>
            </a:r>
          </a:p>
          <a:p>
            <a:pPr marL="285750" indent="-285750">
              <a:buFontTx/>
              <a:buChar char="-"/>
            </a:pPr>
            <a:r>
              <a:rPr lang="en-US"/>
              <a:t>Dựa trên nguyên lý? (xây dựng dựa trên transformer làm mô hình cơ sở, tuy nhiên thì có chút biến đổi)</a:t>
            </a:r>
          </a:p>
          <a:p>
            <a:pPr marL="285750" indent="-285750">
              <a:buFontTx/>
              <a:buChar char="-"/>
            </a:pPr>
            <a:r>
              <a:rPr lang="en-US"/>
              <a:t>Nó có thể làm gì? (sinh văn bản, xử lý âm thanh, video…)</a:t>
            </a:r>
          </a:p>
          <a:p>
            <a:pPr marL="285750" indent="-285750">
              <a:buFontTx/>
              <a:buChar char="-"/>
            </a:pPr>
            <a:r>
              <a:rPr lang="en-US"/>
              <a:t>Kể ra một vài thông số (LLM có thể lên tới hang tỉ tham số, chi phí huấn luyện khổng lồ, kiến trúc phức tạp)</a:t>
            </a:r>
          </a:p>
          <a:p>
            <a:pPr marL="285750" indent="-285750">
              <a:buFontTx/>
              <a:buChar char="-"/>
            </a:pPr>
            <a:r>
              <a:rPr lang="en-US"/>
              <a:t>chèn hình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2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Hệ thống RAG là gì?</a:t>
            </a:r>
          </a:p>
          <a:p>
            <a:pPr marL="285750" indent="-285750">
              <a:buFontTx/>
              <a:buChar char="-"/>
            </a:pPr>
            <a:r>
              <a:rPr lang="en-US"/>
              <a:t>Tác dụng?</a:t>
            </a:r>
          </a:p>
          <a:p>
            <a:pPr marL="285750" indent="-285750">
              <a:buFontTx/>
              <a:buChar char="-"/>
            </a:pPr>
            <a:r>
              <a:rPr lang="en-US"/>
              <a:t>LLM được sử dụng trong hệ thống rag như thế nào?</a:t>
            </a:r>
          </a:p>
          <a:p>
            <a:pPr marL="285750" indent="-285750">
              <a:buFontTx/>
              <a:buChar char="-"/>
            </a:pPr>
            <a:r>
              <a:rPr lang="en-US"/>
              <a:t>Sử dụng LLM và hệ thống rag để xây dựng chatbot hõ trợ học lịch sử việt nam</a:t>
            </a:r>
          </a:p>
          <a:p>
            <a:pPr marL="285750" indent="-285750">
              <a:buFontTx/>
              <a:buChar char="-"/>
            </a:pPr>
            <a:r>
              <a:rPr lang="en-US"/>
              <a:t> (tại sao 2 cái đó lại có thể sử dụng để xây dung chatbot? Lợi tích so với các phương pháp truyền thống)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81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756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80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Phương pháp đề xuất</a:t>
            </a:r>
          </a:p>
          <a:p>
            <a:pPr marL="285750" indent="-285750">
              <a:buFontTx/>
              <a:buChar char="-"/>
            </a:pPr>
            <a:r>
              <a:rPr lang="en-US"/>
              <a:t>Chèn hình, miêu tả chi tiết phương pháp đề xuất</a:t>
            </a:r>
          </a:p>
          <a:p>
            <a:pPr marL="0" indent="0">
              <a:buFontTx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596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Hệ thống rag đề xuất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388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Thu thập và tiền xử lý data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39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phân bố của độ dài dữ liệu (đơn vị từ)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1473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Word embedding</a:t>
            </a:r>
          </a:p>
          <a:p>
            <a:r>
              <a:rPr lang="en-US"/>
              <a:t>We là gì? Ánh xạ từ word sang vector</a:t>
            </a:r>
          </a:p>
          <a:p>
            <a:r>
              <a:rPr lang="en-US"/>
              <a:t>Trong đó mỗi chiều là 1 thuộc tính…</a:t>
            </a:r>
          </a:p>
          <a:p>
            <a:r>
              <a:rPr lang="en-US"/>
              <a:t>Ví dụ như trong hình…</a:t>
            </a:r>
          </a:p>
          <a:p>
            <a:r>
              <a:rPr lang="en-US"/>
              <a:t>Như vậy,… “tóm tắt kết quả”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03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9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tokenization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07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embedding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981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84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Chỉ số benchmark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859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7818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chức năng của hệ thống:</a:t>
            </a:r>
          </a:p>
          <a:p>
            <a:r>
              <a:rPr lang="en-US"/>
              <a:t>- Các chức năng đưuọc triển khai cho hệ thống (text chat, voice realtime.., exam…)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997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A8FF0-A370-F4FE-2B3E-2742A2871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FFF73-1713-AF35-E6EB-BDDE3B9FA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572D1-11FD-04DE-9962-960325220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280254-64FD-B7B7-B6BC-541E7AAE8B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5715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6D1BE-2F28-C349-3A9B-B6189428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AF2E70-54A6-9D1C-4696-5C975B01D9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644C4F-D699-EA73-B5F6-52F23C794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Giới thiệu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Lợi ích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Lợi ích khi áp dụng vào hệ thống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05C24-A847-DFA0-B49C-FAE4570B20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9224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B6F9F-FE5B-CB0D-F30F-357AF32CF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1B1E36-BDCE-9FEA-F630-247FCE798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8AB3F-9AB2-62D5-E170-37A70763C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9AF9B-AA37-CC96-3DEA-ADE89D428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6013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2E6F8-08DB-4B4B-33C5-2FE228C1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112E2-1E5C-9B21-6641-7B14837AF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C3DF2-8A15-66A2-8AC4-5A15B001F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321A1-8260-116C-41AE-335472256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582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DBCEC-54D0-7BBC-E46B-2E03AF9B6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59A93A-7D28-E47B-AB3D-170BE19BF3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DD6D49-CF55-A17E-8111-F237126F1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7947F-344F-8F53-154E-23597A8652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2718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2F870-85B9-E3EF-D359-016A19EB6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F51B4-1035-4233-AB2D-D3BDDC238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131019-ED3A-ACC4-EC91-BC76A59A5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788F8-F212-3066-2386-A34B59547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4395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6FB04-C9C6-229E-FC2B-5C2A68B7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E4BB12-E522-F915-5258-4D1BD4C43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79A216-FDDF-7FF7-B4AE-C9E39C4F5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DD7BB8-A797-C90F-5B29-FCB26E8C43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28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AF435-F13C-C32A-EB61-A4154CBE7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1E1EFA-4272-3406-1D58-697E03DCB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34EFE-90FD-6445-F499-172C4D925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A3659-3C9F-B984-C3BD-7E4F4C7184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2271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0777F-8110-B941-281F-CFEA3895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D2EAD-C99F-5A82-76BE-D5287F9B2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F7901-983D-5261-4F20-8FBFCF592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83F75-4811-A13E-C814-1F86FAF70A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574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69451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577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FDA4-4260-660A-25D4-B13E63AE6D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7621" y="1214438"/>
            <a:ext cx="10956758" cy="2387600"/>
          </a:xfrm>
        </p:spPr>
        <p:txBody>
          <a:bodyPr>
            <a:normAutofit fontScale="90000"/>
          </a:bodyPr>
          <a:lstStyle/>
          <a:p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 HỖ TRỢ HỌC LỊCH SỬ VIỆT NAM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E1A54-8D5F-A2BE-1887-6DEA87C9E7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71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2D2C35-E293-4E99-479C-AE9A34A8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Nội dung trình bày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F53B9-DD61-BAD9-9879-CAC09A2F4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Cơ sở lý thuyết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Phương pháp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Kết quả triển khai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981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112A-65E9-4562-42DC-CB4F7F3EA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5F6B3A-30D3-C8DC-D08E-C389923C86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1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5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B22E11-386E-4205-349B-2F114E613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Lược sử sự phát triển của NLP cho đến nay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0133F-4560-3710-C873-80B0D2A34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1181670" y="2633472"/>
            <a:ext cx="9825612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246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9234B-526C-DB72-DCD1-48DEC3E236E8}"/>
              </a:ext>
            </a:extLst>
          </p:cNvPr>
          <p:cNvSpPr txBox="1">
            <a:spLocks/>
          </p:cNvSpPr>
          <p:nvPr/>
        </p:nvSpPr>
        <p:spPr>
          <a:xfrm>
            <a:off x="630936" y="639520"/>
            <a:ext cx="3429000" cy="17190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ngôn ngữ lớn - LLM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A59B3-8C0A-7A66-B2C3-448998BBB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807208"/>
            <a:ext cx="3860853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và sinh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tự nhiên.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Huấn luyện trên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quy mô lớn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phức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tạp, có hàng tỉ tham số, dựa trên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nền Transformer.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trích xuất, phân tích, gán nhãn, sinh văn bản.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chatbot, giáo dục, pháp lý, y tế…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13FD91-B87F-D541-223A-6032EB708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1355861"/>
            <a:ext cx="6903720" cy="414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261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238EEB-82D7-5E21-2DF3-74DA6013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Hệ thống RAG</a:t>
            </a:r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025959DD-CF58-9169-6EB0-EDEB8CE88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122" y="2633472"/>
            <a:ext cx="7066707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135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C277F-9E35-80E7-BAF3-F5561C1C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E26550-92BF-050F-8E50-6EDE860C6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2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89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22B329-5946-0058-2924-CAF410C0C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4C33F-1BB9-7361-0EA8-3F90BC2D3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Phát biểu bài toán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Phương pháp đề xuất triển khai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Hệ thống RAG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Quy trình thu thập và tiền xử lý dữ liệu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Mô hình embedding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Các LLM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86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38C0A4-F40D-E95E-AA3C-784AF0AC4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0949BD-FE15-2034-9E1F-C68CAFB20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5641527" cy="14813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biểu và phân tích bài toán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185E23-891A-7431-5F67-01B4A2C5ADB3}"/>
              </a:ext>
            </a:extLst>
          </p:cNvPr>
          <p:cNvSpPr txBox="1">
            <a:spLocks/>
          </p:cNvSpPr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Nhu cầu cá nhân hóa và tự động hóa học tập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trong giáo dục ngày càng cao.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Môn Lịch sử thường bị xem là khô khan =&gt; công cụ thông minh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giúp nâng cao hứng thú học tập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của người dùng.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Sự phát triển của công nghệ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giúp hiện thực hóa bài toán này trở nên khả thi.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AB38716-E23F-EBFD-4084-EB3D96FF7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099048" y="2350853"/>
            <a:ext cx="5458968" cy="2156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415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900F-05B7-08CC-5194-A989A3B8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9464A9-8ACE-E2AB-1F57-892582DE6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328" y="1080321"/>
            <a:ext cx="8759344" cy="53751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80899A-87A4-B069-E6D5-150CD2AC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8643"/>
            <a:ext cx="10515600" cy="597071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 triển khai hệ thống</a:t>
            </a:r>
          </a:p>
        </p:txBody>
      </p:sp>
    </p:spTree>
    <p:extLst>
      <p:ext uri="{BB962C8B-B14F-4D97-AF65-F5344CB8AC3E}">
        <p14:creationId xmlns:p14="http://schemas.microsoft.com/office/powerpoint/2010/main" val="424143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B8E2-BAB1-3C88-F437-BD763C4B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2EA4F12-5E6C-115B-1FC5-640B3BC0B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933" y="775855"/>
            <a:ext cx="8744134" cy="54469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0A7913-3FD0-8173-8106-223ADF66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9002"/>
            <a:ext cx="10515600" cy="536853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36981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F7152-6CF2-FC53-F528-903F138F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EC24352-318E-4678-A72F-9A7539F16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3716475" cy="1719072"/>
          </a:xfrm>
        </p:spPr>
        <p:txBody>
          <a:bodyPr anchor="ctr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thu thập dữ liệu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EBF7C-2AFF-055E-A7AE-F4ED5B9E08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023360" cy="3570812"/>
          </a:xfrm>
        </p:spPr>
        <p:txBody>
          <a:bodyPr anchor="t">
            <a:noAutofit/>
          </a:bodyPr>
          <a:lstStyle/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nội dung được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thành văn bản thô.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Mỗi văn bản tương ứng với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một đơn vị kiến thức (chương, bài, đoạn)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cụ thể.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trữ các văn bản trong các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tệp JSON.</a:t>
            </a:r>
          </a:p>
          <a:p>
            <a:endParaRPr lang="en-US" sz="1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Tại sao là JSON?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Dễ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tổ chức dữ liệu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và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mở rộng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Thân thiện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với các hệ thống lưu trữ, các mô hình NLP và pipeline xử lý.</a:t>
            </a:r>
          </a:p>
        </p:txBody>
      </p:sp>
      <p:pic>
        <p:nvPicPr>
          <p:cNvPr id="2" name="Picture 1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3633D7FF-B793-8A53-A482-E4D42B1F0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2065514"/>
            <a:ext cx="6903720" cy="272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014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74E8E9B-2986-2B75-F05E-024AE48AE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Số liệu về độ dài của tài liệu theo loại (đơn vị từ)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DFC9D-F429-9A48-3418-2153B501A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Có tổng cộng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1121 tài liệu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loại.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có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3 loại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chapter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(chương),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lesson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(bài học) và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(câu hỏi hoặc tiêu đề).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chiếm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lớn số lượng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thu thập được.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có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độ dài (đơn vị từ) vượt trội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so với các loại tài liệu còn lại.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E99FB4-3AC3-CCAE-14DE-7193EDCA7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96" y="1720330"/>
            <a:ext cx="6903720" cy="34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0743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D95F80E-D65B-D141-A6C5-C3FF41DC9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trình tiền xử lý dữ liệu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E5D216DE-B5AF-62D6-A192-20976C329C99}"/>
              </a:ext>
            </a:extLst>
          </p:cNvPr>
          <p:cNvSpPr txBox="1">
            <a:spLocks/>
          </p:cNvSpPr>
          <p:nvPr/>
        </p:nvSpPr>
        <p:spPr>
          <a:xfrm>
            <a:off x="630936" y="2807208"/>
            <a:ext cx="3786294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Chuẩn hóa định dạng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l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ỗi chinh tả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ký tự đặc biệt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 trùng lặp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 không liên quan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Thống kê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Phân đoạn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liệu.</a:t>
            </a:r>
          </a:p>
          <a:p>
            <a:pPr marL="0"/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=&gt; Bộ dữ liệu đã được chuẩn hóa.</a:t>
            </a: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DCC1BA7-523D-D22F-7167-44D8A3CA83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4654296" y="1905973"/>
            <a:ext cx="6903720" cy="3046054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1AC9F1C-B817-2F6F-7342-C759E7E42FC6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857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CF4BB7-356C-F5AE-49B0-E29650593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08AA7E-6712-4560-AADC-88353A12B52B}"/>
              </a:ext>
            </a:extLst>
          </p:cNvPr>
          <p:cNvSpPr/>
          <p:nvPr/>
        </p:nvSpPr>
        <p:spPr>
          <a:xfrm>
            <a:off x="630936" y="2807208"/>
            <a:ext cx="4564882" cy="341071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Khái niệm: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Ánh xạ 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từ trong tập từ điển sang vector không gian nhiều chiều.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Mỗi chiều </a:t>
            </a:r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đại diện cho một thuộc tính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Lợi ích: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Giúp máy tính </a:t>
            </a:r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thể tính toán được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Giữ được ngữ cảnh 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ý nghĩa của văn bản.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 trọng trong các tác vụ NLP.</a:t>
            </a:r>
          </a:p>
        </p:txBody>
      </p:sp>
      <p:pic>
        <p:nvPicPr>
          <p:cNvPr id="3" name="Picture 2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7D5E91D7-3243-CAC9-5D2F-3343213CA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62"/>
          <a:stretch>
            <a:fillRect/>
          </a:stretch>
        </p:blipFill>
        <p:spPr>
          <a:xfrm>
            <a:off x="5195818" y="640080"/>
            <a:ext cx="5820676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217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61771-3F71-885B-E45A-CC15626E7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148275"/>
              </p:ext>
            </p:extLst>
          </p:nvPr>
        </p:nvGraphicFramePr>
        <p:xfrm>
          <a:off x="168165" y="993863"/>
          <a:ext cx="11855669" cy="5577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40377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08079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14156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18432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471737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203398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10358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24303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</a:t>
                      </a:r>
                    </a:p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B177B27-E32D-3C64-AA0B-31E5128D4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704"/>
            <a:ext cx="10515600" cy="50102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3943545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EB1C-7BB8-3DDD-C228-8251C982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74312"/>
            <a:ext cx="10515600" cy="51539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tokenization của các mô hình embedding đề xuất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2C7826E-63F0-E204-4AFA-20B4004B3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05573"/>
              </p:ext>
            </p:extLst>
          </p:nvPr>
        </p:nvGraphicFramePr>
        <p:xfrm>
          <a:off x="207579" y="1923394"/>
          <a:ext cx="11776841" cy="4794079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756338">
                  <a:extLst>
                    <a:ext uri="{9D8B030D-6E8A-4147-A177-3AD203B41FA5}">
                      <a16:colId xmlns:a16="http://schemas.microsoft.com/office/drawing/2014/main" val="3401729846"/>
                    </a:ext>
                  </a:extLst>
                </a:gridCol>
                <a:gridCol w="9020503">
                  <a:extLst>
                    <a:ext uri="{9D8B030D-6E8A-4147-A177-3AD203B41FA5}">
                      <a16:colId xmlns:a16="http://schemas.microsoft.com/office/drawing/2014/main" val="1479469748"/>
                    </a:ext>
                  </a:extLst>
                </a:gridCol>
              </a:tblGrid>
              <a:tr h="163987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Kết quả tokenization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999059"/>
                  </a:ext>
                </a:extLst>
              </a:tr>
              <a:tr h="52834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'chu', '##ong', ':', 'bu', '##oi', 'đ', '##au', 'li', '##ch', 'su', 'nu', '##oc', 'ta', '[UNK]', '[UNK]', '(', '[UNK]', ')',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90032"/>
                  </a:ext>
                </a:extLst>
              </a:tr>
              <a:tr h="63614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vietnamese-uncased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'chuong', '[UNK]', 'bu', '##o', '##i', 'đau', 'lich', 'su', 'nu', '##oc', 'ta', '[UNK]', '[UNK]', '[UNK]', '[UNK]', '[UNK]',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1132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'Chương', ':', '[UNK]', '[UNK]', '[UNK]', '[UNK]', '[UNK]', 'TA', '[UNK]', '[UNK]', '(', '[UNK]', ')', 'ʃ', '##♪',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829504"/>
                  </a:ext>
                </a:extLst>
              </a:tr>
              <a:tr h="710521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'▁Chương', ':', '▁BU', 'Ổ', 'I', '▁Đ', 'Ầ', 'U', '▁L', 'Ị', 'CH', '▁S', 'Ử', '▁N', 'ƯỚC', '▁TA', '▁', '❉', '▁', '♡', '&lt;unk&gt;', '(', 'ˆ', '◡', 'ˆ', ')', 'ʃ', '♪', '▁',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'▁',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6756113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88337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204143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CED3B1D-6194-DED2-9A17-11E9603C251E}"/>
              </a:ext>
            </a:extLst>
          </p:cNvPr>
          <p:cNvSpPr txBox="1">
            <a:spLocks/>
          </p:cNvSpPr>
          <p:nvPr/>
        </p:nvSpPr>
        <p:spPr>
          <a:xfrm>
            <a:off x="838199" y="1263761"/>
            <a:ext cx="10515600" cy="6596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Chuỗi mẫu: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/>
              <a:t>Chương: BUỔI ĐẦU LỊCH SỬ NƯỚC TA❉ ♡ƪ(ˆ◡ˆ)ʃ♪ </a:t>
            </a:r>
            <a:r>
              <a:rPr lang="en-US"/>
              <a:t>卍</a:t>
            </a:r>
            <a:r>
              <a:rPr lang="vi-VN"/>
              <a:t> ₯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51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014C97-2555-AAF9-4C63-8CD1146411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019650"/>
              </p:ext>
            </p:extLst>
          </p:nvPr>
        </p:nvGraphicFramePr>
        <p:xfrm>
          <a:off x="350784" y="1166648"/>
          <a:ext cx="11490432" cy="535663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15072">
                  <a:extLst>
                    <a:ext uri="{9D8B030D-6E8A-4147-A177-3AD203B41FA5}">
                      <a16:colId xmlns:a16="http://schemas.microsoft.com/office/drawing/2014/main" val="166289660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67366675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412799224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985171975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3658319788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1633214803"/>
                    </a:ext>
                  </a:extLst>
                </a:gridCol>
              </a:tblGrid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597094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805985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315199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658815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209192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8183683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1967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4270C03-FC08-E22C-5FA5-381AF4156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4720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96680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0DF0B-1CF0-A9FA-6663-45D03C4AF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682397"/>
              </p:ext>
            </p:extLst>
          </p:nvPr>
        </p:nvGraphicFramePr>
        <p:xfrm>
          <a:off x="112985" y="1946836"/>
          <a:ext cx="11966030" cy="393397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93206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783611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1608CAD-BC1D-1ECA-750D-9425A708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288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2792695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D9BF4E7-7D8D-8314-0BA4-B73681D23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074679"/>
              </p:ext>
            </p:extLst>
          </p:nvPr>
        </p:nvGraphicFramePr>
        <p:xfrm>
          <a:off x="128752" y="1381632"/>
          <a:ext cx="11934495" cy="451959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86899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22FCA9-DF8F-7B64-1F5A-8326287E6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938"/>
            <a:ext cx="10515600" cy="550917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benchmark của các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851644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AE1F14-854D-0979-EB9D-62FE3FBCF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3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9B5BC8-5DC3-87AB-CC14-B5539F643D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894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66B5D6-B4F1-4270-E69E-F4F49A5F2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 hệ thống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84B7F-DAAB-1BD8-1EE4-68D495BEB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Các chức năng của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chat text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chat realtime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quá trình sinh phản hồi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cài đặt tùy chọn luồng chat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đánh giá phản hồi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khởi tạo luồng chat mới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các chức năng xác thực người dùng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446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71E94-CE27-F948-46F8-8AEFD8B5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DF1506-A9B8-E72A-C967-A11CD70E3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69" y="1247078"/>
            <a:ext cx="3311720" cy="4363844"/>
          </a:xfrm>
        </p:spPr>
        <p:txBody>
          <a:bodyPr anchor="ctr">
            <a:normAutofit/>
          </a:bodyPr>
          <a:lstStyle/>
          <a:p>
            <a:r>
              <a:rPr lang="en-US" sz="32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của hệ thống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2AB956-248D-4469-5257-C9731AE3A1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trò chuyện mới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trò chuyện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376D5B-277F-09D7-AA5E-69FEF8D50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người dùng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</p:spTree>
    <p:extLst>
      <p:ext uri="{BB962C8B-B14F-4D97-AF65-F5344CB8AC3E}">
        <p14:creationId xmlns:p14="http://schemas.microsoft.com/office/powerpoint/2010/main" val="13919732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5F4C46-50E0-E2F4-AB13-4B9C59674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89E206AD-4A18-BF0D-073E-CB716D1514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E7A47449-E9D3-7D3A-C03B-B204E608B6F4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</a:t>
            </a:r>
            <a:r>
              <a:rPr lang="en-US" sz="32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chức năng chat text</a:t>
            </a:r>
            <a:endParaRPr lang="en-US" sz="3200" b="1" kern="12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93C0552D-E412-9A52-0602-FF32BEAE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842969"/>
            <a:ext cx="7462564" cy="2248593"/>
          </a:xfrm>
          <a:prstGeom prst="rect">
            <a:avLst/>
          </a:prstGeom>
        </p:spPr>
      </p:pic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3D70ADF9-2038-0C94-84A3-DA6CBAC9D13B}"/>
              </a:ext>
            </a:extLst>
          </p:cNvPr>
          <p:cNvSpPr txBox="1">
            <a:spLocks/>
          </p:cNvSpPr>
          <p:nvPr/>
        </p:nvSpPr>
        <p:spPr>
          <a:xfrm>
            <a:off x="4527804" y="2695073"/>
            <a:ext cx="7322343" cy="280742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F000BBC6-7EE4-D00F-7F95-8A1DEC4EDA67}"/>
              </a:ext>
            </a:extLst>
          </p:cNvPr>
          <p:cNvSpPr txBox="1">
            <a:spLocks/>
          </p:cNvSpPr>
          <p:nvPr/>
        </p:nvSpPr>
        <p:spPr>
          <a:xfrm>
            <a:off x="4527804" y="3223319"/>
            <a:ext cx="7462564" cy="280742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sinh phản hồi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để nhận một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8147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4F6D18-0D11-7068-D8FC-A7E58990E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5AEDFFE1-0CD1-35E6-AC64-AC0921FFC6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48C96C9-E561-661F-A84B-AE125732E510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</a:t>
            </a:r>
            <a:r>
              <a:rPr lang="en-US" sz="32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chức năng chat realtime</a:t>
            </a:r>
            <a:endParaRPr lang="en-US" sz="3200" b="1" kern="12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1D177DD-0F50-7060-E2C7-9AAC63EA9232}"/>
              </a:ext>
            </a:extLst>
          </p:cNvPr>
          <p:cNvSpPr txBox="1">
            <a:spLocks/>
          </p:cNvSpPr>
          <p:nvPr/>
        </p:nvSpPr>
        <p:spPr>
          <a:xfrm>
            <a:off x="4652535" y="128953"/>
            <a:ext cx="7539465" cy="6593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Công nghệ chuyển đổi văn bản – âm thanh</a:t>
            </a:r>
          </a:p>
        </p:txBody>
      </p:sp>
      <p:pic>
        <p:nvPicPr>
          <p:cNvPr id="5" name="Picture 4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F59E000D-2BA4-A2F0-916F-B355E6882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6146" y="1267247"/>
            <a:ext cx="5312231" cy="27806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681143-B154-4E44-2424-24C77F44BDC3}"/>
              </a:ext>
            </a:extLst>
          </p:cNvPr>
          <p:cNvSpPr txBox="1"/>
          <p:nvPr/>
        </p:nvSpPr>
        <p:spPr>
          <a:xfrm>
            <a:off x="4530273" y="4780313"/>
            <a:ext cx="32678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tốc độ tương tác và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mức độ tự nhiên khi giao tiếp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9E970-5C64-335D-C39E-B33B38067BB7}"/>
              </a:ext>
            </a:extLst>
          </p:cNvPr>
          <p:cNvSpPr txBox="1"/>
          <p:nvPr/>
        </p:nvSpPr>
        <p:spPr>
          <a:xfrm>
            <a:off x="8547916" y="4784876"/>
            <a:ext cx="33085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Mở rộng khả năng ứng dụng trong môi trường thực tế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158DFD-768C-2FAD-9C30-5443BCAF3591}"/>
              </a:ext>
            </a:extLst>
          </p:cNvPr>
          <p:cNvSpPr txBox="1"/>
          <p:nvPr/>
        </p:nvSpPr>
        <p:spPr>
          <a:xfrm>
            <a:off x="6849448" y="5569785"/>
            <a:ext cx="31456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mức độ cá nhân hóa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6F9A31D6-945D-D429-AF9D-5F114D91188E}"/>
              </a:ext>
            </a:extLst>
          </p:cNvPr>
          <p:cNvSpPr/>
          <p:nvPr/>
        </p:nvSpPr>
        <p:spPr>
          <a:xfrm rot="3036874">
            <a:off x="7180830" y="4081028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48BC52E6-7B3B-469A-D8B3-1E92FA3BD86F}"/>
              </a:ext>
            </a:extLst>
          </p:cNvPr>
          <p:cNvSpPr/>
          <p:nvPr/>
        </p:nvSpPr>
        <p:spPr>
          <a:xfrm rot="18563126" flipH="1">
            <a:off x="9224287" y="4081029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BC551A2D-0EE7-74D7-1850-C2AB73A5EF52}"/>
              </a:ext>
            </a:extLst>
          </p:cNvPr>
          <p:cNvSpPr/>
          <p:nvPr/>
        </p:nvSpPr>
        <p:spPr>
          <a:xfrm flipH="1">
            <a:off x="8234169" y="4160350"/>
            <a:ext cx="313747" cy="1398621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73339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181C05-4A38-EF8E-D69F-EF634B701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063E6E06-1AC9-C113-FFD5-D70A98881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45633E5C-6907-42C1-2F8F-23FE09DAB518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</a:t>
            </a:r>
            <a:r>
              <a:rPr lang="en-US" sz="32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chức năng chat realtime</a:t>
            </a:r>
            <a:endParaRPr lang="en-US" sz="3200" b="1" kern="12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black and white oval with black text&#10;&#10;AI-generated content may be incorrect.">
            <a:extLst>
              <a:ext uri="{FF2B5EF4-FFF2-40B4-BE49-F238E27FC236}">
                <a16:creationId xmlns:a16="http://schemas.microsoft.com/office/drawing/2014/main" id="{7D089376-C3B8-937F-B760-7FD0C6471E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633992"/>
            <a:ext cx="7267848" cy="2432154"/>
          </a:xfrm>
          <a:prstGeom prst="rect">
            <a:avLst/>
          </a:prstGeom>
        </p:spPr>
      </p:pic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80213A1B-7225-288D-9E8F-DD1835212126}"/>
              </a:ext>
            </a:extLst>
          </p:cNvPr>
          <p:cNvSpPr txBox="1">
            <a:spLocks/>
          </p:cNvSpPr>
          <p:nvPr/>
        </p:nvSpPr>
        <p:spPr>
          <a:xfrm>
            <a:off x="4527804" y="3463738"/>
            <a:ext cx="7462564" cy="280742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âm thanh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truy vấn âm thanh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sang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văn bản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văn bản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văn bản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sinh phản hồi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để nhận một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văn bản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sang âm thanh.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văn bản và âm thanh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3734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406F2-8916-A874-A242-A44A2FFA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DBDEA59-652C-7126-A754-D5E85C065DB2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</a:t>
            </a:r>
          </a:p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quá trình </a:t>
            </a:r>
          </a:p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65FC9F-84B6-80BA-E6E0-68C6324F24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7316" y="1012210"/>
            <a:ext cx="6780700" cy="483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8097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6151A2-9175-0E13-3747-A2DC1CD28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EAF07150-BE70-BA04-2E37-C052F8581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6667EEA7-39DC-797D-835A-955217BFBC10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</a:t>
            </a:r>
          </a:p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</a:t>
            </a:r>
          </a:p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tùy chọn</a:t>
            </a:r>
          </a:p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luồng chat</a:t>
            </a:r>
          </a:p>
        </p:txBody>
      </p:sp>
      <p:pic>
        <p:nvPicPr>
          <p:cNvPr id="5" name="Picture 4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3C458FF0-0405-821A-DB39-4420BA2E6F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1289928"/>
            <a:ext cx="7269455" cy="1354676"/>
          </a:xfrm>
          <a:prstGeom prst="rect">
            <a:avLst/>
          </a:prstGeom>
        </p:spPr>
      </p:pic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400ED71A-4F67-726A-5292-34093E8DF6EC}"/>
              </a:ext>
            </a:extLst>
          </p:cNvPr>
          <p:cNvSpPr txBox="1">
            <a:spLocks/>
          </p:cNvSpPr>
          <p:nvPr/>
        </p:nvSpPr>
        <p:spPr>
          <a:xfrm>
            <a:off x="4527804" y="2613090"/>
            <a:ext cx="7269455" cy="274497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giá trị cài đặt tùy chọn mới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giá trị cài đặt tùy chọn mới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cập nhật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dùng.</a:t>
            </a:r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8732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2FBDC6-72AA-9E66-BC03-7C2A4E3A9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E41D787E-6965-A249-43E8-8275A77C24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13C6BBD6-C034-E4DB-E9C0-D82DD7ABCBC6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</a:t>
            </a:r>
            <a:r>
              <a:rPr lang="en-US" sz="32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năng đánh giá phản hồi</a:t>
            </a:r>
            <a:endParaRPr lang="en-US" sz="3200" b="1" kern="120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E59624-E7A8-0F72-AE63-CD3C44538D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1499936"/>
            <a:ext cx="7216219" cy="890190"/>
          </a:xfrm>
          <a:prstGeom prst="rect">
            <a:avLst/>
          </a:prstGeom>
        </p:spPr>
      </p:pic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B766A6DA-C227-4589-0ED9-D0DE6CDB27F5}"/>
              </a:ext>
            </a:extLst>
          </p:cNvPr>
          <p:cNvSpPr txBox="1">
            <a:spLocks/>
          </p:cNvSpPr>
          <p:nvPr/>
        </p:nvSpPr>
        <p:spPr>
          <a:xfrm>
            <a:off x="4586991" y="2613090"/>
            <a:ext cx="7269455" cy="274497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cho một phản hồi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cập nhật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dùng.</a:t>
            </a:r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06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79F7E-C904-9E02-2E57-BF3F5364E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24B5A819-9268-DBE5-779B-8568F645A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04A01ECF-0811-9469-0D28-9D6A9E66EB69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khởi</a:t>
            </a:r>
            <a:r>
              <a:rPr lang="en-US" sz="32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tạo luồng chat mới</a:t>
            </a:r>
            <a:endParaRPr lang="en-US" sz="3200" b="1" kern="120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A black and white screen with white text&#10;&#10;AI-generated content may be incorrect.">
            <a:extLst>
              <a:ext uri="{FF2B5EF4-FFF2-40B4-BE49-F238E27FC236}">
                <a16:creationId xmlns:a16="http://schemas.microsoft.com/office/drawing/2014/main" id="{0917632F-E832-AF86-60F2-FC1F98BE53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186880"/>
            <a:ext cx="7254465" cy="3371266"/>
          </a:xfrm>
          <a:prstGeom prst="rect">
            <a:avLst/>
          </a:prstGeom>
        </p:spPr>
      </p:pic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80080FBB-3A65-97A6-D5CB-00058532E303}"/>
              </a:ext>
            </a:extLst>
          </p:cNvPr>
          <p:cNvSpPr txBox="1">
            <a:spLocks/>
          </p:cNvSpPr>
          <p:nvPr/>
        </p:nvSpPr>
        <p:spPr>
          <a:xfrm>
            <a:off x="4527804" y="3558146"/>
            <a:ext cx="7269455" cy="274497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yêu cầu khởi tạo luồng chat mới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 thành phần khởi tạo starter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để sinh các starter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khởi tạo starter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en-US" sz="1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sinh ra một lược đồ starter</a:t>
            </a:r>
            <a:r>
              <a:rPr lang="en-US" sz="1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khởi tạo starter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 trả 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nhúng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luồng chat mới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và trả nó 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12245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C15800-C6FC-DEB7-72B5-A5A343403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0C16C8CD-9B33-86DC-CED8-39C6ADA63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4796C4FF-F6B6-A04C-D37C-95C43DA72688}"/>
              </a:ext>
            </a:extLst>
          </p:cNvPr>
          <p:cNvSpPr txBox="1">
            <a:spLocks/>
          </p:cNvSpPr>
          <p:nvPr/>
        </p:nvSpPr>
        <p:spPr>
          <a:xfrm>
            <a:off x="1028700" y="1967266"/>
            <a:ext cx="2693068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 b="1" kern="1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</a:t>
            </a:r>
            <a:r>
              <a:rPr lang="en-US" sz="32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 chức năng xác thực người dùng</a:t>
            </a:r>
            <a:endParaRPr lang="en-US" sz="3200" b="1" kern="120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ABE13A-35F6-A159-E945-D5E68B7F2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4" y="1920157"/>
            <a:ext cx="7258677" cy="850768"/>
          </a:xfrm>
          <a:prstGeom prst="rect">
            <a:avLst/>
          </a:prstGeom>
        </p:spPr>
      </p:pic>
      <p:pic>
        <p:nvPicPr>
          <p:cNvPr id="6" name="Picture 5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CD0A0461-684F-D6AD-58C3-D0A4295B21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805" y="548190"/>
            <a:ext cx="7258676" cy="1042132"/>
          </a:xfrm>
          <a:prstGeom prst="rect">
            <a:avLst/>
          </a:prstGeom>
        </p:spPr>
      </p:pic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EA1EC072-B064-2353-9037-26CB26A06876}"/>
              </a:ext>
            </a:extLst>
          </p:cNvPr>
          <p:cNvSpPr txBox="1">
            <a:spLocks/>
          </p:cNvSpPr>
          <p:nvPr/>
        </p:nvSpPr>
        <p:spPr>
          <a:xfrm>
            <a:off x="4527804" y="3587032"/>
            <a:ext cx="7269455" cy="185498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yêu cầu chức năng đính kèm thông tin tài khoản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 cơ sở dữ liệu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để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thông tin được gửi đến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trả về </a:t>
            </a: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thực thi chức năng.</a:t>
            </a:r>
          </a:p>
        </p:txBody>
      </p:sp>
    </p:spTree>
    <p:extLst>
      <p:ext uri="{BB962C8B-B14F-4D97-AF65-F5344CB8AC3E}">
        <p14:creationId xmlns:p14="http://schemas.microsoft.com/office/powerpoint/2010/main" val="21128911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6F37F2-9B26-CFB3-9569-4A2AAD33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3845CB0-8C87-33C3-4748-F9DF25DB2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77AB8E-1566-A73E-B024-22414DF07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4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B68620-789A-DECD-F0B0-93F889CAB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727626CA-9409-4944-EC94-441133CBE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8488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2424A8-6119-9974-88AE-0F930B8D8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 – Giao diện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0D7A51-1101-60C2-92A2-A01F03D49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0" y="1135151"/>
            <a:ext cx="11082860" cy="559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477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9D17-A712-074A-2715-8C16E820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3FDBAF-69B4-9152-E936-91F2B3373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người dùng khi đăng nhập thành công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8A9484-6FE5-30D4-E3C9-5AE960C52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5" y="709449"/>
            <a:ext cx="11682248" cy="5986511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982A83E3-C7A4-3151-6305-9900533ABC7B}"/>
              </a:ext>
            </a:extLst>
          </p:cNvPr>
          <p:cNvSpPr/>
          <p:nvPr/>
        </p:nvSpPr>
        <p:spPr>
          <a:xfrm rot="16200000">
            <a:off x="321085" y="130509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96B292-FDF5-9CA1-E5AC-7699320CB385}"/>
              </a:ext>
            </a:extLst>
          </p:cNvPr>
          <p:cNvSpPr txBox="1"/>
          <p:nvPr/>
        </p:nvSpPr>
        <p:spPr>
          <a:xfrm>
            <a:off x="144517" y="1680668"/>
            <a:ext cx="13873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Danh sách luồng chat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8B94B56-2ACB-AB1A-6D3E-3E9B9D744802}"/>
              </a:ext>
            </a:extLst>
          </p:cNvPr>
          <p:cNvSpPr/>
          <p:nvPr/>
        </p:nvSpPr>
        <p:spPr>
          <a:xfrm rot="10800000">
            <a:off x="1101708" y="88763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995A5-AFF4-F867-F825-0D1222E79A36}"/>
              </a:ext>
            </a:extLst>
          </p:cNvPr>
          <p:cNvSpPr txBox="1"/>
          <p:nvPr/>
        </p:nvSpPr>
        <p:spPr>
          <a:xfrm>
            <a:off x="1485480" y="786461"/>
            <a:ext cx="31978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Nút khởi tạo luồng chat mới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C139C90-3A23-80E5-791D-DDE43BB8C30F}"/>
              </a:ext>
            </a:extLst>
          </p:cNvPr>
          <p:cNvSpPr/>
          <p:nvPr/>
        </p:nvSpPr>
        <p:spPr>
          <a:xfrm rot="19135893">
            <a:off x="10839668" y="1187779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C5FF2-CB05-2489-D19E-17B705BB411F}"/>
              </a:ext>
            </a:extLst>
          </p:cNvPr>
          <p:cNvSpPr txBox="1"/>
          <p:nvPr/>
        </p:nvSpPr>
        <p:spPr>
          <a:xfrm>
            <a:off x="9434286" y="1326725"/>
            <a:ext cx="1510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theme sáng/tối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AA9F55F-BDA1-9FFB-64F7-03DAD6164F12}"/>
              </a:ext>
            </a:extLst>
          </p:cNvPr>
          <p:cNvSpPr/>
          <p:nvPr/>
        </p:nvSpPr>
        <p:spPr>
          <a:xfrm rot="16200000">
            <a:off x="11395593" y="140122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15FAD5-9CB3-D456-CEF0-074B40BE01CF}"/>
              </a:ext>
            </a:extLst>
          </p:cNvPr>
          <p:cNvSpPr txBox="1"/>
          <p:nvPr/>
        </p:nvSpPr>
        <p:spPr>
          <a:xfrm>
            <a:off x="10393478" y="1880722"/>
            <a:ext cx="15101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khoản người dùng &amp; đăng xuất</a:t>
            </a:r>
          </a:p>
        </p:txBody>
      </p:sp>
    </p:spTree>
    <p:extLst>
      <p:ext uri="{BB962C8B-B14F-4D97-AF65-F5344CB8AC3E}">
        <p14:creationId xmlns:p14="http://schemas.microsoft.com/office/powerpoint/2010/main" val="24429436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E7EDC-5A9A-9DEB-525F-840C64C9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93A3F-F17E-E5BE-EA64-E7AADD6AF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Nhập câu hỏi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0A5FFA-3B86-20B9-18C5-DC668B464A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616"/>
          <a:stretch>
            <a:fillRect/>
          </a:stretch>
        </p:blipFill>
        <p:spPr>
          <a:xfrm>
            <a:off x="337334" y="1174670"/>
            <a:ext cx="11517332" cy="511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1302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A322D-F4E2-25D8-E0E7-5B3F0028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683FDD-CB84-4EA2-D654-EC9D725E0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Hiển thị phản hồi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B1341B-EDD9-5826-FC1C-D404C329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97"/>
          <a:stretch>
            <a:fillRect/>
          </a:stretch>
        </p:blipFill>
        <p:spPr>
          <a:xfrm>
            <a:off x="1918843" y="709449"/>
            <a:ext cx="8354314" cy="6019908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3E818B07-0F4F-956A-A67B-B1B6CAEACA52}"/>
              </a:ext>
            </a:extLst>
          </p:cNvPr>
          <p:cNvSpPr/>
          <p:nvPr/>
        </p:nvSpPr>
        <p:spPr>
          <a:xfrm>
            <a:off x="2211390" y="371940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BF5EF-F70D-A20E-0EC1-2BBB1EEC78AB}"/>
              </a:ext>
            </a:extLst>
          </p:cNvPr>
          <p:cNvSpPr txBox="1"/>
          <p:nvPr/>
        </p:nvSpPr>
        <p:spPr>
          <a:xfrm>
            <a:off x="574455" y="3314047"/>
            <a:ext cx="16081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Gợi ý câu hỏi tiếp theo</a:t>
            </a:r>
          </a:p>
        </p:txBody>
      </p:sp>
    </p:spTree>
    <p:extLst>
      <p:ext uri="{BB962C8B-B14F-4D97-AF65-F5344CB8AC3E}">
        <p14:creationId xmlns:p14="http://schemas.microsoft.com/office/powerpoint/2010/main" val="18599607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3C04-03B4-E200-75AF-CCB8B3AD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CA3BF8-62D0-B0CE-DA76-DAABEA1B4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Gửi hành vi đánh giá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6ECA9D-188E-7287-C891-FFC70912C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189" y="709449"/>
            <a:ext cx="7475621" cy="31805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DA06F8-8E6B-3140-261E-D2BEB84CC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732" y="4281090"/>
            <a:ext cx="5258534" cy="2448267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6507C16-835E-C23C-C20F-D739BD8A900A}"/>
              </a:ext>
            </a:extLst>
          </p:cNvPr>
          <p:cNvSpPr/>
          <p:nvPr/>
        </p:nvSpPr>
        <p:spPr>
          <a:xfrm>
            <a:off x="3162300" y="3286125"/>
            <a:ext cx="704850" cy="36195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858B950-FE1F-E9D8-18A6-F3F3683C03DD}"/>
              </a:ext>
            </a:extLst>
          </p:cNvPr>
          <p:cNvSpPr/>
          <p:nvPr/>
        </p:nvSpPr>
        <p:spPr>
          <a:xfrm>
            <a:off x="5991224" y="4013413"/>
            <a:ext cx="209550" cy="390525"/>
          </a:xfrm>
          <a:prstGeom prst="down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2C46C494-AA46-1078-E4B7-A4FC50FCC723}"/>
              </a:ext>
            </a:extLst>
          </p:cNvPr>
          <p:cNvSpPr/>
          <p:nvPr/>
        </p:nvSpPr>
        <p:spPr>
          <a:xfrm rot="10800000">
            <a:off x="4008528" y="335880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8F024-7F17-F243-0B5F-E45170FB7F53}"/>
              </a:ext>
            </a:extLst>
          </p:cNvPr>
          <p:cNvSpPr txBox="1"/>
          <p:nvPr/>
        </p:nvSpPr>
        <p:spPr>
          <a:xfrm>
            <a:off x="4392301" y="3257637"/>
            <a:ext cx="2682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hành vi đánh giá</a:t>
            </a:r>
          </a:p>
        </p:txBody>
      </p:sp>
    </p:spTree>
    <p:extLst>
      <p:ext uri="{BB962C8B-B14F-4D97-AF65-F5344CB8AC3E}">
        <p14:creationId xmlns:p14="http://schemas.microsoft.com/office/powerpoint/2010/main" val="24510428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FDCE6-5E5D-D35A-C705-F7C5E8CDD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1EB74-0364-049E-3EB6-6FF49C646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Đánh giá được cập nhật thành công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5B93B7-C33F-D693-86EC-C9B3775D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" y="1137918"/>
            <a:ext cx="10374173" cy="45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23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EE7-AA88-345B-3580-ADD7EECD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56A8B-CAA8-BDAC-8D18-40C716A7D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 – Danh sách tùy chọn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105152-4C54-B83F-149B-34A0F3000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37512"/>
            <a:ext cx="4379991" cy="3182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C3CCA4-8612-A984-E265-EBA1DBF9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06" y="709449"/>
            <a:ext cx="5344951" cy="5516815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5B1D0D64-6886-15F0-1A37-177773D25362}"/>
              </a:ext>
            </a:extLst>
          </p:cNvPr>
          <p:cNvSpPr/>
          <p:nvPr/>
        </p:nvSpPr>
        <p:spPr>
          <a:xfrm>
            <a:off x="5399458" y="3247695"/>
            <a:ext cx="922380" cy="362607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8EC4FC1-C177-F7CD-D655-EB946BD1CE45}"/>
              </a:ext>
            </a:extLst>
          </p:cNvPr>
          <p:cNvSpPr/>
          <p:nvPr/>
        </p:nvSpPr>
        <p:spPr>
          <a:xfrm rot="17565351">
            <a:off x="1508340" y="493096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53793-618D-7D05-A301-C4875A6171B6}"/>
              </a:ext>
            </a:extLst>
          </p:cNvPr>
          <p:cNvSpPr txBox="1"/>
          <p:nvPr/>
        </p:nvSpPr>
        <p:spPr>
          <a:xfrm>
            <a:off x="547898" y="5354495"/>
            <a:ext cx="1608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34906-3E08-F933-9FFB-19D87F4C1640}"/>
              </a:ext>
            </a:extLst>
          </p:cNvPr>
          <p:cNvSpPr txBox="1"/>
          <p:nvPr/>
        </p:nvSpPr>
        <p:spPr>
          <a:xfrm>
            <a:off x="8385141" y="2530190"/>
            <a:ext cx="24979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Thay đổi các tùy chọn trong menu này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3D6F02F-8EFB-6CAE-6C9C-8D7B686DE2E6}"/>
              </a:ext>
            </a:extLst>
          </p:cNvPr>
          <p:cNvSpPr/>
          <p:nvPr/>
        </p:nvSpPr>
        <p:spPr>
          <a:xfrm>
            <a:off x="6934200" y="1536700"/>
            <a:ext cx="4419600" cy="3734723"/>
          </a:xfrm>
          <a:prstGeom prst="roundRect">
            <a:avLst>
              <a:gd name="adj" fmla="val 3745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BC9AA2F-C5B2-0B33-104B-38FEE492C66C}"/>
              </a:ext>
            </a:extLst>
          </p:cNvPr>
          <p:cNvSpPr/>
          <p:nvPr/>
        </p:nvSpPr>
        <p:spPr>
          <a:xfrm rot="20004230">
            <a:off x="10094461" y="5670237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E3B7C-7AED-1514-EF69-210ED8AB1A32}"/>
              </a:ext>
            </a:extLst>
          </p:cNvPr>
          <p:cNvSpPr txBox="1"/>
          <p:nvPr/>
        </p:nvSpPr>
        <p:spPr>
          <a:xfrm>
            <a:off x="8226442" y="5584786"/>
            <a:ext cx="1898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“Confirm”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58418F6-913B-216B-776A-C028BD980F31}"/>
              </a:ext>
            </a:extLst>
          </p:cNvPr>
          <p:cNvSpPr/>
          <p:nvPr/>
        </p:nvSpPr>
        <p:spPr>
          <a:xfrm>
            <a:off x="1747839" y="432435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607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3172-34BC-23DC-7AB7-319AAB25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87D9C7-621B-0184-164F-D615FADB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với cài đặt tùy chọn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CA446-B112-B192-413A-F3FC27DEF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311" y="709449"/>
            <a:ext cx="7541378" cy="5992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27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273B8-D54F-C2E5-FD62-584770DB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9B3CF9-1635-07EF-2ED3-6E0F21D7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chat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F83D29-ED0B-AA96-29C7-7858CB030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78" y="709449"/>
            <a:ext cx="3958961" cy="2636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4D8F61-0A43-26C2-CB88-5038A2AD3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91" y="4213401"/>
            <a:ext cx="5642998" cy="20770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EDF337-5DEC-D1B0-73A1-DAE9E6AD2C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947"/>
          <a:stretch>
            <a:fillRect/>
          </a:stretch>
        </p:blipFill>
        <p:spPr>
          <a:xfrm>
            <a:off x="6732050" y="1349958"/>
            <a:ext cx="5099159" cy="4158084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0D43366-CC73-4C5A-13B3-A452C6538688}"/>
              </a:ext>
            </a:extLst>
          </p:cNvPr>
          <p:cNvSpPr/>
          <p:nvPr/>
        </p:nvSpPr>
        <p:spPr>
          <a:xfrm rot="17565351">
            <a:off x="3082141" y="1541532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373F4-8F65-0A60-1017-E156D01EEE5C}"/>
              </a:ext>
            </a:extLst>
          </p:cNvPr>
          <p:cNvSpPr txBox="1"/>
          <p:nvPr/>
        </p:nvSpPr>
        <p:spPr>
          <a:xfrm>
            <a:off x="2148098" y="18492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9AADAD-4580-374D-0B15-A337D8E99746}"/>
              </a:ext>
            </a:extLst>
          </p:cNvPr>
          <p:cNvSpPr/>
          <p:nvPr/>
        </p:nvSpPr>
        <p:spPr>
          <a:xfrm rot="2723501">
            <a:off x="4897154" y="518047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649E9-B69D-787E-CC53-C9793CE6C448}"/>
              </a:ext>
            </a:extLst>
          </p:cNvPr>
          <p:cNvSpPr txBox="1"/>
          <p:nvPr/>
        </p:nvSpPr>
        <p:spPr>
          <a:xfrm>
            <a:off x="2988360" y="5051866"/>
            <a:ext cx="18998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“Confirm”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D05D5FA0-37EE-6FF3-314F-9B100CA6656E}"/>
              </a:ext>
            </a:extLst>
          </p:cNvPr>
          <p:cNvSpPr/>
          <p:nvPr/>
        </p:nvSpPr>
        <p:spPr>
          <a:xfrm>
            <a:off x="2726228" y="3452654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372DDF3-82CC-6117-A778-07937D7671F5}"/>
              </a:ext>
            </a:extLst>
          </p:cNvPr>
          <p:cNvSpPr/>
          <p:nvPr/>
        </p:nvSpPr>
        <p:spPr>
          <a:xfrm rot="16200000">
            <a:off x="6362749" y="4214655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3253E5D-4AE0-EE44-FBC8-6A0C75ECB6DA}"/>
              </a:ext>
            </a:extLst>
          </p:cNvPr>
          <p:cNvSpPr/>
          <p:nvPr/>
        </p:nvSpPr>
        <p:spPr>
          <a:xfrm>
            <a:off x="3297228" y="934665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622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D5787-362F-F733-2A3B-78981BD3E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82D402-A58F-CC91-7E4F-29D701E7C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Gửi câu hỏi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2DDE68-21B6-6D7A-D81A-3D02F91F8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5" y="2123893"/>
            <a:ext cx="4648849" cy="26102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915E9F-3E2A-5B7B-314D-592554EF4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12593"/>
            <a:ext cx="5901815" cy="3632814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A7A4D96F-86C3-3454-CFC1-B4B9B73DC2C1}"/>
              </a:ext>
            </a:extLst>
          </p:cNvPr>
          <p:cNvSpPr/>
          <p:nvPr/>
        </p:nvSpPr>
        <p:spPr>
          <a:xfrm rot="17565351">
            <a:off x="1596241" y="39690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AF47F7-C0B3-1024-C010-C403188868EA}"/>
              </a:ext>
            </a:extLst>
          </p:cNvPr>
          <p:cNvSpPr txBox="1"/>
          <p:nvPr/>
        </p:nvSpPr>
        <p:spPr>
          <a:xfrm>
            <a:off x="662198" y="4276847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F3F8EA-76D3-9AB1-E111-08B5069906AC}"/>
              </a:ext>
            </a:extLst>
          </p:cNvPr>
          <p:cNvSpPr/>
          <p:nvPr/>
        </p:nvSpPr>
        <p:spPr>
          <a:xfrm>
            <a:off x="1811328" y="3362217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F1C322F-E58F-74C3-8720-56EDB96F7C79}"/>
              </a:ext>
            </a:extLst>
          </p:cNvPr>
          <p:cNvSpPr/>
          <p:nvPr/>
        </p:nvSpPr>
        <p:spPr>
          <a:xfrm>
            <a:off x="5143500" y="3448283"/>
            <a:ext cx="952500" cy="2159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03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7AC2A-54C6-BA0C-322B-24EF9C15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194981-B30B-C3EA-69B7-CD8C44D1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Nhận phản hồi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A4553E-09EC-D79B-669A-6AC0AA659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396" y="1466606"/>
            <a:ext cx="9165207" cy="3924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4576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23B7C-C8A4-1833-96CF-02965D092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88EF09-C815-68BB-ADD6-46732509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Tạo câu hỏi trắc nghiệm (Tính năng thử nghiệm)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DAC962-3016-D6E0-8F5F-6C2448F74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7600" y="642946"/>
            <a:ext cx="7849695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26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3714A-37B5-A3C3-F695-3032CC238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9E6065-F807-F765-B75A-F98F0FCE0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 khỏi hệ thống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BC2247-3942-A877-08E4-555F8B7C4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709449"/>
            <a:ext cx="3019846" cy="17337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B1094F-0B8C-9BB9-3083-8C956F7B4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464" y="3485943"/>
            <a:ext cx="2200582" cy="1857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8E3C72-41B7-B347-C8BC-5410A1FDFA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887" y="860614"/>
            <a:ext cx="7252138" cy="5250657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5306262-8DE5-2E96-DF07-AB5B28D47C37}"/>
              </a:ext>
            </a:extLst>
          </p:cNvPr>
          <p:cNvSpPr/>
          <p:nvPr/>
        </p:nvSpPr>
        <p:spPr>
          <a:xfrm rot="17565351">
            <a:off x="3032798" y="13702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23B6C6-34E2-0CAD-79FA-6EA087861FE7}"/>
              </a:ext>
            </a:extLst>
          </p:cNvPr>
          <p:cNvSpPr txBox="1"/>
          <p:nvPr/>
        </p:nvSpPr>
        <p:spPr>
          <a:xfrm>
            <a:off x="2088425" y="15974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4CF1B5B-AAC0-E76A-D61C-53B828173266}"/>
              </a:ext>
            </a:extLst>
          </p:cNvPr>
          <p:cNvSpPr/>
          <p:nvPr/>
        </p:nvSpPr>
        <p:spPr>
          <a:xfrm rot="17565351">
            <a:off x="2677405" y="492004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D262EE3-2C6D-71CD-00B0-DA7E64242420}"/>
              </a:ext>
            </a:extLst>
          </p:cNvPr>
          <p:cNvSpPr/>
          <p:nvPr/>
        </p:nvSpPr>
        <p:spPr>
          <a:xfrm>
            <a:off x="2714796" y="2717800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99644513-A06B-4C91-5EB1-9A3479650DD8}"/>
              </a:ext>
            </a:extLst>
          </p:cNvPr>
          <p:cNvSpPr/>
          <p:nvPr/>
        </p:nvSpPr>
        <p:spPr>
          <a:xfrm>
            <a:off x="4019333" y="3898900"/>
            <a:ext cx="584200" cy="177800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FA2045-4E16-7365-05BC-A2CB00264060}"/>
              </a:ext>
            </a:extLst>
          </p:cNvPr>
          <p:cNvSpPr/>
          <p:nvPr/>
        </p:nvSpPr>
        <p:spPr>
          <a:xfrm>
            <a:off x="3324325" y="80136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490364-0D69-9DC1-4E6C-89B1B232BF2B}"/>
              </a:ext>
            </a:extLst>
          </p:cNvPr>
          <p:cNvSpPr txBox="1"/>
          <p:nvPr/>
        </p:nvSpPr>
        <p:spPr>
          <a:xfrm>
            <a:off x="7177229" y="6262436"/>
            <a:ext cx="2313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đăng nhập</a:t>
            </a:r>
          </a:p>
        </p:txBody>
      </p:sp>
    </p:spTree>
    <p:extLst>
      <p:ext uri="{BB962C8B-B14F-4D97-AF65-F5344CB8AC3E}">
        <p14:creationId xmlns:p14="http://schemas.microsoft.com/office/powerpoint/2010/main" val="30106436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03A2FD-3F54-6DE7-3EC3-329E0598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028" y="637762"/>
            <a:ext cx="3519099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i="1" kern="1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5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1452</TotalTime>
  <Words>2471</Words>
  <Application>Microsoft Office PowerPoint</Application>
  <PresentationFormat>Widescreen</PresentationFormat>
  <Paragraphs>420</Paragraphs>
  <Slides>46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Times New Roman</vt:lpstr>
      <vt:lpstr>Office Theme</vt:lpstr>
      <vt:lpstr>HỆ THỐNG CHATBOT HỖ TRỢ HỌC LỊCH SỬ VIỆT NAM</vt:lpstr>
      <vt:lpstr>Nội dung trình bày</vt:lpstr>
      <vt:lpstr>PHẦN 1 CƠ SỞ LÝ THUYẾT</vt:lpstr>
      <vt:lpstr>Lược sử sự phát triển của NLP cho đến nay</vt:lpstr>
      <vt:lpstr>PowerPoint Presentation</vt:lpstr>
      <vt:lpstr>Hệ thống RAG</vt:lpstr>
      <vt:lpstr>PHẦN 2 PHƯƠNG PHÁP ĐỀ XUẤT</vt:lpstr>
      <vt:lpstr>Phương pháp đề xuất</vt:lpstr>
      <vt:lpstr>Phát biểu và phân tích bài toán</vt:lpstr>
      <vt:lpstr>Phương pháp đề xuất triển khai hệ thống</vt:lpstr>
      <vt:lpstr>Hệ thống RAG đề xuất</vt:lpstr>
      <vt:lpstr>Quy trình thu thập dữ liệu</vt:lpstr>
      <vt:lpstr>Số liệu về độ dài của tài liệu theo loại (đơn vị từ)</vt:lpstr>
      <vt:lpstr>Quy trình tiền xử lý dữ liệu</vt:lpstr>
      <vt:lpstr>Word Embedding</vt:lpstr>
      <vt:lpstr>Thông số của các mô hình embedding đề xuất</vt:lpstr>
      <vt:lpstr>Hiệu quả tokenization của các mô hình embedding đề xuất</vt:lpstr>
      <vt:lpstr>Hiệu quả embedding của các mô hình embedding đề xuất</vt:lpstr>
      <vt:lpstr>Thông số của các mô hình LLM đề xuất</vt:lpstr>
      <vt:lpstr>Kết quả benchmark của các LLM đề xuất</vt:lpstr>
      <vt:lpstr>PHẦN 3 TRIỂN KHAI CHỨC NĂNG HỆ THỐNG</vt:lpstr>
      <vt:lpstr>Triển khai các chức năng hệ thống</vt:lpstr>
      <vt:lpstr>Các chức năng của hệ thống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PHẦN 4 KẾT QUẢ TRIỂN KHAI</vt:lpstr>
      <vt:lpstr>Đăng nhập – Giao diện</vt:lpstr>
      <vt:lpstr>Giao diện người dùng khi đăng nhập thành công</vt:lpstr>
      <vt:lpstr>Trò chuyện văn bản – Nhập câu hỏi</vt:lpstr>
      <vt:lpstr>Trò chuyện văn bản – Hiển thị phản hồi</vt:lpstr>
      <vt:lpstr>Đánh giá phản hồi – Gửi hành vi đánh giá</vt:lpstr>
      <vt:lpstr>Đánh giá phản hồi – Đánh giá được cập nhật thành công</vt:lpstr>
      <vt:lpstr>Cài đặt tùy chọn luồng chat – Danh sách tùy chọn</vt:lpstr>
      <vt:lpstr>Trò chuyện văn bản với cài đặt tùy chọn mới</vt:lpstr>
      <vt:lpstr>Khởi tạo luồng chat mới</vt:lpstr>
      <vt:lpstr>Trò chuyện thời gian thực – Gửi câu hỏi</vt:lpstr>
      <vt:lpstr>Trò chuyện thời gian thực – Nhận phản hồi</vt:lpstr>
      <vt:lpstr>Tạo câu hỏi trắc nghiệm (Tính năng thử nghiệm)</vt:lpstr>
      <vt:lpstr>Đăng xuất khỏi hệ thống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60</cp:revision>
  <dcterms:created xsi:type="dcterms:W3CDTF">2025-06-09T12:09:11Z</dcterms:created>
  <dcterms:modified xsi:type="dcterms:W3CDTF">2025-06-13T13:49:19Z</dcterms:modified>
</cp:coreProperties>
</file>