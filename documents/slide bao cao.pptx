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56" r:id="rId2"/>
    <p:sldId id="327" r:id="rId3"/>
    <p:sldId id="274" r:id="rId4"/>
    <p:sldId id="258" r:id="rId5"/>
    <p:sldId id="259" r:id="rId6"/>
    <p:sldId id="261" r:id="rId7"/>
    <p:sldId id="275" r:id="rId8"/>
    <p:sldId id="325" r:id="rId9"/>
    <p:sldId id="263" r:id="rId10"/>
    <p:sldId id="262" r:id="rId11"/>
    <p:sldId id="267" r:id="rId12"/>
    <p:sldId id="264" r:id="rId13"/>
    <p:sldId id="285" r:id="rId14"/>
    <p:sldId id="284" r:id="rId15"/>
    <p:sldId id="260" r:id="rId16"/>
    <p:sldId id="278" r:id="rId17"/>
    <p:sldId id="277" r:id="rId18"/>
    <p:sldId id="279" r:id="rId19"/>
    <p:sldId id="280" r:id="rId20"/>
    <p:sldId id="281" r:id="rId21"/>
    <p:sldId id="286" r:id="rId22"/>
    <p:sldId id="326" r:id="rId23"/>
    <p:sldId id="338" r:id="rId24"/>
    <p:sldId id="336" r:id="rId25"/>
    <p:sldId id="337" r:id="rId26"/>
    <p:sldId id="330" r:id="rId27"/>
    <p:sldId id="307" r:id="rId28"/>
    <p:sldId id="332" r:id="rId29"/>
    <p:sldId id="333" r:id="rId30"/>
    <p:sldId id="334" r:id="rId31"/>
    <p:sldId id="335" r:id="rId32"/>
    <p:sldId id="329" r:id="rId33"/>
    <p:sldId id="287" r:id="rId34"/>
    <p:sldId id="293" r:id="rId35"/>
    <p:sldId id="294" r:id="rId36"/>
    <p:sldId id="295" r:id="rId37"/>
    <p:sldId id="296" r:id="rId38"/>
    <p:sldId id="298" r:id="rId39"/>
    <p:sldId id="301" r:id="rId40"/>
    <p:sldId id="302" r:id="rId41"/>
    <p:sldId id="303" r:id="rId42"/>
    <p:sldId id="299" r:id="rId43"/>
    <p:sldId id="300" r:id="rId44"/>
    <p:sldId id="304" r:id="rId45"/>
    <p:sldId id="305" r:id="rId46"/>
    <p:sldId id="306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9B11291-C0C4-40EB-9831-7A4D69CD6236}">
          <p14:sldIdLst>
            <p14:sldId id="256"/>
            <p14:sldId id="327"/>
            <p14:sldId id="274"/>
            <p14:sldId id="258"/>
            <p14:sldId id="259"/>
            <p14:sldId id="261"/>
            <p14:sldId id="275"/>
            <p14:sldId id="325"/>
            <p14:sldId id="263"/>
            <p14:sldId id="262"/>
            <p14:sldId id="267"/>
            <p14:sldId id="264"/>
            <p14:sldId id="285"/>
            <p14:sldId id="284"/>
            <p14:sldId id="260"/>
            <p14:sldId id="278"/>
            <p14:sldId id="277"/>
            <p14:sldId id="279"/>
            <p14:sldId id="280"/>
            <p14:sldId id="281"/>
            <p14:sldId id="286"/>
            <p14:sldId id="326"/>
            <p14:sldId id="338"/>
            <p14:sldId id="336"/>
            <p14:sldId id="337"/>
            <p14:sldId id="330"/>
            <p14:sldId id="307"/>
            <p14:sldId id="332"/>
            <p14:sldId id="333"/>
            <p14:sldId id="334"/>
            <p14:sldId id="335"/>
            <p14:sldId id="329"/>
            <p14:sldId id="287"/>
            <p14:sldId id="293"/>
            <p14:sldId id="294"/>
            <p14:sldId id="295"/>
            <p14:sldId id="296"/>
            <p14:sldId id="298"/>
            <p14:sldId id="301"/>
            <p14:sldId id="302"/>
            <p14:sldId id="303"/>
            <p14:sldId id="299"/>
            <p14:sldId id="300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6015" autoAdjust="0"/>
  </p:normalViewPr>
  <p:slideViewPr>
    <p:cSldViewPr snapToGrid="0">
      <p:cViewPr varScale="1">
        <p:scale>
          <a:sx n="60" d="100"/>
          <a:sy n="60" d="100"/>
        </p:scale>
        <p:origin x="24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B1C5C1-54CE-4892-A53C-9115FF4B63AE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AE1F8-3712-49A6-BC7C-273E12ADC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937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Lược sử phát triển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7774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LLM là gì?</a:t>
            </a:r>
          </a:p>
          <a:p>
            <a:pPr marL="285750" indent="-285750">
              <a:buFontTx/>
              <a:buChar char="-"/>
            </a:pPr>
            <a:r>
              <a:rPr lang="en-US"/>
              <a:t>Tại sao lại gọi là LLM</a:t>
            </a:r>
          </a:p>
          <a:p>
            <a:pPr marL="285750" indent="-285750">
              <a:buFontTx/>
              <a:buChar char="-"/>
            </a:pPr>
            <a:r>
              <a:rPr lang="en-US"/>
              <a:t>Dựa trên nguyên lý? (xây dựng dựa trên transformer làm mô hình cơ sở, tuy nhiên thì có chút biến đổi)</a:t>
            </a:r>
          </a:p>
          <a:p>
            <a:pPr marL="285750" indent="-285750">
              <a:buFontTx/>
              <a:buChar char="-"/>
            </a:pPr>
            <a:r>
              <a:rPr lang="en-US"/>
              <a:t>Nó có thể làm gì? (sinh văn bản, xử lý âm thanh, video…)</a:t>
            </a:r>
          </a:p>
          <a:p>
            <a:pPr marL="285750" indent="-285750">
              <a:buFontTx/>
              <a:buChar char="-"/>
            </a:pPr>
            <a:r>
              <a:rPr lang="en-US"/>
              <a:t>Kể ra một vài thông số (LLM có thể lên tới hang tỉ tham số, chi phí huấn luyện khổng lồ, kiến trúc phức tạp)</a:t>
            </a:r>
          </a:p>
          <a:p>
            <a:pPr marL="285750" indent="-285750">
              <a:buFontTx/>
              <a:buChar char="-"/>
            </a:pPr>
            <a:r>
              <a:rPr lang="en-US"/>
              <a:t>chèn hình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0228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Hệ thống RAG là gì?</a:t>
            </a:r>
          </a:p>
          <a:p>
            <a:pPr marL="285750" indent="-285750">
              <a:buFontTx/>
              <a:buChar char="-"/>
            </a:pPr>
            <a:r>
              <a:rPr lang="en-US"/>
              <a:t>Tác dụng?</a:t>
            </a:r>
          </a:p>
          <a:p>
            <a:pPr marL="285750" indent="-285750">
              <a:buFontTx/>
              <a:buChar char="-"/>
            </a:pPr>
            <a:r>
              <a:rPr lang="en-US"/>
              <a:t>LLM được sử dụng trong hệ thống rag như thế nào?</a:t>
            </a:r>
          </a:p>
          <a:p>
            <a:pPr marL="285750" indent="-285750">
              <a:buFontTx/>
              <a:buChar char="-"/>
            </a:pPr>
            <a:r>
              <a:rPr lang="en-US"/>
              <a:t>Sử dụng LLM và hệ thống rag để xây dựng chatbot hõ trợ học lịch sử việt nam</a:t>
            </a:r>
          </a:p>
          <a:p>
            <a:pPr marL="285750" indent="-285750">
              <a:buFontTx/>
              <a:buChar char="-"/>
            </a:pPr>
            <a:r>
              <a:rPr lang="en-US"/>
              <a:t> (tại sao 2 cái đó lại có thể sử dụng để xây dung chatbot? Lợi tích so với các phương pháp truyền thống)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81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1756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Phát biểu và phân tích bài toán:</a:t>
            </a:r>
          </a:p>
          <a:p>
            <a:pPr marL="285750" indent="-285750">
              <a:buFontTx/>
              <a:buChar char="-"/>
            </a:pPr>
            <a:r>
              <a:rPr lang="en-US"/>
              <a:t>Yêu cầu của bài toán là gì?</a:t>
            </a:r>
          </a:p>
          <a:p>
            <a:pPr marL="285750" indent="-285750">
              <a:buFontTx/>
              <a:buChar char="-"/>
            </a:pPr>
            <a:r>
              <a:rPr lang="en-US"/>
              <a:t>Tính cấp thiết của bài toán</a:t>
            </a:r>
          </a:p>
          <a:p>
            <a:pPr marL="285750" indent="-285750">
              <a:buFontTx/>
              <a:buChar char="-"/>
            </a:pPr>
            <a:r>
              <a:rPr lang="en-US"/>
              <a:t>Phân tích bài toán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6800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Phương pháp đề xuất</a:t>
            </a:r>
          </a:p>
          <a:p>
            <a:pPr marL="285750" indent="-285750">
              <a:buFontTx/>
              <a:buChar char="-"/>
            </a:pPr>
            <a:r>
              <a:rPr lang="en-US"/>
              <a:t>Chèn hình, miêu tả chi tiết phương pháp đề xuất</a:t>
            </a:r>
          </a:p>
          <a:p>
            <a:pPr marL="0" indent="0">
              <a:buFontTx/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9596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Hệ thống rag đề xuất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2388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US"/>
              <a:t>Thu thập và tiền xử lý data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8396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Mô tả phân bố của độ dài dữ liệu (đơn vị từ)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1473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Word embedding</a:t>
            </a:r>
          </a:p>
          <a:p>
            <a:r>
              <a:rPr lang="en-US"/>
              <a:t>We là gì? Ánh xạ từ word sang vector</a:t>
            </a:r>
          </a:p>
          <a:p>
            <a:r>
              <a:rPr lang="en-US"/>
              <a:t>Trong đó mỗi chiều là 1 thuộc tính…</a:t>
            </a:r>
          </a:p>
          <a:p>
            <a:r>
              <a:rPr lang="en-US"/>
              <a:t>Ví dụ như trong hình…</a:t>
            </a:r>
          </a:p>
          <a:p>
            <a:r>
              <a:rPr lang="en-US"/>
              <a:t>Như vậy,… “tóm tắt kết quả”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0603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Thông số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999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Đánh giá hiệu quả tokenization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4073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Đánh giá hiệu quả embedding của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3981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Thông số các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084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Chỉ số benchmark các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8590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7818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2E6F8-08DB-4B4B-33C5-2FE228C13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1112E2-1E5C-9B21-6641-7B14837AF9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C3DF2-8A15-66A2-8AC4-5A15B001F8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Phương pháp triển khai hệ thống của chức năng trò chuyện realtime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321A1-8260-116C-41AE-3354722561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5582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0777F-8110-B941-281F-CFEA3895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BD2EAD-C99F-5A82-76BE-D5287F9B21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BF7901-983D-5261-4F20-8FBFCF5929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83F75-4811-A13E-C814-1F86FAF70A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574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6945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577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29AF-B355-D1E8-9B2D-B8269525B7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07E63C-8FF0-97E4-B4F0-33843DF8C2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9F2BF-AA70-F54C-B731-3D861AB98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5B464-2024-A8ED-9C7C-A41DA166F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9A9B8-1EFD-5192-7DEB-46777E765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4409B-8C38-1A8F-29F7-B3B18D129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F2842-D70F-50B1-4B1C-D1B015C01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16A48-E558-E35D-8FC6-00F7621CE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8BF35-E979-8F2E-1BDB-57BAF9AC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28570-8D79-A971-B32C-4032154AA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918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318E3-A4FB-1672-078A-DBEFE342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BA2838-D279-21C8-2B1E-036EC5DF0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E73C9-9CB4-A847-9FD2-AC9E2FAE7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44A77-FC0F-06FC-6A12-3276BCAE6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0003C-90A9-EA1C-D7ED-504494AC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60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ABA76-ED91-7EE0-7E8C-E9F29DAD0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285B7-563E-E1FD-3978-F25D88637E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37E7BB-0E71-5989-1231-F070DE9A8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33FCD-493A-7EE4-F542-189CC670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F390C-B99E-3CE7-631E-DBA1E2DE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B861D-E93F-EE54-EB47-C65B5B9C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97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85041-915D-1B57-6585-E46D8F03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5897D1-315D-6F7F-6641-E07C60B26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216A7-44AA-621D-CAF6-5D5C83B7A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825DA8-420D-BB30-4DE8-99CEB403CB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C9977-D0CD-C314-F299-66D26BF6D2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B8C945-B118-A49B-4EFD-6F5BAA339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7DDD7F-0432-89CD-B540-D031806E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C6C9F-7DC5-80BB-B555-881A6BD2E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3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508FA-B87A-A158-7C30-0140BA3B9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709ABB-F651-41F9-52CA-A367A596B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0CD08-030F-CEE8-9986-E879A72D6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257DE-7934-DA4A-925E-3CA9B957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84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E45D9-8CEB-7175-77D2-FD2E956EB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EACD59-99D2-8B6B-F05D-120CD3031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8994E-693D-EA8A-B9B3-0BDEECB9F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50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53DD-120D-7FE1-8213-1F75220C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1D198-FB63-C5FF-3B4D-BE5129CF2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FA32C8-5ED0-57AE-7B20-6A14B6940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887C8D-98E3-450C-F2BE-D7C3A59DF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831C5-FC80-9F39-EC63-8FA36704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A1AA8-A581-B978-BC1C-F2EEF05BA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88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AE862-AEF1-8A07-360B-04C521CCC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5F83F-A5F3-6969-1539-9B9CF2F32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20172-6BD6-DAC4-947C-B7AC2905B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EC2EAE-1317-1E3C-5167-BECD90244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72C58-D327-543A-6915-24726869B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34148-7F51-2855-5EFB-D9B60FF6F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0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A707-8C7C-3DF2-50FA-D99B169D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FAC39-5B78-9364-F32D-066FC405A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A63DED-A28B-E216-59C6-C6C67E9B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A498F-6E05-C40A-8CCF-FA4D8AF19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38E0B-6E2A-8566-2999-056785A50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24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DD25BC-7B38-FF50-F800-FA1833A84F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9EDB33-95B1-B4B7-D428-ED30E9C52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ABD337-9F18-3111-99FA-19369376F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5D57B-FB7A-723B-8362-E65B3F7D1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E1B01-BE7F-FFCC-9094-7723BE49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94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65575-5DF7-CE07-B27E-D0D694C4C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06DA5-2478-C139-C50B-F75C3F885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59DF3-996C-AAC9-862D-5DBE644FD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6C343-037B-4BB6-A079-7472CF8881D5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08EB3-0CA6-B077-D700-62B640671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DD6CA-B4DC-3EB9-5C97-BAFAFF69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879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1FDA4-4260-660A-25D4-B13E63AE6D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7621" y="1214438"/>
            <a:ext cx="10956758" cy="2387600"/>
          </a:xfrm>
        </p:spPr>
        <p:txBody>
          <a:bodyPr>
            <a:normAutofit fontScale="90000"/>
          </a:bodyPr>
          <a:lstStyle/>
          <a:p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CHATBOT HỖ TRỢ HỌC LỊCH SỬ VIỆT NAM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CE1A54-8D5F-A2BE-1887-6DEA87C9E7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71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2D2C35-E293-4E99-479C-AE9A34A8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Nội dung trình bày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F53B9-DD61-BAD9-9879-CAC09A2F4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Cơ sở lý thuyết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Phương pháp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hệ thống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Kết quả triển khai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981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C6112A-65E9-4562-42DC-CB4F7F3EA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5F6B3A-30D3-C8DC-D08E-C389923C86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1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857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B22E11-386E-4205-349B-2F114E613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Lược sử sự phát triển của NLP cho đến nay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0133F-4560-3710-C873-80B0D2A34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1181670" y="2633472"/>
            <a:ext cx="9825612" cy="3586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246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9234B-526C-DB72-DCD1-48DEC3E236E8}"/>
              </a:ext>
            </a:extLst>
          </p:cNvPr>
          <p:cNvSpPr txBox="1">
            <a:spLocks/>
          </p:cNvSpPr>
          <p:nvPr/>
        </p:nvSpPr>
        <p:spPr>
          <a:xfrm>
            <a:off x="630936" y="639520"/>
            <a:ext cx="3429000" cy="17190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Mô hình ngôn ngữ lớn - LLM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CA59B3-8C0A-7A66-B2C3-448998BBBA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5" y="2807208"/>
            <a:ext cx="3860853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Xử lý và sinh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văn bản tự nhiên.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Huấn luyện trên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dữ liệu quy mô lớn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phức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tạp, có hàng tỉ tham số, dựa trên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nền Transformer.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Có thể trích xuất, phân tích, gán nhãn, sinh văn bản.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trong chatbot, giáo dục, pháp lý, y tế…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913FD91-B87F-D541-223A-6032EB708B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1355861"/>
            <a:ext cx="6903720" cy="414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261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238EEB-82D7-5E21-2DF3-74DA60136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Hệ thống RAG</a:t>
            </a:r>
          </a:p>
        </p:txBody>
      </p:sp>
      <p:sp>
        <p:nvSpPr>
          <p:cNvPr id="25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diagram of a software model&#10;&#10;AI-generated content may be incorrect.">
            <a:extLst>
              <a:ext uri="{FF2B5EF4-FFF2-40B4-BE49-F238E27FC236}">
                <a16:creationId xmlns:a16="http://schemas.microsoft.com/office/drawing/2014/main" id="{025959DD-CF58-9169-6EB0-EDEB8CE888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1122" y="2633472"/>
            <a:ext cx="7066707" cy="3586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135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5C277F-9E35-80E7-BAF3-F5561C1C1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E26550-92BF-050F-8E50-6EDE860C60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2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589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22B329-5946-0058-2924-CAF410C0C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24C33F-1BB9-7361-0EA8-3F90BC2D3B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Phát biểu bài toán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Phương pháp đề xuất triển khai hệ thống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Hệ thống RAG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Quy trình thu thập và tiền xử lý dữ liệu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Mô hình embedding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Các LLM đề xuất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863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38C0A4-F40D-E95E-AA3C-784AF0AC4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0949BD-FE15-2034-9E1F-C68CAFB20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40080"/>
            <a:ext cx="5641527" cy="148132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 biểu và phân tích bài toán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185E23-891A-7431-5F67-01B4A2C5ADB3}"/>
              </a:ext>
            </a:extLst>
          </p:cNvPr>
          <p:cNvSpPr txBox="1">
            <a:spLocks/>
          </p:cNvSpPr>
          <p:nvPr/>
        </p:nvSpPr>
        <p:spPr>
          <a:xfrm>
            <a:off x="630936" y="2660904"/>
            <a:ext cx="4818888" cy="3547872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Nhu cầu cá nhân hóa và tự động hóa học tập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trong giáo dục ngày càng cao.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Môn Lịch sử thường bị xem là khô khan =&gt; công cụ thông minh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giúp nâng cao hứng thú học tập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của người dùng.</a:t>
            </a:r>
          </a:p>
          <a:p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Sự phát triển của công nghệ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giúp hiện thực hóa bài toán này trở nên khả thi.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AB38716-E23F-EBFD-4084-EB3D96FF79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6099048" y="2350853"/>
            <a:ext cx="5458968" cy="2156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415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B900F-05B7-08CC-5194-A989A3B88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639464A9-8ACE-E2AB-1F57-892582DE6A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6328" y="1080321"/>
            <a:ext cx="8759344" cy="53751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80899A-87A4-B069-E6D5-150CD2AC8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28643"/>
            <a:ext cx="10515600" cy="597071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 triển khai hệ thống</a:t>
            </a:r>
          </a:p>
        </p:txBody>
      </p:sp>
    </p:spTree>
    <p:extLst>
      <p:ext uri="{BB962C8B-B14F-4D97-AF65-F5344CB8AC3E}">
        <p14:creationId xmlns:p14="http://schemas.microsoft.com/office/powerpoint/2010/main" val="424143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FB8E2-BAB1-3C88-F437-BD763C4B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2EA4F12-5E6C-115B-1FC5-640B3BC0BF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933" y="775855"/>
            <a:ext cx="8744134" cy="54469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0A7913-3FD0-8173-8106-223ADF66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9002"/>
            <a:ext cx="10515600" cy="536853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 đề xuất</a:t>
            </a:r>
          </a:p>
        </p:txBody>
      </p:sp>
    </p:spTree>
    <p:extLst>
      <p:ext uri="{BB962C8B-B14F-4D97-AF65-F5344CB8AC3E}">
        <p14:creationId xmlns:p14="http://schemas.microsoft.com/office/powerpoint/2010/main" val="136981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2F7152-6CF2-FC53-F528-903F138F9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EC24352-318E-4678-A72F-9A7539F16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39520"/>
            <a:ext cx="3716475" cy="1719072"/>
          </a:xfrm>
        </p:spPr>
        <p:txBody>
          <a:bodyPr anchor="ctr"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Quy trình thu thập dữ liệu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EBF7C-2AFF-055E-A7AE-F4ED5B9E08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4023360" cy="3570812"/>
          </a:xfrm>
        </p:spPr>
        <p:txBody>
          <a:bodyPr anchor="t">
            <a:noAutofit/>
          </a:bodyPr>
          <a:lstStyle/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Các nội dung được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chuyển thành văn bản thô.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Mỗi văn bản tương ứng với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một đơn vị kiến thức (chương, bài, đoạn)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cụ thể.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Lưu trữ các văn bản trong các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tệp JSON.</a:t>
            </a:r>
          </a:p>
          <a:p>
            <a:endParaRPr lang="en-US" sz="18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i="1">
                <a:latin typeface="Times New Roman" panose="02020603050405020304" pitchFamily="18" charset="0"/>
                <a:cs typeface="Times New Roman" panose="02020603050405020304" pitchFamily="18" charset="0"/>
              </a:rPr>
              <a:t>Tại sao là JSON?</a:t>
            </a:r>
          </a:p>
          <a:p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Dễ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tổ chức dữ liệu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 và 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mở rộng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Thân thiện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với các hệ thống lưu trữ, các mô hình NLP và pipeline xử lý.</a:t>
            </a:r>
          </a:p>
        </p:txBody>
      </p:sp>
      <p:pic>
        <p:nvPicPr>
          <p:cNvPr id="2" name="Picture 1" descr="A black background with red lines&#10;&#10;AI-generated content may be incorrect.">
            <a:extLst>
              <a:ext uri="{FF2B5EF4-FFF2-40B4-BE49-F238E27FC236}">
                <a16:creationId xmlns:a16="http://schemas.microsoft.com/office/drawing/2014/main" id="{3633D7FF-B793-8A53-A482-E4D42B1F04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2065514"/>
            <a:ext cx="6903720" cy="2726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0147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74E8E9B-2986-2B75-F05E-024AE48AE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Số liệu về độ dài của tài liệu theo loại (đơn vị từ)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FDFC9D-F429-9A48-3418-2153B501AA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4023360" cy="3410712"/>
          </a:xfrm>
        </p:spPr>
        <p:txBody>
          <a:bodyPr anchor="t">
            <a:normAutofit/>
          </a:bodyPr>
          <a:lstStyle/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Có tổng cộng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1121 tài liệu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loại.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có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3 loại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chapter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(chương),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lesson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(bài học) và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(câu hỏi hoặc tiêu đề).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loại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chiếm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lớn số lượng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thu thập được.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loại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có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độ dài (đơn vị từ) vượt trội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so với các loại tài liệu còn lại.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E99FB4-3AC3-CCAE-14DE-7193EDCA7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296" y="1720330"/>
            <a:ext cx="6903720" cy="34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0743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D95F80E-D65B-D141-A6C5-C3FF41DC9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 trình tiền xử lý dữ liệu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E5D216DE-B5AF-62D6-A192-20976C329C99}"/>
              </a:ext>
            </a:extLst>
          </p:cNvPr>
          <p:cNvSpPr txBox="1">
            <a:spLocks/>
          </p:cNvSpPr>
          <p:nvPr/>
        </p:nvSpPr>
        <p:spPr>
          <a:xfrm>
            <a:off x="630935" y="2807208"/>
            <a:ext cx="4141957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Chuẩn hóa định dạng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Loại bỏ l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ỗi chinh tả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ký tự đặc biệt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Loại bỏ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 trùng lặp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Loại bỏ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 không liên quan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Thống kê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liệu.</a:t>
            </a:r>
          </a:p>
          <a:p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Phân đoạn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mẫu dữ liệu.</a:t>
            </a:r>
          </a:p>
          <a:p>
            <a:pPr marL="0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=&gt; Bộ dữ liệu đã được chuẩn hóa.</a:t>
            </a: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7DCC1BA7-523D-D22F-7167-44D8A3CA83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561"/>
          <a:stretch>
            <a:fillRect/>
          </a:stretch>
        </p:blipFill>
        <p:spPr>
          <a:xfrm>
            <a:off x="4654296" y="1905973"/>
            <a:ext cx="6903720" cy="3046054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1AC9F1C-B817-2F6F-7342-C759E7E42FC6}"/>
              </a:ext>
            </a:extLst>
          </p:cNvPr>
          <p:cNvSpPr txBox="1">
            <a:spLocks/>
          </p:cNvSpPr>
          <p:nvPr/>
        </p:nvSpPr>
        <p:spPr>
          <a:xfrm>
            <a:off x="7419109" y="886692"/>
            <a:ext cx="4535825" cy="476012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68572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CF4BB7-356C-F5AE-49B0-E29650593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Word Embedding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08AA7E-6712-4560-AADC-88353A12B52B}"/>
              </a:ext>
            </a:extLst>
          </p:cNvPr>
          <p:cNvSpPr/>
          <p:nvPr/>
        </p:nvSpPr>
        <p:spPr>
          <a:xfrm>
            <a:off x="630936" y="2807208"/>
            <a:ext cx="4564882" cy="341071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i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Khái niệm: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Ánh xạ </a:t>
            </a: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từ trong tập từ điển sang vector không gian nhiều chiều.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Mỗi chiều </a:t>
            </a:r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đại diện cho một thuộc tính</a:t>
            </a: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i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Lợi ích: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Giúp máy tính </a:t>
            </a:r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 thể tính toán được</a:t>
            </a: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Giữ được ngữ cảnh </a:t>
            </a: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 ý nghĩa của văn bản.</a:t>
            </a: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 trọng trong các tác vụ NLP.</a:t>
            </a:r>
          </a:p>
        </p:txBody>
      </p:sp>
      <p:pic>
        <p:nvPicPr>
          <p:cNvPr id="3" name="Picture 2" descr="A diagram of words and numbers&#10;&#10;AI-generated content may be incorrect.">
            <a:extLst>
              <a:ext uri="{FF2B5EF4-FFF2-40B4-BE49-F238E27FC236}">
                <a16:creationId xmlns:a16="http://schemas.microsoft.com/office/drawing/2014/main" id="{7D5E91D7-3243-CAC9-5D2F-3343213CA0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562"/>
          <a:stretch>
            <a:fillRect/>
          </a:stretch>
        </p:blipFill>
        <p:spPr>
          <a:xfrm>
            <a:off x="5195818" y="640080"/>
            <a:ext cx="5820676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2173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661771-3F71-885B-E45A-CC15626E77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2148275"/>
              </p:ext>
            </p:extLst>
          </p:nvPr>
        </p:nvGraphicFramePr>
        <p:xfrm>
          <a:off x="168165" y="993863"/>
          <a:ext cx="11855669" cy="55778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40377">
                  <a:extLst>
                    <a:ext uri="{9D8B030D-6E8A-4147-A177-3AD203B41FA5}">
                      <a16:colId xmlns:a16="http://schemas.microsoft.com/office/drawing/2014/main" val="21212387"/>
                    </a:ext>
                  </a:extLst>
                </a:gridCol>
                <a:gridCol w="1108079">
                  <a:extLst>
                    <a:ext uri="{9D8B030D-6E8A-4147-A177-3AD203B41FA5}">
                      <a16:colId xmlns:a16="http://schemas.microsoft.com/office/drawing/2014/main" val="3098293506"/>
                    </a:ext>
                  </a:extLst>
                </a:gridCol>
                <a:gridCol w="1314156">
                  <a:extLst>
                    <a:ext uri="{9D8B030D-6E8A-4147-A177-3AD203B41FA5}">
                      <a16:colId xmlns:a16="http://schemas.microsoft.com/office/drawing/2014/main" val="1314405756"/>
                    </a:ext>
                  </a:extLst>
                </a:gridCol>
                <a:gridCol w="1318432">
                  <a:extLst>
                    <a:ext uri="{9D8B030D-6E8A-4147-A177-3AD203B41FA5}">
                      <a16:colId xmlns:a16="http://schemas.microsoft.com/office/drawing/2014/main" val="3674700715"/>
                    </a:ext>
                  </a:extLst>
                </a:gridCol>
                <a:gridCol w="1471737">
                  <a:extLst>
                    <a:ext uri="{9D8B030D-6E8A-4147-A177-3AD203B41FA5}">
                      <a16:colId xmlns:a16="http://schemas.microsoft.com/office/drawing/2014/main" val="3069290537"/>
                    </a:ext>
                  </a:extLst>
                </a:gridCol>
                <a:gridCol w="1203398">
                  <a:extLst>
                    <a:ext uri="{9D8B030D-6E8A-4147-A177-3AD203B41FA5}">
                      <a16:colId xmlns:a16="http://schemas.microsoft.com/office/drawing/2014/main" val="14666281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198331372"/>
                    </a:ext>
                  </a:extLst>
                </a:gridCol>
                <a:gridCol w="1103587">
                  <a:extLst>
                    <a:ext uri="{9D8B030D-6E8A-4147-A177-3AD203B41FA5}">
                      <a16:colId xmlns:a16="http://schemas.microsoft.com/office/drawing/2014/main" val="3783402126"/>
                    </a:ext>
                  </a:extLst>
                </a:gridCol>
                <a:gridCol w="1324303">
                  <a:extLst>
                    <a:ext uri="{9D8B030D-6E8A-4147-A177-3AD203B41FA5}">
                      <a16:colId xmlns:a16="http://schemas.microsoft.com/office/drawing/2014/main" val="1732880498"/>
                    </a:ext>
                  </a:extLst>
                </a:gridCol>
              </a:tblGrid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Kiến trúc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vào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lớp Transformer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attention head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</a:t>
                      </a:r>
                    </a:p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lớp ẩn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lưu trữ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355500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MiniLM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~ 22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99001891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418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6594544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Distil-BERT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~135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 GB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108459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86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4910588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017707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14587989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B177B27-E32D-3C64-AA0B-31E5128D4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704"/>
            <a:ext cx="10515600" cy="50102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Thông số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39435450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9EB1C-7BB8-3DDD-C228-8251C982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74312"/>
            <a:ext cx="10515600" cy="51539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tokenization của các mô hình embedding đề xuất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2C7826E-63F0-E204-4AFA-20B4004B3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305573"/>
              </p:ext>
            </p:extLst>
          </p:nvPr>
        </p:nvGraphicFramePr>
        <p:xfrm>
          <a:off x="207579" y="1923394"/>
          <a:ext cx="11776841" cy="4794079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2756338">
                  <a:extLst>
                    <a:ext uri="{9D8B030D-6E8A-4147-A177-3AD203B41FA5}">
                      <a16:colId xmlns:a16="http://schemas.microsoft.com/office/drawing/2014/main" val="3401729846"/>
                    </a:ext>
                  </a:extLst>
                </a:gridCol>
                <a:gridCol w="9020503">
                  <a:extLst>
                    <a:ext uri="{9D8B030D-6E8A-4147-A177-3AD203B41FA5}">
                      <a16:colId xmlns:a16="http://schemas.microsoft.com/office/drawing/2014/main" val="1479469748"/>
                    </a:ext>
                  </a:extLst>
                </a:gridCol>
              </a:tblGrid>
              <a:tr h="163987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Kết quả tokenization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999059"/>
                  </a:ext>
                </a:extLst>
              </a:tr>
              <a:tr h="528343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'chu', '##ong', ':', 'bu', '##oi', 'đ', '##au', 'li', '##ch', 'su', 'nu', '##oc', 'ta', '[UNK]', '[UNK]', '(', '[UNK]', ')',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390032"/>
                  </a:ext>
                </a:extLst>
              </a:tr>
              <a:tr h="63614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</a:t>
                      </a:r>
                      <a:endParaRPr lang="en-US" sz="16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vietnamese-uncased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'chuong', '[UNK]', 'bu', '##o', '##i', 'đau', 'lich', 'su', 'nu', '##oc', 'ta', '[UNK]', '[UNK]', '[UNK]', '[UNK]', '[UNK]',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2113233"/>
                  </a:ext>
                </a:extLst>
              </a:tr>
              <a:tr h="52695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'Chương', ':', '[UNK]', '[UNK]', '[UNK]', '[UNK]', '[UNK]', 'TA', '[UNK]', '[UNK]', '(', '[UNK]', ')', 'ʃ', '##♪',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5829504"/>
                  </a:ext>
                </a:extLst>
              </a:tr>
              <a:tr h="710521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'▁Chương', ':', '▁BU', 'Ổ', 'I', '▁Đ', 'Ầ', 'U', '▁L', 'Ị', 'CH', '▁S', 'Ử', '▁N', 'ƯỚC', '▁TA', '▁', '❉', '▁', '♡', '&lt;unk&gt;', '(', 'ˆ', '◡', 'ˆ', ')', 'ʃ', '♪', '▁',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'▁',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6756113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sup-SimCSE-VietNamese-phobert-base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9388337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6204143"/>
                  </a:ext>
                </a:extLst>
              </a:tr>
            </a:tbl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1CED3B1D-6194-DED2-9A17-11E9603C251E}"/>
              </a:ext>
            </a:extLst>
          </p:cNvPr>
          <p:cNvSpPr txBox="1">
            <a:spLocks/>
          </p:cNvSpPr>
          <p:nvPr/>
        </p:nvSpPr>
        <p:spPr>
          <a:xfrm>
            <a:off x="838199" y="1263761"/>
            <a:ext cx="10515600" cy="6596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Chuỗi mẫu:</a:t>
            </a:r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/>
              <a:t>Chương: BUỔI ĐẦU LỊCH SỬ NƯỚC TA❉ ♡ƪ(ˆ◡ˆ)ʃ♪ </a:t>
            </a:r>
            <a:r>
              <a:rPr lang="en-US"/>
              <a:t>卍</a:t>
            </a:r>
            <a:r>
              <a:rPr lang="vi-VN"/>
              <a:t> ₯</a:t>
            </a:r>
            <a:endParaRPr lang="en-US"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514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1014C97-2555-AAF9-4C63-8CD1146411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5019650"/>
              </p:ext>
            </p:extLst>
          </p:nvPr>
        </p:nvGraphicFramePr>
        <p:xfrm>
          <a:off x="350784" y="1166648"/>
          <a:ext cx="11490432" cy="535663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15072">
                  <a:extLst>
                    <a:ext uri="{9D8B030D-6E8A-4147-A177-3AD203B41FA5}">
                      <a16:colId xmlns:a16="http://schemas.microsoft.com/office/drawing/2014/main" val="166289660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673666756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4127992246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985171975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3658319788"/>
                    </a:ext>
                  </a:extLst>
                </a:gridCol>
                <a:gridCol w="1915072">
                  <a:extLst>
                    <a:ext uri="{9D8B030D-6E8A-4147-A177-3AD203B41FA5}">
                      <a16:colId xmlns:a16="http://schemas.microsoft.com/office/drawing/2014/main" val="1633214803"/>
                    </a:ext>
                  </a:extLst>
                </a:gridCol>
              </a:tblGrid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max tokens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subword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OOV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597094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332.72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195.55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9805985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402.99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354.15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6315199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295.42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6658815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293.46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185.51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1209192"/>
                  </a:ext>
                </a:extLst>
              </a:tr>
              <a:tr h="877480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8183683"/>
                  </a:ext>
                </a:extLst>
              </a:tr>
              <a:tr h="653358">
                <a:tc>
                  <a:txBody>
                    <a:bodyPr/>
                    <a:lstStyle/>
                    <a:p>
                      <a:pPr algn="ctr"/>
                      <a:r>
                        <a:rPr lang="en-US" sz="18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368.92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313.05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196713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14270C03-FC08-E22C-5FA5-381AF4156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4720"/>
            <a:ext cx="10515600" cy="50771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embedding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196680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C60DF0B-1CF0-A9FA-6663-45D03C4AFD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682397"/>
              </p:ext>
            </p:extLst>
          </p:nvPr>
        </p:nvGraphicFramePr>
        <p:xfrm>
          <a:off x="112985" y="1946836"/>
          <a:ext cx="11966030" cy="393397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93206">
                  <a:extLst>
                    <a:ext uri="{9D8B030D-6E8A-4147-A177-3AD203B41FA5}">
                      <a16:colId xmlns:a16="http://schemas.microsoft.com/office/drawing/2014/main" val="693161458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3518794994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1480643193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4262199494"/>
                    </a:ext>
                  </a:extLst>
                </a:gridCol>
                <a:gridCol w="2393206">
                  <a:extLst>
                    <a:ext uri="{9D8B030D-6E8A-4147-A177-3AD203B41FA5}">
                      <a16:colId xmlns:a16="http://schemas.microsoft.com/office/drawing/2014/main" val="2223393053"/>
                    </a:ext>
                  </a:extLst>
                </a:gridCol>
              </a:tblGrid>
              <a:tr h="577830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8073651"/>
                  </a:ext>
                </a:extLst>
              </a:tr>
              <a:tr h="57783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144492"/>
                  </a:ext>
                </a:extLst>
              </a:tr>
              <a:tr h="783611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</a:t>
                      </a:r>
                    </a:p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Không rõ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70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123 tỷ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4914303"/>
                  </a:ext>
                </a:extLst>
              </a:tr>
              <a:tr h="99735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vào tối đa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256 nghìn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1.048.576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760618"/>
                  </a:ext>
                </a:extLst>
              </a:tr>
              <a:tr h="997350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ra tối đa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 nghìn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8.192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2.048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4.096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841369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1608CAD-BC1D-1ECA-750D-9425A708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288"/>
            <a:ext cx="10515600" cy="50771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Thông số của các mô hình LLM đề xuất</a:t>
            </a:r>
          </a:p>
        </p:txBody>
      </p:sp>
    </p:spTree>
    <p:extLst>
      <p:ext uri="{BB962C8B-B14F-4D97-AF65-F5344CB8AC3E}">
        <p14:creationId xmlns:p14="http://schemas.microsoft.com/office/powerpoint/2010/main" val="27926955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D9BF4E7-7D8D-8314-0BA4-B73681D235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074679"/>
              </p:ext>
            </p:extLst>
          </p:nvPr>
        </p:nvGraphicFramePr>
        <p:xfrm>
          <a:off x="128752" y="1381632"/>
          <a:ext cx="11934495" cy="4519593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386899">
                  <a:extLst>
                    <a:ext uri="{9D8B030D-6E8A-4147-A177-3AD203B41FA5}">
                      <a16:colId xmlns:a16="http://schemas.microsoft.com/office/drawing/2014/main" val="295268228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669753581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550204363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3573652473"/>
                    </a:ext>
                  </a:extLst>
                </a:gridCol>
                <a:gridCol w="2386899">
                  <a:extLst>
                    <a:ext uri="{9D8B030D-6E8A-4147-A177-3AD203B41FA5}">
                      <a16:colId xmlns:a16="http://schemas.microsoft.com/office/drawing/2014/main" val="1885265825"/>
                    </a:ext>
                  </a:extLst>
                </a:gridCol>
              </a:tblGrid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Tiêu chí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1146620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9030216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Trung bình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52.32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301820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Suy luận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32.46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30.90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296562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Lập trình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64.74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62.89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310198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Toán học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63.19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34.23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39.33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238244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Phân tích dữ liệu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59.92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73.85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38.75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54.20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5126792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Ngôn ngữ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41.77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109131"/>
                  </a:ext>
                </a:extLst>
              </a:tr>
              <a:tr h="50217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Tuân thủ mệnh lệnh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85.79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86.42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78.54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67.93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6620854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B22FCA9-DF8F-7B64-1F5A-8326287E6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4938"/>
            <a:ext cx="10515600" cy="550917"/>
          </a:xfrm>
        </p:spPr>
        <p:txBody>
          <a:bodyPr>
            <a:no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benchmark của các LLM đề xuất</a:t>
            </a:r>
          </a:p>
        </p:txBody>
      </p:sp>
    </p:spTree>
    <p:extLst>
      <p:ext uri="{BB962C8B-B14F-4D97-AF65-F5344CB8AC3E}">
        <p14:creationId xmlns:p14="http://schemas.microsoft.com/office/powerpoint/2010/main" val="8516449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AE1F14-854D-0979-EB9D-62FE3FBCF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3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9B5BC8-5DC3-87AB-CC14-B5539F643D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>
            <a:normAutofit/>
          </a:bodyPr>
          <a:lstStyle/>
          <a:p>
            <a:pPr algn="l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8949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66B5D6-B4F1-4270-E69E-F4F49A5F2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các chức năng hệ thống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84B7F-DAAB-1BD8-1EE4-68D495BEB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Các chức năng của hệ thống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chat text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chat realtime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quá trình sinh phản hồi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cài đặt tùy chọn luồng chat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đánh giá phản hồi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chức năng khởi tạo luồng chat mới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Triển khai các chức năng xác thực người dùng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44625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83C811-A33A-6C94-B74F-00C560B97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8BB76B0-D2B6-ECBB-743E-8C82D8B84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chức năng hệ thống</a:t>
            </a:r>
          </a:p>
        </p:txBody>
      </p:sp>
      <p:sp>
        <p:nvSpPr>
          <p:cNvPr id="27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FE9A8E53-2FC6-3B66-5420-F806FD03D751}"/>
              </a:ext>
            </a:extLst>
          </p:cNvPr>
          <p:cNvSpPr txBox="1">
            <a:spLocks/>
          </p:cNvSpPr>
          <p:nvPr/>
        </p:nvSpPr>
        <p:spPr>
          <a:xfrm>
            <a:off x="838200" y="1911096"/>
            <a:ext cx="4420278" cy="4251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luồng chat mới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 luồng chat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</a:t>
            </a:r>
          </a:p>
        </p:txBody>
      </p:sp>
      <p:sp>
        <p:nvSpPr>
          <p:cNvPr id="3" name="Content Placeholder 1">
            <a:extLst>
              <a:ext uri="{FF2B5EF4-FFF2-40B4-BE49-F238E27FC236}">
                <a16:creationId xmlns:a16="http://schemas.microsoft.com/office/drawing/2014/main" id="{481ADDE5-9938-936D-34C6-1BB46C09958B}"/>
              </a:ext>
            </a:extLst>
          </p:cNvPr>
          <p:cNvSpPr txBox="1">
            <a:spLocks/>
          </p:cNvSpPr>
          <p:nvPr/>
        </p:nvSpPr>
        <p:spPr>
          <a:xfrm>
            <a:off x="6933524" y="1911096"/>
            <a:ext cx="4589440" cy="428853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Xác thực người dùng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</a:t>
            </a:r>
          </a:p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</a:t>
            </a:r>
          </a:p>
        </p:txBody>
      </p:sp>
    </p:spTree>
    <p:extLst>
      <p:ext uri="{BB962C8B-B14F-4D97-AF65-F5344CB8AC3E}">
        <p14:creationId xmlns:p14="http://schemas.microsoft.com/office/powerpoint/2010/main" val="35462501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E9A64-FB2D-BEFE-077E-3BED199E0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C06C5A30-CCCE-3C75-32B6-92675444B3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1A7264-4F40-C0FA-007E-D2027113B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chat text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E2A2DFD3-3F00-F808-7B23-51619F4076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B214F4C3-A7AD-1CFC-DD1A-8BF8AB122693}"/>
              </a:ext>
            </a:extLst>
          </p:cNvPr>
          <p:cNvSpPr txBox="1">
            <a:spLocks/>
          </p:cNvSpPr>
          <p:nvPr/>
        </p:nvSpPr>
        <p:spPr>
          <a:xfrm>
            <a:off x="630936" y="2807208"/>
            <a:ext cx="4101485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sinh phản hồi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để nhận một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về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6" name="Picture 5" descr="A group of white ovals with black text&#10;&#10;AI-generated content may be incorrect.">
            <a:extLst>
              <a:ext uri="{FF2B5EF4-FFF2-40B4-BE49-F238E27FC236}">
                <a16:creationId xmlns:a16="http://schemas.microsoft.com/office/drawing/2014/main" id="{AD245DBA-2BB1-8C1A-FB1B-AB195F9B86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214" y="2304703"/>
            <a:ext cx="6953001" cy="2248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8724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4A48DB-73F0-BEB8-6CDE-72CF0F7CA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741CDEB-3A7D-D34A-251E-5DBF87D5D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519" y="640823"/>
            <a:ext cx="3732273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chat</a:t>
            </a: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realtime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56B4BA3-9F94-27B9-27CD-3ACDFC039F09}"/>
              </a:ext>
            </a:extLst>
          </p:cNvPr>
          <p:cNvSpPr txBox="1">
            <a:spLocks/>
          </p:cNvSpPr>
          <p:nvPr/>
        </p:nvSpPr>
        <p:spPr>
          <a:xfrm>
            <a:off x="4517039" y="0"/>
            <a:ext cx="7539465" cy="6593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Công nghệ chuyển đổi văn bản – âm thanh</a:t>
            </a:r>
          </a:p>
        </p:txBody>
      </p:sp>
      <p:pic>
        <p:nvPicPr>
          <p:cNvPr id="7" name="Picture 6" descr="A black and white image of a device&#10;&#10;AI-generated content may be incorrect.">
            <a:extLst>
              <a:ext uri="{FF2B5EF4-FFF2-40B4-BE49-F238E27FC236}">
                <a16:creationId xmlns:a16="http://schemas.microsoft.com/office/drawing/2014/main" id="{BD4FCCC7-70F6-73E9-D00F-2FCFBF7AC1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1876" y="771805"/>
            <a:ext cx="5312231" cy="27806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E9D03C-B860-97F2-BA09-77238A298D16}"/>
              </a:ext>
            </a:extLst>
          </p:cNvPr>
          <p:cNvSpPr txBox="1"/>
          <p:nvPr/>
        </p:nvSpPr>
        <p:spPr>
          <a:xfrm>
            <a:off x="4426003" y="4288144"/>
            <a:ext cx="32678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Tăng tốc độ tương tác và </a:t>
            </a:r>
          </a:p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mức độ tự nhiên khi giao tiếp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501011-121A-01B0-96DF-FC0979AFF829}"/>
              </a:ext>
            </a:extLst>
          </p:cNvPr>
          <p:cNvSpPr txBox="1"/>
          <p:nvPr/>
        </p:nvSpPr>
        <p:spPr>
          <a:xfrm>
            <a:off x="8679155" y="4288144"/>
            <a:ext cx="33085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Mở rộng khả năng ứng dụng trong môi trường thực tế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2D80FE-60C7-3AD0-643F-B1FE72E3C9AE}"/>
              </a:ext>
            </a:extLst>
          </p:cNvPr>
          <p:cNvSpPr txBox="1"/>
          <p:nvPr/>
        </p:nvSpPr>
        <p:spPr>
          <a:xfrm>
            <a:off x="6713958" y="5383748"/>
            <a:ext cx="31456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Tăng mức độ cá nhân hóa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50ADF19-54A7-BFE2-3279-58D722D78D69}"/>
              </a:ext>
            </a:extLst>
          </p:cNvPr>
          <p:cNvSpPr/>
          <p:nvPr/>
        </p:nvSpPr>
        <p:spPr>
          <a:xfrm rot="3036874">
            <a:off x="7076560" y="3585586"/>
            <a:ext cx="251312" cy="740809"/>
          </a:xfrm>
          <a:prstGeom prst="down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DAEDC472-C404-F889-A035-4EF9831F7EEC}"/>
              </a:ext>
            </a:extLst>
          </p:cNvPr>
          <p:cNvSpPr/>
          <p:nvPr/>
        </p:nvSpPr>
        <p:spPr>
          <a:xfrm rot="18563126" flipH="1">
            <a:off x="9120017" y="3585587"/>
            <a:ext cx="251312" cy="740809"/>
          </a:xfrm>
          <a:prstGeom prst="down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7EBF7F30-9708-CA1C-036B-509CE8BB1328}"/>
              </a:ext>
            </a:extLst>
          </p:cNvPr>
          <p:cNvSpPr/>
          <p:nvPr/>
        </p:nvSpPr>
        <p:spPr>
          <a:xfrm flipH="1">
            <a:off x="8161116" y="3623837"/>
            <a:ext cx="313746" cy="1718840"/>
          </a:xfrm>
          <a:prstGeom prst="downArrow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27924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BE660A-C06A-4C74-DCCD-9641E58DE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2F4BDC-EB35-6936-78E8-688E2D122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66" y="640823"/>
            <a:ext cx="3813726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chat realtime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2F546C70-3588-F313-31FA-BF05F8CF6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561"/>
          <a:stretch>
            <a:fillRect/>
          </a:stretch>
        </p:blipFill>
        <p:spPr>
          <a:xfrm>
            <a:off x="4654296" y="143026"/>
            <a:ext cx="6894576" cy="3042020"/>
          </a:xfrm>
          <a:prstGeom prst="rect">
            <a:avLst/>
          </a:prstGeom>
        </p:spPr>
      </p:pic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73703FD5-2AED-8E85-37DC-4E61F5126090}"/>
              </a:ext>
            </a:extLst>
          </p:cNvPr>
          <p:cNvSpPr txBox="1">
            <a:spLocks/>
          </p:cNvSpPr>
          <p:nvPr/>
        </p:nvSpPr>
        <p:spPr>
          <a:xfrm>
            <a:off x="4654296" y="3185046"/>
            <a:ext cx="6894576" cy="30420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âm thanh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truy vấn âm thanh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sang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văn bản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văn bản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văn bản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sinh phản hồi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để nhận một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chuyển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văn bản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sang âm thanh.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văn bản và âm thanh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về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58BC8C9-C26F-F568-33E2-1D8716601913}"/>
              </a:ext>
            </a:extLst>
          </p:cNvPr>
          <p:cNvSpPr txBox="1">
            <a:spLocks/>
          </p:cNvSpPr>
          <p:nvPr/>
        </p:nvSpPr>
        <p:spPr>
          <a:xfrm>
            <a:off x="7419109" y="886692"/>
            <a:ext cx="4535825" cy="476012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55013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6406F2-8916-A874-A242-A44A2FFA1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CDBDEA59-652C-7126-A754-D5E85C065DB2}"/>
              </a:ext>
            </a:extLst>
          </p:cNvPr>
          <p:cNvSpPr txBox="1">
            <a:spLocks/>
          </p:cNvSpPr>
          <p:nvPr/>
        </p:nvSpPr>
        <p:spPr>
          <a:xfrm>
            <a:off x="638882" y="2344393"/>
            <a:ext cx="3571810" cy="1868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</a:t>
            </a:r>
          </a:p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quá trình </a:t>
            </a:r>
          </a:p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phản hồi</a:t>
            </a:r>
          </a:p>
        </p:txBody>
      </p:sp>
      <p:sp>
        <p:nvSpPr>
          <p:cNvPr id="21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165FC9F-84B6-80BA-E6E0-68C6324F24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845075"/>
            <a:ext cx="7214616" cy="5140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8097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871B12-AF81-B9D8-41D9-AC9803807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A6890AE-14EA-2C7F-738C-25D02E84C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66" y="640823"/>
            <a:ext cx="3813726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cài đặt tùy chọn luồng chat</a:t>
            </a:r>
          </a:p>
        </p:txBody>
      </p:sp>
      <p:sp>
        <p:nvSpPr>
          <p:cNvPr id="31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A40F4881-1D75-EE09-3B72-2FC191F448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1738" y="1246702"/>
            <a:ext cx="6894576" cy="1292732"/>
          </a:xfrm>
          <a:prstGeom prst="rect">
            <a:avLst/>
          </a:prstGeom>
        </p:spPr>
      </p:pic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E50731F7-690D-AD01-FBE3-C5C94E5B85AC}"/>
              </a:ext>
            </a:extLst>
          </p:cNvPr>
          <p:cNvSpPr txBox="1">
            <a:spLocks/>
          </p:cNvSpPr>
          <p:nvPr/>
        </p:nvSpPr>
        <p:spPr>
          <a:xfrm>
            <a:off x="4781550" y="3426126"/>
            <a:ext cx="6894576" cy="21005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giá trị cài đặt tùy chọn mới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giá trị cài đặt tùy chọn mới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cập nhật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về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dùng.</a:t>
            </a:r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89725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64A1B9-06D9-9787-9381-D0ADB180D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109491-7535-8D83-8758-EA40D21F0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823"/>
            <a:ext cx="3419856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đánh giá phản hồi</a:t>
            </a:r>
          </a:p>
        </p:txBody>
      </p:sp>
      <p:sp>
        <p:nvSpPr>
          <p:cNvPr id="45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6BB91C8-A9E0-5A45-3235-1E677ED0BB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2165459"/>
            <a:ext cx="6894576" cy="844586"/>
          </a:xfrm>
          <a:prstGeom prst="rect">
            <a:avLst/>
          </a:prstGeom>
        </p:spPr>
      </p:pic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66D5DF18-F575-1597-7CC7-EB939AC7AF2A}"/>
              </a:ext>
            </a:extLst>
          </p:cNvPr>
          <p:cNvSpPr txBox="1">
            <a:spLocks/>
          </p:cNvSpPr>
          <p:nvPr/>
        </p:nvSpPr>
        <p:spPr>
          <a:xfrm>
            <a:off x="4654296" y="4798577"/>
            <a:ext cx="6894576" cy="142848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cho một phản hồi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lưu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dữ liệu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trả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cập nhật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 về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dùng.</a:t>
            </a:r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0850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BE25FD-46CD-8F8D-367C-1C7DFE948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AD9121-073B-1BB8-1ABA-E885AB35D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823"/>
            <a:ext cx="3419856" cy="5583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khởi tạo luồng chat mới</a:t>
            </a:r>
          </a:p>
        </p:txBody>
      </p:sp>
      <p:sp>
        <p:nvSpPr>
          <p:cNvPr id="52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black and white screen with white text&#10;&#10;AI-generated content may be incorrect.">
            <a:extLst>
              <a:ext uri="{FF2B5EF4-FFF2-40B4-BE49-F238E27FC236}">
                <a16:creationId xmlns:a16="http://schemas.microsoft.com/office/drawing/2014/main" id="{DEBF974F-BD36-A3F1-8443-AFC534A3BC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6488" y="214400"/>
            <a:ext cx="6894576" cy="3205978"/>
          </a:xfrm>
          <a:prstGeom prst="rect">
            <a:avLst/>
          </a:prstGeom>
        </p:spPr>
      </p:pic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4CCFCBDB-CFB3-6857-FF73-B8FB8192CFC0}"/>
              </a:ext>
            </a:extLst>
          </p:cNvPr>
          <p:cNvSpPr txBox="1">
            <a:spLocks/>
          </p:cNvSpPr>
          <p:nvPr/>
        </p:nvSpPr>
        <p:spPr>
          <a:xfrm>
            <a:off x="4666488" y="3640527"/>
            <a:ext cx="6894576" cy="258079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yêu cầu khởi tạo luồng chat mới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gọi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 thành phần khởi tạo starter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để sinh các starter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khởi tạo starter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yêu cầu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sinh ra một lược đồ starter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Thành phần khởi tạo starter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starter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trả về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nhúng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các starter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vào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luồng chat mới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và trả nó về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477856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07D105-6D14-BC09-7716-63DF0F64C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75BB1040-D817-B6C6-F008-1501E5DD6B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4AA5AC5-8D6D-BA9F-0703-351B58463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32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các chức năng xác thực người dùng</a:t>
            </a:r>
          </a:p>
        </p:txBody>
      </p:sp>
      <p:sp>
        <p:nvSpPr>
          <p:cNvPr id="45" name="sketch line">
            <a:extLst>
              <a:ext uri="{FF2B5EF4-FFF2-40B4-BE49-F238E27FC236}">
                <a16:creationId xmlns:a16="http://schemas.microsoft.com/office/drawing/2014/main" id="{D38A211B-361F-2720-4247-D3FEDAA97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D4AE46C9-460D-0500-5213-6B25ED49F758}"/>
              </a:ext>
            </a:extLst>
          </p:cNvPr>
          <p:cNvSpPr txBox="1">
            <a:spLocks/>
          </p:cNvSpPr>
          <p:nvPr/>
        </p:nvSpPr>
        <p:spPr>
          <a:xfrm>
            <a:off x="630936" y="2807208"/>
            <a:ext cx="3429000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gửi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yêu cầu chức năng đính kèm thông tin tài khoản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đến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gọi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 cơ sở dữ liệu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để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xác thực thông tin được gửi đến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trả về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thực thi chức năng.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0A8FD9A-5E44-B6EA-6E1D-34B48D6F455F}"/>
              </a:ext>
            </a:extLst>
          </p:cNvPr>
          <p:cNvSpPr txBox="1">
            <a:spLocks/>
          </p:cNvSpPr>
          <p:nvPr/>
        </p:nvSpPr>
        <p:spPr>
          <a:xfrm>
            <a:off x="7419109" y="886692"/>
            <a:ext cx="4535825" cy="476012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7C276D-7E17-ED8F-D70A-AF1B31236A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629" y="3661796"/>
            <a:ext cx="7258677" cy="850768"/>
          </a:xfrm>
          <a:prstGeom prst="rect">
            <a:avLst/>
          </a:prstGeom>
        </p:spPr>
      </p:pic>
      <p:pic>
        <p:nvPicPr>
          <p:cNvPr id="7" name="Picture 6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137D81F5-F3FA-57A6-66CF-EF5CDCA221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629" y="2154072"/>
            <a:ext cx="7258676" cy="1042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8371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6F37F2-9B26-CFB3-9569-4A2AAD33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3845CB0-8C87-33C3-4748-F9DF25DB2A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77AB8E-1566-A73E-B024-22414DF07A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PHẦN 4</a:t>
            </a:r>
            <a:b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TRIỂN KHAI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B68620-789A-DECD-F0B0-93F889CAB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10512552" cy="1126680"/>
          </a:xfrm>
        </p:spPr>
        <p:txBody>
          <a:bodyPr>
            <a:normAutofit/>
          </a:bodyPr>
          <a:lstStyle/>
          <a:p>
            <a:pPr algn="l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727626CA-9409-4944-EC94-441133CBE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8488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2424A8-6119-9974-88AE-0F930B8D8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 – Giao diện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0D7A51-1101-60C2-92A2-A01F03D49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70" y="1135151"/>
            <a:ext cx="11082860" cy="5594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477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29D17-A712-074A-2715-8C16E8208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3FDBAF-69B4-9152-E936-91F2B3373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người dùng khi đăng nhập thành công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8A9484-6FE5-30D4-E3C9-5AE960C52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55" y="709449"/>
            <a:ext cx="11682248" cy="5986511"/>
          </a:xfrm>
          <a:prstGeom prst="rect">
            <a:avLst/>
          </a:prstGeom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982A83E3-C7A4-3151-6305-9900533ABC7B}"/>
              </a:ext>
            </a:extLst>
          </p:cNvPr>
          <p:cNvSpPr/>
          <p:nvPr/>
        </p:nvSpPr>
        <p:spPr>
          <a:xfrm rot="16200000">
            <a:off x="321085" y="1305095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96B292-FDF5-9CA1-E5AC-7699320CB385}"/>
              </a:ext>
            </a:extLst>
          </p:cNvPr>
          <p:cNvSpPr txBox="1"/>
          <p:nvPr/>
        </p:nvSpPr>
        <p:spPr>
          <a:xfrm>
            <a:off x="144517" y="1680668"/>
            <a:ext cx="13873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Danh sách luồng chat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E8B94B56-2ACB-AB1A-6D3E-3E9B9D744802}"/>
              </a:ext>
            </a:extLst>
          </p:cNvPr>
          <p:cNvSpPr/>
          <p:nvPr/>
        </p:nvSpPr>
        <p:spPr>
          <a:xfrm rot="10800000">
            <a:off x="1101708" y="887630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D995A5-AFF4-F867-F825-0D1222E79A36}"/>
              </a:ext>
            </a:extLst>
          </p:cNvPr>
          <p:cNvSpPr txBox="1"/>
          <p:nvPr/>
        </p:nvSpPr>
        <p:spPr>
          <a:xfrm>
            <a:off x="1485480" y="786461"/>
            <a:ext cx="31978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Nút khởi tạo luồng chat mới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AC139C90-3A23-80E5-791D-DDE43BB8C30F}"/>
              </a:ext>
            </a:extLst>
          </p:cNvPr>
          <p:cNvSpPr/>
          <p:nvPr/>
        </p:nvSpPr>
        <p:spPr>
          <a:xfrm rot="19135893">
            <a:off x="10839668" y="1187779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FC5FF2-CB05-2489-D19E-17B705BB411F}"/>
              </a:ext>
            </a:extLst>
          </p:cNvPr>
          <p:cNvSpPr txBox="1"/>
          <p:nvPr/>
        </p:nvSpPr>
        <p:spPr>
          <a:xfrm>
            <a:off x="9434286" y="1326725"/>
            <a:ext cx="15101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theme sáng/tối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AA9F55F-BDA1-9FFB-64F7-03DAD6164F12}"/>
              </a:ext>
            </a:extLst>
          </p:cNvPr>
          <p:cNvSpPr/>
          <p:nvPr/>
        </p:nvSpPr>
        <p:spPr>
          <a:xfrm rot="16200000">
            <a:off x="11395593" y="1401220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15FAD5-9CB3-D456-CEF0-074B40BE01CF}"/>
              </a:ext>
            </a:extLst>
          </p:cNvPr>
          <p:cNvSpPr txBox="1"/>
          <p:nvPr/>
        </p:nvSpPr>
        <p:spPr>
          <a:xfrm>
            <a:off x="10393478" y="1880722"/>
            <a:ext cx="15101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 khoản người dùng &amp; đăng xuất</a:t>
            </a:r>
          </a:p>
        </p:txBody>
      </p:sp>
    </p:spTree>
    <p:extLst>
      <p:ext uri="{BB962C8B-B14F-4D97-AF65-F5344CB8AC3E}">
        <p14:creationId xmlns:p14="http://schemas.microsoft.com/office/powerpoint/2010/main" val="24429436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E7EDC-5A9A-9DEB-525F-840C64C98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893A3F-F17E-E5BE-EA64-E7AADD6AF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 – Nhập câu hỏi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0A5FFA-3B86-20B9-18C5-DC668B464A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1616"/>
          <a:stretch>
            <a:fillRect/>
          </a:stretch>
        </p:blipFill>
        <p:spPr>
          <a:xfrm>
            <a:off x="337334" y="1174670"/>
            <a:ext cx="11517332" cy="511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1302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A322D-F4E2-25D8-E0E7-5B3F0028C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683FDD-CB84-4EA2-D654-EC9D725E0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 – Hiển thị phản hồi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B1341B-EDD9-5826-FC1C-D404C32986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97"/>
          <a:stretch>
            <a:fillRect/>
          </a:stretch>
        </p:blipFill>
        <p:spPr>
          <a:xfrm>
            <a:off x="1918843" y="709449"/>
            <a:ext cx="8354314" cy="6019908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3E818B07-0F4F-956A-A67B-B1B6CAEACA52}"/>
              </a:ext>
            </a:extLst>
          </p:cNvPr>
          <p:cNvSpPr/>
          <p:nvPr/>
        </p:nvSpPr>
        <p:spPr>
          <a:xfrm>
            <a:off x="2211390" y="3719403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BF5EF-F70D-A20E-0EC1-2BBB1EEC78AB}"/>
              </a:ext>
            </a:extLst>
          </p:cNvPr>
          <p:cNvSpPr txBox="1"/>
          <p:nvPr/>
        </p:nvSpPr>
        <p:spPr>
          <a:xfrm>
            <a:off x="574455" y="3314047"/>
            <a:ext cx="16081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Gợi ý câu hỏi tiếp theo</a:t>
            </a:r>
          </a:p>
        </p:txBody>
      </p:sp>
    </p:spTree>
    <p:extLst>
      <p:ext uri="{BB962C8B-B14F-4D97-AF65-F5344CB8AC3E}">
        <p14:creationId xmlns:p14="http://schemas.microsoft.com/office/powerpoint/2010/main" val="18599607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3C04-03B4-E200-75AF-CCB8B3AD6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9CA3BF8-62D0-B0CE-DA76-DAABEA1B4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 – Gửi hành vi đánh giá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6ECA9D-188E-7287-C891-FFC70912C4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8189" y="709449"/>
            <a:ext cx="7475621" cy="31805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2DA06F8-8E6B-3140-261E-D2BEB84CC8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6732" y="4281090"/>
            <a:ext cx="5258534" cy="2448267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6507C16-835E-C23C-C20F-D739BD8A900A}"/>
              </a:ext>
            </a:extLst>
          </p:cNvPr>
          <p:cNvSpPr/>
          <p:nvPr/>
        </p:nvSpPr>
        <p:spPr>
          <a:xfrm>
            <a:off x="3162300" y="3286125"/>
            <a:ext cx="704850" cy="36195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2858B950-FE1F-E9D8-18A6-F3F3683C03DD}"/>
              </a:ext>
            </a:extLst>
          </p:cNvPr>
          <p:cNvSpPr/>
          <p:nvPr/>
        </p:nvSpPr>
        <p:spPr>
          <a:xfrm>
            <a:off x="5991224" y="4013413"/>
            <a:ext cx="209550" cy="390525"/>
          </a:xfrm>
          <a:prstGeom prst="down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2C46C494-AA46-1078-E4B7-A4FC50FCC723}"/>
              </a:ext>
            </a:extLst>
          </p:cNvPr>
          <p:cNvSpPr/>
          <p:nvPr/>
        </p:nvSpPr>
        <p:spPr>
          <a:xfrm rot="10800000">
            <a:off x="4008528" y="3358806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38F024-7F17-F243-0B5F-E45170FB7F53}"/>
              </a:ext>
            </a:extLst>
          </p:cNvPr>
          <p:cNvSpPr txBox="1"/>
          <p:nvPr/>
        </p:nvSpPr>
        <p:spPr>
          <a:xfrm>
            <a:off x="4392301" y="3257637"/>
            <a:ext cx="26822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hành vi đánh giá</a:t>
            </a:r>
          </a:p>
        </p:txBody>
      </p:sp>
    </p:spTree>
    <p:extLst>
      <p:ext uri="{BB962C8B-B14F-4D97-AF65-F5344CB8AC3E}">
        <p14:creationId xmlns:p14="http://schemas.microsoft.com/office/powerpoint/2010/main" val="24510428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FDCE6-5E5D-D35A-C705-F7C5E8CDD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11EB74-0364-049E-3EB6-6FF49C646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 – Đánh giá được cập nhật thành công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5B93B7-C33F-D693-86EC-C9B3775D4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3" y="1137918"/>
            <a:ext cx="10374173" cy="458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23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C3EE7-AA88-345B-3580-ADD7EECD1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956A8B-CAA8-BDAC-8D18-40C716A7D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 luồng chat – Danh sách tùy chọn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105152-4C54-B83F-149B-34A0F3000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37512"/>
            <a:ext cx="4379991" cy="31829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6C3CCA4-8612-A984-E265-EBA1DBF9F3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106" y="709449"/>
            <a:ext cx="5344951" cy="5516815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5B1D0D64-6886-15F0-1A37-177773D25362}"/>
              </a:ext>
            </a:extLst>
          </p:cNvPr>
          <p:cNvSpPr/>
          <p:nvPr/>
        </p:nvSpPr>
        <p:spPr>
          <a:xfrm>
            <a:off x="5399458" y="3247695"/>
            <a:ext cx="922380" cy="362607"/>
          </a:xfrm>
          <a:prstGeom prst="right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8EC4FC1-C177-F7CD-D655-EB946BD1CE45}"/>
              </a:ext>
            </a:extLst>
          </p:cNvPr>
          <p:cNvSpPr/>
          <p:nvPr/>
        </p:nvSpPr>
        <p:spPr>
          <a:xfrm rot="17565351">
            <a:off x="1508340" y="4930963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B53793-618D-7D05-A301-C4875A6171B6}"/>
              </a:ext>
            </a:extLst>
          </p:cNvPr>
          <p:cNvSpPr txBox="1"/>
          <p:nvPr/>
        </p:nvSpPr>
        <p:spPr>
          <a:xfrm>
            <a:off x="547898" y="5354495"/>
            <a:ext cx="1608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34906-3E08-F933-9FFB-19D87F4C1640}"/>
              </a:ext>
            </a:extLst>
          </p:cNvPr>
          <p:cNvSpPr txBox="1"/>
          <p:nvPr/>
        </p:nvSpPr>
        <p:spPr>
          <a:xfrm>
            <a:off x="8385141" y="2530190"/>
            <a:ext cx="24979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Thay đổi các tùy chọn trong menu này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3D6F02F-8EFB-6CAE-6C9C-8D7B686DE2E6}"/>
              </a:ext>
            </a:extLst>
          </p:cNvPr>
          <p:cNvSpPr/>
          <p:nvPr/>
        </p:nvSpPr>
        <p:spPr>
          <a:xfrm>
            <a:off x="6934200" y="1536700"/>
            <a:ext cx="4419600" cy="3734723"/>
          </a:xfrm>
          <a:prstGeom prst="roundRect">
            <a:avLst>
              <a:gd name="adj" fmla="val 3745"/>
            </a:avLst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BC9AA2F-C5B2-0B33-104B-38FEE492C66C}"/>
              </a:ext>
            </a:extLst>
          </p:cNvPr>
          <p:cNvSpPr/>
          <p:nvPr/>
        </p:nvSpPr>
        <p:spPr>
          <a:xfrm rot="20004230">
            <a:off x="10094461" y="5670237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3E3B7C-7AED-1514-EF69-210ED8AB1A32}"/>
              </a:ext>
            </a:extLst>
          </p:cNvPr>
          <p:cNvSpPr txBox="1"/>
          <p:nvPr/>
        </p:nvSpPr>
        <p:spPr>
          <a:xfrm>
            <a:off x="8226442" y="5584786"/>
            <a:ext cx="18982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“Confirm”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58418F6-913B-216B-776A-C028BD980F31}"/>
              </a:ext>
            </a:extLst>
          </p:cNvPr>
          <p:cNvSpPr/>
          <p:nvPr/>
        </p:nvSpPr>
        <p:spPr>
          <a:xfrm>
            <a:off x="1747839" y="4324350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6607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43172-34BC-23DC-7AB7-319AAB251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87D9C7-621B-0184-164F-D615FADB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 với cài đặt tùy chọn mới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0CA446-B112-B192-413A-F3FC27DEF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311" y="709449"/>
            <a:ext cx="7541378" cy="5992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027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273B8-D54F-C2E5-FD62-584770DBB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9B3CF9-1635-07EF-2ED3-6E0F21D7F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luồng chat mới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F83D29-ED0B-AA96-29C7-7858CB030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78" y="709449"/>
            <a:ext cx="3958961" cy="263671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4D8F61-0A43-26C2-CB88-5038A2AD3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791" y="4213401"/>
            <a:ext cx="5642998" cy="20770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BEDF337-5DEC-D1B0-73A1-DAE9E6AD2C9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947"/>
          <a:stretch>
            <a:fillRect/>
          </a:stretch>
        </p:blipFill>
        <p:spPr>
          <a:xfrm>
            <a:off x="6732050" y="1349958"/>
            <a:ext cx="5099159" cy="4158084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00D43366-CC73-4C5A-13B3-A452C6538688}"/>
              </a:ext>
            </a:extLst>
          </p:cNvPr>
          <p:cNvSpPr/>
          <p:nvPr/>
        </p:nvSpPr>
        <p:spPr>
          <a:xfrm rot="17565351">
            <a:off x="3082141" y="1541532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D373F4-8F65-0A60-1017-E156D01EEE5C}"/>
              </a:ext>
            </a:extLst>
          </p:cNvPr>
          <p:cNvSpPr txBox="1"/>
          <p:nvPr/>
        </p:nvSpPr>
        <p:spPr>
          <a:xfrm>
            <a:off x="2148098" y="1849295"/>
            <a:ext cx="1608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B9AADAD-4580-374D-0B15-A337D8E99746}"/>
              </a:ext>
            </a:extLst>
          </p:cNvPr>
          <p:cNvSpPr/>
          <p:nvPr/>
        </p:nvSpPr>
        <p:spPr>
          <a:xfrm rot="2723501">
            <a:off x="4897154" y="5180476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C649E9-B69D-787E-CC53-C9793CE6C448}"/>
              </a:ext>
            </a:extLst>
          </p:cNvPr>
          <p:cNvSpPr txBox="1"/>
          <p:nvPr/>
        </p:nvSpPr>
        <p:spPr>
          <a:xfrm>
            <a:off x="2988360" y="5051866"/>
            <a:ext cx="18998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“Confirm”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D05D5FA0-37EE-6FF3-314F-9B100CA6656E}"/>
              </a:ext>
            </a:extLst>
          </p:cNvPr>
          <p:cNvSpPr/>
          <p:nvPr/>
        </p:nvSpPr>
        <p:spPr>
          <a:xfrm>
            <a:off x="2726228" y="3452654"/>
            <a:ext cx="155404" cy="654257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C372DDF3-82CC-6117-A778-07937D7671F5}"/>
              </a:ext>
            </a:extLst>
          </p:cNvPr>
          <p:cNvSpPr/>
          <p:nvPr/>
        </p:nvSpPr>
        <p:spPr>
          <a:xfrm rot="16200000">
            <a:off x="6362749" y="4214655"/>
            <a:ext cx="155404" cy="654257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3253E5D-4AE0-EE44-FBC8-6A0C75ECB6DA}"/>
              </a:ext>
            </a:extLst>
          </p:cNvPr>
          <p:cNvSpPr/>
          <p:nvPr/>
        </p:nvSpPr>
        <p:spPr>
          <a:xfrm>
            <a:off x="3297228" y="934665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3622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D5787-362F-F733-2A3B-78981BD3E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182D402-A58F-CC91-7E4F-29D701E7C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 – Gửi câu hỏi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2DDE68-21B6-6D7A-D81A-3D02F91F8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85" y="2123893"/>
            <a:ext cx="4648849" cy="26102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915E9F-3E2A-5B7B-314D-592554EF43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12593"/>
            <a:ext cx="5901815" cy="3632814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A7A4D96F-86C3-3454-CFC1-B4B9B73DC2C1}"/>
              </a:ext>
            </a:extLst>
          </p:cNvPr>
          <p:cNvSpPr/>
          <p:nvPr/>
        </p:nvSpPr>
        <p:spPr>
          <a:xfrm rot="17565351">
            <a:off x="1596241" y="3969084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AF47F7-C0B3-1024-C010-C403188868EA}"/>
              </a:ext>
            </a:extLst>
          </p:cNvPr>
          <p:cNvSpPr txBox="1"/>
          <p:nvPr/>
        </p:nvSpPr>
        <p:spPr>
          <a:xfrm>
            <a:off x="662198" y="4276847"/>
            <a:ext cx="1608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FF3F8EA-76D3-9AB1-E111-08B5069906AC}"/>
              </a:ext>
            </a:extLst>
          </p:cNvPr>
          <p:cNvSpPr/>
          <p:nvPr/>
        </p:nvSpPr>
        <p:spPr>
          <a:xfrm>
            <a:off x="1811328" y="3362217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F1C322F-E58F-74C3-8720-56EDB96F7C79}"/>
              </a:ext>
            </a:extLst>
          </p:cNvPr>
          <p:cNvSpPr/>
          <p:nvPr/>
        </p:nvSpPr>
        <p:spPr>
          <a:xfrm>
            <a:off x="5143500" y="3448283"/>
            <a:ext cx="952500" cy="21590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903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7AC2A-54C6-BA0C-322B-24EF9C15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194981-B30B-C3EA-69B7-CD8C44D1C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 – Nhận phản hồi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A4553E-09EC-D79B-669A-6AC0AA659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396" y="1466606"/>
            <a:ext cx="9165207" cy="3924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4576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23B7C-C8A4-1833-96CF-02965D092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A88EF09-C815-68BB-ADD6-46732509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Tạo câu hỏi trắc nghiệm (Tính năng thử nghiệm)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DAC962-3016-D6E0-8F5F-6C2448F74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7600" y="642946"/>
            <a:ext cx="7849695" cy="576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6263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3714A-37B5-A3C3-F695-3032CC238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9E6065-F807-F765-B75A-F98F0FCE0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643"/>
            <a:ext cx="10515600" cy="580806"/>
          </a:xfrm>
        </p:spPr>
        <p:txBody>
          <a:bodyPr>
            <a:normAutofit/>
          </a:bodyPr>
          <a:lstStyle/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 khỏi hệ thống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BC2247-3942-A877-08E4-555F8B7C4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709449"/>
            <a:ext cx="3019846" cy="17337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B1094F-0B8C-9BB9-3083-8C956F7B4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464" y="3485943"/>
            <a:ext cx="2200582" cy="18576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8E3C72-41B7-B347-C8BC-5410A1FDFA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7887" y="860614"/>
            <a:ext cx="7252138" cy="5250657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05306262-8DE5-2E96-DF07-AB5B28D47C37}"/>
              </a:ext>
            </a:extLst>
          </p:cNvPr>
          <p:cNvSpPr/>
          <p:nvPr/>
        </p:nvSpPr>
        <p:spPr>
          <a:xfrm rot="17565351">
            <a:off x="3032798" y="1370284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23B6C6-34E2-0CAD-79FA-6EA087861FE7}"/>
              </a:ext>
            </a:extLst>
          </p:cNvPr>
          <p:cNvSpPr txBox="1"/>
          <p:nvPr/>
        </p:nvSpPr>
        <p:spPr>
          <a:xfrm>
            <a:off x="2088425" y="1597495"/>
            <a:ext cx="1608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Click vào đây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4CF1B5B-AAC0-E76A-D61C-53B828173266}"/>
              </a:ext>
            </a:extLst>
          </p:cNvPr>
          <p:cNvSpPr/>
          <p:nvPr/>
        </p:nvSpPr>
        <p:spPr>
          <a:xfrm rot="17565351">
            <a:off x="2677405" y="4920045"/>
            <a:ext cx="430175" cy="20495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D262EE3-2C6D-71CD-00B0-DA7E64242420}"/>
              </a:ext>
            </a:extLst>
          </p:cNvPr>
          <p:cNvSpPr/>
          <p:nvPr/>
        </p:nvSpPr>
        <p:spPr>
          <a:xfrm>
            <a:off x="2714796" y="2717800"/>
            <a:ext cx="155404" cy="654257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99644513-A06B-4C91-5EB1-9A3479650DD8}"/>
              </a:ext>
            </a:extLst>
          </p:cNvPr>
          <p:cNvSpPr/>
          <p:nvPr/>
        </p:nvSpPr>
        <p:spPr>
          <a:xfrm>
            <a:off x="4019333" y="3898900"/>
            <a:ext cx="584200" cy="177800"/>
          </a:xfrm>
          <a:prstGeom prst="right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FA2045-4E16-7365-05BC-A2CB00264060}"/>
              </a:ext>
            </a:extLst>
          </p:cNvPr>
          <p:cNvSpPr/>
          <p:nvPr/>
        </p:nvSpPr>
        <p:spPr>
          <a:xfrm>
            <a:off x="3324325" y="801360"/>
            <a:ext cx="408192" cy="388033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490364-0D69-9DC1-4E6C-89B1B232BF2B}"/>
              </a:ext>
            </a:extLst>
          </p:cNvPr>
          <p:cNvSpPr txBox="1"/>
          <p:nvPr/>
        </p:nvSpPr>
        <p:spPr>
          <a:xfrm>
            <a:off x="7177229" y="6262436"/>
            <a:ext cx="23134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đăng nhập</a:t>
            </a:r>
          </a:p>
        </p:txBody>
      </p:sp>
    </p:spTree>
    <p:extLst>
      <p:ext uri="{BB962C8B-B14F-4D97-AF65-F5344CB8AC3E}">
        <p14:creationId xmlns:p14="http://schemas.microsoft.com/office/powerpoint/2010/main" val="30106436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D24BFD5-D814-402B-B6C4-EEF6AE14B0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03A2FD-3F54-6DE7-3EC3-329E0598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22362"/>
            <a:ext cx="6281928" cy="413543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i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6FED7E8-9A97-475F-9FA4-113410D443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06139" y="1031284"/>
            <a:ext cx="3647661" cy="4436126"/>
          </a:xfrm>
          <a:custGeom>
            <a:avLst/>
            <a:gdLst>
              <a:gd name="connsiteX0" fmla="*/ 0 w 3647661"/>
              <a:gd name="connsiteY0" fmla="*/ 0 h 4436126"/>
              <a:gd name="connsiteX1" fmla="*/ 498514 w 3647661"/>
              <a:gd name="connsiteY1" fmla="*/ 0 h 4436126"/>
              <a:gd name="connsiteX2" fmla="*/ 1069981 w 3647661"/>
              <a:gd name="connsiteY2" fmla="*/ 0 h 4436126"/>
              <a:gd name="connsiteX3" fmla="*/ 1714401 w 3647661"/>
              <a:gd name="connsiteY3" fmla="*/ 0 h 4436126"/>
              <a:gd name="connsiteX4" fmla="*/ 2285868 w 3647661"/>
              <a:gd name="connsiteY4" fmla="*/ 0 h 4436126"/>
              <a:gd name="connsiteX5" fmla="*/ 2784381 w 3647661"/>
              <a:gd name="connsiteY5" fmla="*/ 0 h 4436126"/>
              <a:gd name="connsiteX6" fmla="*/ 3647661 w 3647661"/>
              <a:gd name="connsiteY6" fmla="*/ 0 h 4436126"/>
              <a:gd name="connsiteX7" fmla="*/ 3647661 w 3647661"/>
              <a:gd name="connsiteY7" fmla="*/ 633732 h 4436126"/>
              <a:gd name="connsiteX8" fmla="*/ 3647661 w 3647661"/>
              <a:gd name="connsiteY8" fmla="*/ 1267465 h 4436126"/>
              <a:gd name="connsiteX9" fmla="*/ 3647661 w 3647661"/>
              <a:gd name="connsiteY9" fmla="*/ 1768113 h 4436126"/>
              <a:gd name="connsiteX10" fmla="*/ 3647661 w 3647661"/>
              <a:gd name="connsiteY10" fmla="*/ 2446207 h 4436126"/>
              <a:gd name="connsiteX11" fmla="*/ 3647661 w 3647661"/>
              <a:gd name="connsiteY11" fmla="*/ 2946855 h 4436126"/>
              <a:gd name="connsiteX12" fmla="*/ 3647661 w 3647661"/>
              <a:gd name="connsiteY12" fmla="*/ 3580587 h 4436126"/>
              <a:gd name="connsiteX13" fmla="*/ 3647661 w 3647661"/>
              <a:gd name="connsiteY13" fmla="*/ 4436126 h 4436126"/>
              <a:gd name="connsiteX14" fmla="*/ 3039718 w 3647661"/>
              <a:gd name="connsiteY14" fmla="*/ 4436126 h 4436126"/>
              <a:gd name="connsiteX15" fmla="*/ 2431774 w 3647661"/>
              <a:gd name="connsiteY15" fmla="*/ 4436126 h 4436126"/>
              <a:gd name="connsiteX16" fmla="*/ 1823831 w 3647661"/>
              <a:gd name="connsiteY16" fmla="*/ 4436126 h 4436126"/>
              <a:gd name="connsiteX17" fmla="*/ 1288840 w 3647661"/>
              <a:gd name="connsiteY17" fmla="*/ 4436126 h 4436126"/>
              <a:gd name="connsiteX18" fmla="*/ 607943 w 3647661"/>
              <a:gd name="connsiteY18" fmla="*/ 4436126 h 4436126"/>
              <a:gd name="connsiteX19" fmla="*/ 0 w 3647661"/>
              <a:gd name="connsiteY19" fmla="*/ 4436126 h 4436126"/>
              <a:gd name="connsiteX20" fmla="*/ 0 w 3647661"/>
              <a:gd name="connsiteY20" fmla="*/ 3758032 h 4436126"/>
              <a:gd name="connsiteX21" fmla="*/ 0 w 3647661"/>
              <a:gd name="connsiteY21" fmla="*/ 3035578 h 4436126"/>
              <a:gd name="connsiteX22" fmla="*/ 0 w 3647661"/>
              <a:gd name="connsiteY22" fmla="*/ 2401845 h 4436126"/>
              <a:gd name="connsiteX23" fmla="*/ 0 w 3647661"/>
              <a:gd name="connsiteY23" fmla="*/ 1768113 h 4436126"/>
              <a:gd name="connsiteX24" fmla="*/ 0 w 3647661"/>
              <a:gd name="connsiteY24" fmla="*/ 1178742 h 4436126"/>
              <a:gd name="connsiteX25" fmla="*/ 0 w 3647661"/>
              <a:gd name="connsiteY25" fmla="*/ 589371 h 4436126"/>
              <a:gd name="connsiteX26" fmla="*/ 0 w 3647661"/>
              <a:gd name="connsiteY26" fmla="*/ 0 h 4436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3647661" h="4436126" fill="none" extrusionOk="0">
                <a:moveTo>
                  <a:pt x="0" y="0"/>
                </a:moveTo>
                <a:cubicBezTo>
                  <a:pt x="116158" y="-16963"/>
                  <a:pt x="364681" y="-4006"/>
                  <a:pt x="498514" y="0"/>
                </a:cubicBezTo>
                <a:cubicBezTo>
                  <a:pt x="632347" y="4006"/>
                  <a:pt x="950865" y="15164"/>
                  <a:pt x="1069981" y="0"/>
                </a:cubicBezTo>
                <a:cubicBezTo>
                  <a:pt x="1189097" y="-15164"/>
                  <a:pt x="1556518" y="-23132"/>
                  <a:pt x="1714401" y="0"/>
                </a:cubicBezTo>
                <a:cubicBezTo>
                  <a:pt x="1872284" y="23132"/>
                  <a:pt x="2015985" y="9364"/>
                  <a:pt x="2285868" y="0"/>
                </a:cubicBezTo>
                <a:cubicBezTo>
                  <a:pt x="2555751" y="-9364"/>
                  <a:pt x="2555148" y="14141"/>
                  <a:pt x="2784381" y="0"/>
                </a:cubicBezTo>
                <a:cubicBezTo>
                  <a:pt x="3013614" y="-14141"/>
                  <a:pt x="3216105" y="-3763"/>
                  <a:pt x="3647661" y="0"/>
                </a:cubicBezTo>
                <a:cubicBezTo>
                  <a:pt x="3623206" y="221859"/>
                  <a:pt x="3622213" y="458853"/>
                  <a:pt x="3647661" y="633732"/>
                </a:cubicBezTo>
                <a:cubicBezTo>
                  <a:pt x="3673109" y="808611"/>
                  <a:pt x="3674779" y="1138417"/>
                  <a:pt x="3647661" y="1267465"/>
                </a:cubicBezTo>
                <a:cubicBezTo>
                  <a:pt x="3620543" y="1396513"/>
                  <a:pt x="3664792" y="1625185"/>
                  <a:pt x="3647661" y="1768113"/>
                </a:cubicBezTo>
                <a:cubicBezTo>
                  <a:pt x="3630530" y="1911041"/>
                  <a:pt x="3671056" y="2135008"/>
                  <a:pt x="3647661" y="2446207"/>
                </a:cubicBezTo>
                <a:cubicBezTo>
                  <a:pt x="3624266" y="2757406"/>
                  <a:pt x="3642702" y="2713342"/>
                  <a:pt x="3647661" y="2946855"/>
                </a:cubicBezTo>
                <a:cubicBezTo>
                  <a:pt x="3652620" y="3180368"/>
                  <a:pt x="3664319" y="3290221"/>
                  <a:pt x="3647661" y="3580587"/>
                </a:cubicBezTo>
                <a:cubicBezTo>
                  <a:pt x="3631003" y="3870953"/>
                  <a:pt x="3617531" y="4259425"/>
                  <a:pt x="3647661" y="4436126"/>
                </a:cubicBezTo>
                <a:cubicBezTo>
                  <a:pt x="3523929" y="4410412"/>
                  <a:pt x="3241413" y="4436068"/>
                  <a:pt x="3039718" y="4436126"/>
                </a:cubicBezTo>
                <a:cubicBezTo>
                  <a:pt x="2838023" y="4436184"/>
                  <a:pt x="2630387" y="4431142"/>
                  <a:pt x="2431774" y="4436126"/>
                </a:cubicBezTo>
                <a:cubicBezTo>
                  <a:pt x="2233161" y="4441110"/>
                  <a:pt x="2003296" y="4449826"/>
                  <a:pt x="1823831" y="4436126"/>
                </a:cubicBezTo>
                <a:cubicBezTo>
                  <a:pt x="1644366" y="4422426"/>
                  <a:pt x="1399453" y="4442442"/>
                  <a:pt x="1288840" y="4436126"/>
                </a:cubicBezTo>
                <a:cubicBezTo>
                  <a:pt x="1178227" y="4429810"/>
                  <a:pt x="793482" y="4411099"/>
                  <a:pt x="607943" y="4436126"/>
                </a:cubicBezTo>
                <a:cubicBezTo>
                  <a:pt x="422404" y="4461153"/>
                  <a:pt x="158703" y="4453091"/>
                  <a:pt x="0" y="4436126"/>
                </a:cubicBezTo>
                <a:cubicBezTo>
                  <a:pt x="8129" y="4099466"/>
                  <a:pt x="23502" y="4014012"/>
                  <a:pt x="0" y="3758032"/>
                </a:cubicBezTo>
                <a:cubicBezTo>
                  <a:pt x="-23502" y="3502052"/>
                  <a:pt x="8018" y="3295661"/>
                  <a:pt x="0" y="3035578"/>
                </a:cubicBezTo>
                <a:cubicBezTo>
                  <a:pt x="-8018" y="2775495"/>
                  <a:pt x="-8720" y="2595880"/>
                  <a:pt x="0" y="2401845"/>
                </a:cubicBezTo>
                <a:cubicBezTo>
                  <a:pt x="8720" y="2207810"/>
                  <a:pt x="9279" y="1982551"/>
                  <a:pt x="0" y="1768113"/>
                </a:cubicBezTo>
                <a:cubicBezTo>
                  <a:pt x="-9279" y="1553675"/>
                  <a:pt x="7090" y="1354447"/>
                  <a:pt x="0" y="1178742"/>
                </a:cubicBezTo>
                <a:cubicBezTo>
                  <a:pt x="-7090" y="1003037"/>
                  <a:pt x="-23786" y="768334"/>
                  <a:pt x="0" y="589371"/>
                </a:cubicBezTo>
                <a:cubicBezTo>
                  <a:pt x="23786" y="410408"/>
                  <a:pt x="-16955" y="242082"/>
                  <a:pt x="0" y="0"/>
                </a:cubicBezTo>
                <a:close/>
              </a:path>
              <a:path w="3647661" h="4436126" stroke="0" extrusionOk="0">
                <a:moveTo>
                  <a:pt x="0" y="0"/>
                </a:moveTo>
                <a:cubicBezTo>
                  <a:pt x="171149" y="-7244"/>
                  <a:pt x="374684" y="2591"/>
                  <a:pt x="534990" y="0"/>
                </a:cubicBezTo>
                <a:cubicBezTo>
                  <a:pt x="695296" y="-2591"/>
                  <a:pt x="907320" y="7483"/>
                  <a:pt x="1069981" y="0"/>
                </a:cubicBezTo>
                <a:cubicBezTo>
                  <a:pt x="1232642" y="-7483"/>
                  <a:pt x="1543604" y="-26203"/>
                  <a:pt x="1677924" y="0"/>
                </a:cubicBezTo>
                <a:cubicBezTo>
                  <a:pt x="1812244" y="26203"/>
                  <a:pt x="2140632" y="31361"/>
                  <a:pt x="2322344" y="0"/>
                </a:cubicBezTo>
                <a:cubicBezTo>
                  <a:pt x="2504056" y="-31361"/>
                  <a:pt x="2658834" y="3381"/>
                  <a:pt x="2893811" y="0"/>
                </a:cubicBezTo>
                <a:cubicBezTo>
                  <a:pt x="3128788" y="-3381"/>
                  <a:pt x="3338741" y="-10376"/>
                  <a:pt x="3647661" y="0"/>
                </a:cubicBezTo>
                <a:cubicBezTo>
                  <a:pt x="3628986" y="244498"/>
                  <a:pt x="3624774" y="362520"/>
                  <a:pt x="3647661" y="545010"/>
                </a:cubicBezTo>
                <a:cubicBezTo>
                  <a:pt x="3670549" y="727500"/>
                  <a:pt x="3619543" y="968439"/>
                  <a:pt x="3647661" y="1134381"/>
                </a:cubicBezTo>
                <a:cubicBezTo>
                  <a:pt x="3675779" y="1300323"/>
                  <a:pt x="3670065" y="1646297"/>
                  <a:pt x="3647661" y="1856836"/>
                </a:cubicBezTo>
                <a:cubicBezTo>
                  <a:pt x="3625257" y="2067375"/>
                  <a:pt x="3632904" y="2315399"/>
                  <a:pt x="3647661" y="2490568"/>
                </a:cubicBezTo>
                <a:cubicBezTo>
                  <a:pt x="3662418" y="2665737"/>
                  <a:pt x="3616073" y="2880164"/>
                  <a:pt x="3647661" y="3124300"/>
                </a:cubicBezTo>
                <a:cubicBezTo>
                  <a:pt x="3679249" y="3368436"/>
                  <a:pt x="3677361" y="3519722"/>
                  <a:pt x="3647661" y="3758032"/>
                </a:cubicBezTo>
                <a:cubicBezTo>
                  <a:pt x="3617961" y="3996342"/>
                  <a:pt x="3615180" y="4147465"/>
                  <a:pt x="3647661" y="4436126"/>
                </a:cubicBezTo>
                <a:cubicBezTo>
                  <a:pt x="3506685" y="4421969"/>
                  <a:pt x="3266652" y="4433618"/>
                  <a:pt x="3149147" y="4436126"/>
                </a:cubicBezTo>
                <a:cubicBezTo>
                  <a:pt x="3031642" y="4438634"/>
                  <a:pt x="2832267" y="4432536"/>
                  <a:pt x="2650634" y="4436126"/>
                </a:cubicBezTo>
                <a:cubicBezTo>
                  <a:pt x="2469001" y="4439716"/>
                  <a:pt x="2324677" y="4416284"/>
                  <a:pt x="2042690" y="4436126"/>
                </a:cubicBezTo>
                <a:cubicBezTo>
                  <a:pt x="1760703" y="4455968"/>
                  <a:pt x="1686949" y="4416099"/>
                  <a:pt x="1398270" y="4436126"/>
                </a:cubicBezTo>
                <a:cubicBezTo>
                  <a:pt x="1109591" y="4456153"/>
                  <a:pt x="1071585" y="4455485"/>
                  <a:pt x="899756" y="4436126"/>
                </a:cubicBezTo>
                <a:cubicBezTo>
                  <a:pt x="727927" y="4416767"/>
                  <a:pt x="344407" y="4430463"/>
                  <a:pt x="0" y="4436126"/>
                </a:cubicBezTo>
                <a:cubicBezTo>
                  <a:pt x="5440" y="4303018"/>
                  <a:pt x="91" y="4161914"/>
                  <a:pt x="0" y="3891116"/>
                </a:cubicBezTo>
                <a:cubicBezTo>
                  <a:pt x="-91" y="3620318"/>
                  <a:pt x="-11601" y="3462294"/>
                  <a:pt x="0" y="3301745"/>
                </a:cubicBezTo>
                <a:cubicBezTo>
                  <a:pt x="11601" y="3141196"/>
                  <a:pt x="22776" y="2916996"/>
                  <a:pt x="0" y="2756735"/>
                </a:cubicBezTo>
                <a:cubicBezTo>
                  <a:pt x="-22776" y="2596474"/>
                  <a:pt x="5257" y="2440491"/>
                  <a:pt x="0" y="2256087"/>
                </a:cubicBezTo>
                <a:cubicBezTo>
                  <a:pt x="-5257" y="2071683"/>
                  <a:pt x="20189" y="1902567"/>
                  <a:pt x="0" y="1666716"/>
                </a:cubicBezTo>
                <a:cubicBezTo>
                  <a:pt x="-20189" y="1430865"/>
                  <a:pt x="-21241" y="1161108"/>
                  <a:pt x="0" y="988622"/>
                </a:cubicBezTo>
                <a:cubicBezTo>
                  <a:pt x="21241" y="816136"/>
                  <a:pt x="17108" y="40674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5715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68728339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2A39B854-4B6C-4F7F-A602-6F97770CED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199" y="5439978"/>
            <a:ext cx="6281928" cy="18288"/>
          </a:xfrm>
          <a:custGeom>
            <a:avLst/>
            <a:gdLst>
              <a:gd name="connsiteX0" fmla="*/ 0 w 6281928"/>
              <a:gd name="connsiteY0" fmla="*/ 0 h 18288"/>
              <a:gd name="connsiteX1" fmla="*/ 572353 w 6281928"/>
              <a:gd name="connsiteY1" fmla="*/ 0 h 18288"/>
              <a:gd name="connsiteX2" fmla="*/ 1207526 w 6281928"/>
              <a:gd name="connsiteY2" fmla="*/ 0 h 18288"/>
              <a:gd name="connsiteX3" fmla="*/ 1779880 w 6281928"/>
              <a:gd name="connsiteY3" fmla="*/ 0 h 18288"/>
              <a:gd name="connsiteX4" fmla="*/ 2540691 w 6281928"/>
              <a:gd name="connsiteY4" fmla="*/ 0 h 18288"/>
              <a:gd name="connsiteX5" fmla="*/ 3238683 w 6281928"/>
              <a:gd name="connsiteY5" fmla="*/ 0 h 18288"/>
              <a:gd name="connsiteX6" fmla="*/ 3936675 w 6281928"/>
              <a:gd name="connsiteY6" fmla="*/ 0 h 18288"/>
              <a:gd name="connsiteX7" fmla="*/ 4760305 w 6281928"/>
              <a:gd name="connsiteY7" fmla="*/ 0 h 18288"/>
              <a:gd name="connsiteX8" fmla="*/ 5521117 w 6281928"/>
              <a:gd name="connsiteY8" fmla="*/ 0 h 18288"/>
              <a:gd name="connsiteX9" fmla="*/ 6281928 w 6281928"/>
              <a:gd name="connsiteY9" fmla="*/ 0 h 18288"/>
              <a:gd name="connsiteX10" fmla="*/ 6281928 w 6281928"/>
              <a:gd name="connsiteY10" fmla="*/ 18288 h 18288"/>
              <a:gd name="connsiteX11" fmla="*/ 5772394 w 6281928"/>
              <a:gd name="connsiteY11" fmla="*/ 18288 h 18288"/>
              <a:gd name="connsiteX12" fmla="*/ 5200040 w 6281928"/>
              <a:gd name="connsiteY12" fmla="*/ 18288 h 18288"/>
              <a:gd name="connsiteX13" fmla="*/ 4439229 w 6281928"/>
              <a:gd name="connsiteY13" fmla="*/ 18288 h 18288"/>
              <a:gd name="connsiteX14" fmla="*/ 3615599 w 6281928"/>
              <a:gd name="connsiteY14" fmla="*/ 18288 h 18288"/>
              <a:gd name="connsiteX15" fmla="*/ 2980426 w 6281928"/>
              <a:gd name="connsiteY15" fmla="*/ 18288 h 18288"/>
              <a:gd name="connsiteX16" fmla="*/ 2156795 w 6281928"/>
              <a:gd name="connsiteY16" fmla="*/ 18288 h 18288"/>
              <a:gd name="connsiteX17" fmla="*/ 1584442 w 6281928"/>
              <a:gd name="connsiteY17" fmla="*/ 18288 h 18288"/>
              <a:gd name="connsiteX18" fmla="*/ 1074908 w 6281928"/>
              <a:gd name="connsiteY18" fmla="*/ 18288 h 18288"/>
              <a:gd name="connsiteX19" fmla="*/ 0 w 6281928"/>
              <a:gd name="connsiteY19" fmla="*/ 18288 h 18288"/>
              <a:gd name="connsiteX20" fmla="*/ 0 w 6281928"/>
              <a:gd name="connsiteY2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281928" h="18288" fill="none" extrusionOk="0">
                <a:moveTo>
                  <a:pt x="0" y="0"/>
                </a:moveTo>
                <a:cubicBezTo>
                  <a:pt x="205960" y="24870"/>
                  <a:pt x="343550" y="5918"/>
                  <a:pt x="572353" y="0"/>
                </a:cubicBezTo>
                <a:cubicBezTo>
                  <a:pt x="801156" y="-5918"/>
                  <a:pt x="1015649" y="-11381"/>
                  <a:pt x="1207526" y="0"/>
                </a:cubicBezTo>
                <a:cubicBezTo>
                  <a:pt x="1399403" y="11381"/>
                  <a:pt x="1549725" y="7866"/>
                  <a:pt x="1779880" y="0"/>
                </a:cubicBezTo>
                <a:cubicBezTo>
                  <a:pt x="2010035" y="-7866"/>
                  <a:pt x="2190674" y="12826"/>
                  <a:pt x="2540691" y="0"/>
                </a:cubicBezTo>
                <a:cubicBezTo>
                  <a:pt x="2890708" y="-12826"/>
                  <a:pt x="3025718" y="-18534"/>
                  <a:pt x="3238683" y="0"/>
                </a:cubicBezTo>
                <a:cubicBezTo>
                  <a:pt x="3451648" y="18534"/>
                  <a:pt x="3603947" y="14884"/>
                  <a:pt x="3936675" y="0"/>
                </a:cubicBezTo>
                <a:cubicBezTo>
                  <a:pt x="4269403" y="-14884"/>
                  <a:pt x="4480718" y="-24607"/>
                  <a:pt x="4760305" y="0"/>
                </a:cubicBezTo>
                <a:cubicBezTo>
                  <a:pt x="5039892" y="24607"/>
                  <a:pt x="5359549" y="-31311"/>
                  <a:pt x="5521117" y="0"/>
                </a:cubicBezTo>
                <a:cubicBezTo>
                  <a:pt x="5682685" y="31311"/>
                  <a:pt x="5986067" y="-12593"/>
                  <a:pt x="6281928" y="0"/>
                </a:cubicBezTo>
                <a:cubicBezTo>
                  <a:pt x="6282307" y="7355"/>
                  <a:pt x="6282212" y="10249"/>
                  <a:pt x="6281928" y="18288"/>
                </a:cubicBezTo>
                <a:cubicBezTo>
                  <a:pt x="6078981" y="8428"/>
                  <a:pt x="5961061" y="2290"/>
                  <a:pt x="5772394" y="18288"/>
                </a:cubicBezTo>
                <a:cubicBezTo>
                  <a:pt x="5583727" y="34286"/>
                  <a:pt x="5329968" y="24208"/>
                  <a:pt x="5200040" y="18288"/>
                </a:cubicBezTo>
                <a:cubicBezTo>
                  <a:pt x="5070112" y="12368"/>
                  <a:pt x="4793288" y="21070"/>
                  <a:pt x="4439229" y="18288"/>
                </a:cubicBezTo>
                <a:cubicBezTo>
                  <a:pt x="4085170" y="15506"/>
                  <a:pt x="3813765" y="-16466"/>
                  <a:pt x="3615599" y="18288"/>
                </a:cubicBezTo>
                <a:cubicBezTo>
                  <a:pt x="3417433" y="53042"/>
                  <a:pt x="3133643" y="20727"/>
                  <a:pt x="2980426" y="18288"/>
                </a:cubicBezTo>
                <a:cubicBezTo>
                  <a:pt x="2827209" y="15849"/>
                  <a:pt x="2380685" y="51850"/>
                  <a:pt x="2156795" y="18288"/>
                </a:cubicBezTo>
                <a:cubicBezTo>
                  <a:pt x="1932905" y="-15274"/>
                  <a:pt x="1716744" y="-1398"/>
                  <a:pt x="1584442" y="18288"/>
                </a:cubicBezTo>
                <a:cubicBezTo>
                  <a:pt x="1452140" y="37974"/>
                  <a:pt x="1280887" y="12750"/>
                  <a:pt x="1074908" y="18288"/>
                </a:cubicBezTo>
                <a:cubicBezTo>
                  <a:pt x="868929" y="23826"/>
                  <a:pt x="318124" y="-17878"/>
                  <a:pt x="0" y="18288"/>
                </a:cubicBezTo>
                <a:cubicBezTo>
                  <a:pt x="-384" y="12702"/>
                  <a:pt x="-513" y="4636"/>
                  <a:pt x="0" y="0"/>
                </a:cubicBezTo>
                <a:close/>
              </a:path>
              <a:path w="6281928" h="18288" stroke="0" extrusionOk="0">
                <a:moveTo>
                  <a:pt x="0" y="0"/>
                </a:moveTo>
                <a:cubicBezTo>
                  <a:pt x="135290" y="27650"/>
                  <a:pt x="488372" y="4391"/>
                  <a:pt x="635173" y="0"/>
                </a:cubicBezTo>
                <a:cubicBezTo>
                  <a:pt x="781974" y="-4391"/>
                  <a:pt x="992816" y="14310"/>
                  <a:pt x="1144707" y="0"/>
                </a:cubicBezTo>
                <a:cubicBezTo>
                  <a:pt x="1296598" y="-14310"/>
                  <a:pt x="1796462" y="-1258"/>
                  <a:pt x="1968337" y="0"/>
                </a:cubicBezTo>
                <a:cubicBezTo>
                  <a:pt x="2140212" y="1258"/>
                  <a:pt x="2343376" y="-12852"/>
                  <a:pt x="2603510" y="0"/>
                </a:cubicBezTo>
                <a:cubicBezTo>
                  <a:pt x="2863644" y="12852"/>
                  <a:pt x="2935073" y="-10591"/>
                  <a:pt x="3238683" y="0"/>
                </a:cubicBezTo>
                <a:cubicBezTo>
                  <a:pt x="3542293" y="10591"/>
                  <a:pt x="3731676" y="3538"/>
                  <a:pt x="4062313" y="0"/>
                </a:cubicBezTo>
                <a:cubicBezTo>
                  <a:pt x="4392950" y="-3538"/>
                  <a:pt x="4440715" y="28126"/>
                  <a:pt x="4634667" y="0"/>
                </a:cubicBezTo>
                <a:cubicBezTo>
                  <a:pt x="4828619" y="-28126"/>
                  <a:pt x="5052661" y="8974"/>
                  <a:pt x="5458297" y="0"/>
                </a:cubicBezTo>
                <a:cubicBezTo>
                  <a:pt x="5863933" y="-8974"/>
                  <a:pt x="5906900" y="-24516"/>
                  <a:pt x="6281928" y="0"/>
                </a:cubicBezTo>
                <a:cubicBezTo>
                  <a:pt x="6282268" y="5688"/>
                  <a:pt x="6281759" y="13142"/>
                  <a:pt x="6281928" y="18288"/>
                </a:cubicBezTo>
                <a:cubicBezTo>
                  <a:pt x="6036108" y="15339"/>
                  <a:pt x="5743611" y="10415"/>
                  <a:pt x="5583936" y="18288"/>
                </a:cubicBezTo>
                <a:cubicBezTo>
                  <a:pt x="5424261" y="26161"/>
                  <a:pt x="5250533" y="-179"/>
                  <a:pt x="4948763" y="18288"/>
                </a:cubicBezTo>
                <a:cubicBezTo>
                  <a:pt x="4646993" y="36755"/>
                  <a:pt x="4354673" y="7565"/>
                  <a:pt x="4125133" y="18288"/>
                </a:cubicBezTo>
                <a:cubicBezTo>
                  <a:pt x="3895593" y="29012"/>
                  <a:pt x="3570246" y="29209"/>
                  <a:pt x="3301502" y="18288"/>
                </a:cubicBezTo>
                <a:cubicBezTo>
                  <a:pt x="3032758" y="7367"/>
                  <a:pt x="2955340" y="11905"/>
                  <a:pt x="2729149" y="18288"/>
                </a:cubicBezTo>
                <a:cubicBezTo>
                  <a:pt x="2502958" y="24671"/>
                  <a:pt x="2269423" y="3142"/>
                  <a:pt x="2031157" y="18288"/>
                </a:cubicBezTo>
                <a:cubicBezTo>
                  <a:pt x="1792891" y="33434"/>
                  <a:pt x="1484731" y="22122"/>
                  <a:pt x="1207526" y="18288"/>
                </a:cubicBezTo>
                <a:cubicBezTo>
                  <a:pt x="930321" y="14454"/>
                  <a:pt x="560231" y="-33402"/>
                  <a:pt x="0" y="18288"/>
                </a:cubicBezTo>
                <a:cubicBezTo>
                  <a:pt x="-478" y="10520"/>
                  <a:pt x="210" y="5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15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1480</TotalTime>
  <Words>2348</Words>
  <Application>Microsoft Office PowerPoint</Application>
  <PresentationFormat>Widescreen</PresentationFormat>
  <Paragraphs>397</Paragraphs>
  <Slides>46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Aptos</vt:lpstr>
      <vt:lpstr>Aptos Display</vt:lpstr>
      <vt:lpstr>Arial</vt:lpstr>
      <vt:lpstr>Times New Roman</vt:lpstr>
      <vt:lpstr>Office Theme</vt:lpstr>
      <vt:lpstr>HỆ THỐNG CHATBOT HỖ TRỢ HỌC LỊCH SỬ VIỆT NAM</vt:lpstr>
      <vt:lpstr>Nội dung trình bày</vt:lpstr>
      <vt:lpstr>PHẦN 1 CƠ SỞ LÝ THUYẾT</vt:lpstr>
      <vt:lpstr>Lược sử sự phát triển của NLP cho đến nay</vt:lpstr>
      <vt:lpstr>PowerPoint Presentation</vt:lpstr>
      <vt:lpstr>Hệ thống RAG</vt:lpstr>
      <vt:lpstr>PHẦN 2 PHƯƠNG PHÁP ĐỀ XUẤT</vt:lpstr>
      <vt:lpstr>Phương pháp đề xuất</vt:lpstr>
      <vt:lpstr>Phát biểu và phân tích bài toán</vt:lpstr>
      <vt:lpstr>Phương pháp đề xuất triển khai hệ thống</vt:lpstr>
      <vt:lpstr>Hệ thống RAG đề xuất</vt:lpstr>
      <vt:lpstr>Quy trình thu thập dữ liệu</vt:lpstr>
      <vt:lpstr>Số liệu về độ dài của tài liệu theo loại (đơn vị từ)</vt:lpstr>
      <vt:lpstr>Quy trình tiền xử lý dữ liệu</vt:lpstr>
      <vt:lpstr>Word Embedding</vt:lpstr>
      <vt:lpstr>Thông số của các mô hình embedding đề xuất</vt:lpstr>
      <vt:lpstr>Hiệu quả tokenization của các mô hình embedding đề xuất</vt:lpstr>
      <vt:lpstr>Hiệu quả embedding của các mô hình embedding đề xuất</vt:lpstr>
      <vt:lpstr>Thông số của các mô hình LLM đề xuất</vt:lpstr>
      <vt:lpstr>Kết quả benchmark của các LLM đề xuất</vt:lpstr>
      <vt:lpstr>PHẦN 3 TRIỂN KHAI CHỨC NĂNG HỆ THỐNG</vt:lpstr>
      <vt:lpstr>Triển khai các chức năng hệ thống</vt:lpstr>
      <vt:lpstr>Các chức năng hệ thống</vt:lpstr>
      <vt:lpstr>Triển khai chức năng chat text</vt:lpstr>
      <vt:lpstr>Triển khai chức năng chat realtime</vt:lpstr>
      <vt:lpstr>Triển khai chức năng chat realtime</vt:lpstr>
      <vt:lpstr>PowerPoint Presentation</vt:lpstr>
      <vt:lpstr>Triển khai chức năng cài đặt tùy chọn luồng chat</vt:lpstr>
      <vt:lpstr>Triển khai chức năng đánh giá phản hồi</vt:lpstr>
      <vt:lpstr>Triển khai chức năng khởi tạo luồng chat mới</vt:lpstr>
      <vt:lpstr>Triển khai các chức năng xác thực người dùng</vt:lpstr>
      <vt:lpstr>PHẦN 4 KẾT QUẢ TRIỂN KHAI</vt:lpstr>
      <vt:lpstr>Đăng nhập – Giao diện</vt:lpstr>
      <vt:lpstr>Giao diện người dùng khi đăng nhập thành công</vt:lpstr>
      <vt:lpstr>Trò chuyện văn bản – Nhập câu hỏi</vt:lpstr>
      <vt:lpstr>Trò chuyện văn bản – Hiển thị phản hồi</vt:lpstr>
      <vt:lpstr>Đánh giá phản hồi – Gửi hành vi đánh giá</vt:lpstr>
      <vt:lpstr>Đánh giá phản hồi – Đánh giá được cập nhật thành công</vt:lpstr>
      <vt:lpstr>Cài đặt tùy chọn luồng chat – Danh sách tùy chọn</vt:lpstr>
      <vt:lpstr>Trò chuyện văn bản với cài đặt tùy chọn mới</vt:lpstr>
      <vt:lpstr>Khởi tạo luồng chat mới</vt:lpstr>
      <vt:lpstr>Trò chuyện thời gian thực – Gửi câu hỏi</vt:lpstr>
      <vt:lpstr>Trò chuyện thời gian thực – Nhận phản hồi</vt:lpstr>
      <vt:lpstr>Tạo câu hỏi trắc nghiệm (Tính năng thử nghiệm)</vt:lpstr>
      <vt:lpstr>Đăng xuất khỏi hệ thống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trung lee vieet</dc:creator>
  <cp:lastModifiedBy>trung lee vieet</cp:lastModifiedBy>
  <cp:revision>61</cp:revision>
  <dcterms:created xsi:type="dcterms:W3CDTF">2025-06-09T12:09:11Z</dcterms:created>
  <dcterms:modified xsi:type="dcterms:W3CDTF">2025-06-13T14:17:18Z</dcterms:modified>
</cp:coreProperties>
</file>