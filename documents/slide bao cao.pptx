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74" r:id="rId3"/>
    <p:sldId id="258" r:id="rId4"/>
    <p:sldId id="259" r:id="rId5"/>
    <p:sldId id="261" r:id="rId6"/>
    <p:sldId id="275" r:id="rId7"/>
    <p:sldId id="263" r:id="rId8"/>
    <p:sldId id="262" r:id="rId9"/>
    <p:sldId id="267" r:id="rId10"/>
    <p:sldId id="276" r:id="rId11"/>
    <p:sldId id="264" r:id="rId12"/>
    <p:sldId id="265" r:id="rId13"/>
    <p:sldId id="266" r:id="rId14"/>
    <p:sldId id="260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5" d="100"/>
          <a:sy n="65" d="100"/>
        </p:scale>
        <p:origin x="9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B1C5C1-54CE-4892-A53C-9115FF4B63AE}" type="datetimeFigureOut">
              <a:rPr lang="en-US" smtClean="0"/>
              <a:t>6/9/2025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AE1F8-3712-49A6-BC7C-273E12ADC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9373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Lược sử phát triển NLP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7774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0228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Word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0603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D29AF-B355-D1E8-9B2D-B8269525B7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07E63C-8FF0-97E4-B4F0-33843DF8C2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9F2BF-AA70-F54C-B731-3D861AB98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5B464-2024-A8ED-9C7C-A41DA166F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9A9B8-1EFD-5192-7DEB-46777E765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6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4409B-8C38-1A8F-29F7-B3B18D129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F2842-D70F-50B1-4B1C-D1B015C01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316A48-E558-E35D-8FC6-00F7621CE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8BF35-E979-8F2E-1BDB-57BAF9AC6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28570-8D79-A971-B32C-4032154AA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918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318E3-A4FB-1672-078A-DBEFE342F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BA2838-D279-21C8-2B1E-036EC5DF0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E73C9-9CB4-A847-9FD2-AC9E2FAE7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44A77-FC0F-06FC-6A12-3276BCAE6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0003C-90A9-EA1C-D7ED-504494AC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760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ABA76-ED91-7EE0-7E8C-E9F29DAD0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285B7-563E-E1FD-3978-F25D88637E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37E7BB-0E71-5989-1231-F070DE9A84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133FCD-493A-7EE4-F542-189CC6704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CF390C-B99E-3CE7-631E-DBA1E2DED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B861D-E93F-EE54-EB47-C65B5B9CF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397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85041-915D-1B57-6585-E46D8F03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5897D1-315D-6F7F-6641-E07C60B26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2216A7-44AA-621D-CAF6-5D5C83B7A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825DA8-420D-BB30-4DE8-99CEB403CB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6C9977-D0CD-C314-F299-66D26BF6D2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B8C945-B118-A49B-4EFD-6F5BAA339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7DDD7F-0432-89CD-B540-D031806E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C6C9F-7DC5-80BB-B555-881A6BD2E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53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508FA-B87A-A158-7C30-0140BA3B9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709ABB-F651-41F9-52CA-A367A596B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10CD08-030F-CEE8-9986-E879A72D6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257DE-7934-DA4A-925E-3CA9B957C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84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0E45D9-8CEB-7175-77D2-FD2E956EB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EACD59-99D2-8B6B-F05D-120CD3031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8994E-693D-EA8A-B9B3-0BDEECB9F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250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153DD-120D-7FE1-8213-1F75220C0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1D198-FB63-C5FF-3B4D-BE5129CF2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FA32C8-5ED0-57AE-7B20-6A14B6940B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887C8D-98E3-450C-F2BE-D7C3A59DF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831C5-FC80-9F39-EC63-8FA36704A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A1AA8-A581-B978-BC1C-F2EEF05BA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088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AE862-AEF1-8A07-360B-04C521CCC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5F83F-A5F3-6969-1539-9B9CF2F325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F20172-6BD6-DAC4-947C-B7AC2905B2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EC2EAE-1317-1E3C-5167-BECD90244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372C58-D327-543A-6915-24726869B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434148-7F51-2855-5EFB-D9B60FF6F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40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0A707-8C7C-3DF2-50FA-D99B169D4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FAC39-5B78-9364-F32D-066FC405A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A63DED-A28B-E216-59C6-C6C67E9B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A498F-6E05-C40A-8CCF-FA4D8AF19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38E0B-6E2A-8566-2999-056785A50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624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DD25BC-7B38-FF50-F800-FA1833A84F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9EDB33-95B1-B4B7-D428-ED30E9C52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ABD337-9F18-3111-99FA-19369376F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95D57B-FB7A-723B-8362-E65B3F7D1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9E1B01-BE7F-FFCC-9094-7723BE49B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794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65575-5DF7-CE07-B27E-D0D694C4C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06DA5-2478-C139-C50B-F75C3F885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159DF3-996C-AAC9-862D-5DBE644FDE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66C343-037B-4BB6-A079-7472CF8881D5}" type="datetimeFigureOut">
              <a:rPr lang="en-US" smtClean="0"/>
              <a:t>6/9/2025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08EB3-0CA6-B077-D700-62B6406716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2DD6CA-B4DC-3EB9-5C97-BAFAFF693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879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1FDA4-4260-660A-25D4-B13E63AE6D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CE1A54-8D5F-A2BE-1887-6DEA87C9E7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71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6112A-65E9-4562-42DC-CB4F7F3EA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F6B3A-30D3-C8DC-D08E-C389923C86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Cơ sở lý thuyết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B1E782-08A6-0CE5-9172-45FBA2F3ED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857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3880489C-52F7-148C-C3B0-FD58332F9695}"/>
              </a:ext>
            </a:extLst>
          </p:cNvPr>
          <p:cNvSpPr/>
          <p:nvPr/>
        </p:nvSpPr>
        <p:spPr>
          <a:xfrm>
            <a:off x="639097" y="3274142"/>
            <a:ext cx="10913806" cy="309716"/>
          </a:xfrm>
          <a:prstGeom prst="right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AF77646-F02A-1A12-74F6-1F582274C5BE}"/>
              </a:ext>
            </a:extLst>
          </p:cNvPr>
          <p:cNvSpPr/>
          <p:nvPr/>
        </p:nvSpPr>
        <p:spPr>
          <a:xfrm>
            <a:off x="1275987" y="3270045"/>
            <a:ext cx="309716" cy="30971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27B7A9-9009-E676-2765-D30EEB891E4C}"/>
              </a:ext>
            </a:extLst>
          </p:cNvPr>
          <p:cNvCxnSpPr>
            <a:cxnSpLocks/>
            <a:stCxn id="6" idx="4"/>
          </p:cNvCxnSpPr>
          <p:nvPr/>
        </p:nvCxnSpPr>
        <p:spPr>
          <a:xfrm flipH="1">
            <a:off x="1425666" y="3579761"/>
            <a:ext cx="5179" cy="8611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05363A5-FAF7-3FE3-B3FC-191E041CB1DC}"/>
              </a:ext>
            </a:extLst>
          </p:cNvPr>
          <p:cNvSpPr txBox="1"/>
          <p:nvPr/>
        </p:nvSpPr>
        <p:spPr>
          <a:xfrm>
            <a:off x="723687" y="4445000"/>
            <a:ext cx="1232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/>
              <a:t>1950</a:t>
            </a:r>
          </a:p>
          <a:p>
            <a:pPr algn="ctr"/>
            <a:r>
              <a:rPr lang="en-US"/>
              <a:t>Turing Test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BFE5CDE-9343-52BE-D424-8C1279266566}"/>
              </a:ext>
            </a:extLst>
          </p:cNvPr>
          <p:cNvSpPr/>
          <p:nvPr/>
        </p:nvSpPr>
        <p:spPr>
          <a:xfrm>
            <a:off x="2428371" y="3270045"/>
            <a:ext cx="309716" cy="30971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79FF55B-AA15-DDF8-CCE0-5ACFAAA908C5}"/>
              </a:ext>
            </a:extLst>
          </p:cNvPr>
          <p:cNvCxnSpPr>
            <a:cxnSpLocks/>
          </p:cNvCxnSpPr>
          <p:nvPr/>
        </p:nvCxnSpPr>
        <p:spPr>
          <a:xfrm>
            <a:off x="2583229" y="2359742"/>
            <a:ext cx="0" cy="914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5D2D362F-FB80-B527-3FE3-4198CEA5A225}"/>
              </a:ext>
            </a:extLst>
          </p:cNvPr>
          <p:cNvSpPr/>
          <p:nvPr/>
        </p:nvSpPr>
        <p:spPr>
          <a:xfrm>
            <a:off x="3575576" y="3270045"/>
            <a:ext cx="309716" cy="30971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E1A0A8A-5CB6-A6E1-D4C7-C5E5952AA478}"/>
              </a:ext>
            </a:extLst>
          </p:cNvPr>
          <p:cNvCxnSpPr>
            <a:cxnSpLocks/>
            <a:stCxn id="28" idx="4"/>
          </p:cNvCxnSpPr>
          <p:nvPr/>
        </p:nvCxnSpPr>
        <p:spPr>
          <a:xfrm flipH="1">
            <a:off x="3725255" y="3579761"/>
            <a:ext cx="5179" cy="8611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7524CCD3-960C-76C1-3CDA-4615BD8DCCCE}"/>
              </a:ext>
            </a:extLst>
          </p:cNvPr>
          <p:cNvSpPr/>
          <p:nvPr/>
        </p:nvSpPr>
        <p:spPr>
          <a:xfrm>
            <a:off x="4727960" y="3270045"/>
            <a:ext cx="309716" cy="30971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E31BDC7-F229-9D78-58AB-F50D95100BED}"/>
              </a:ext>
            </a:extLst>
          </p:cNvPr>
          <p:cNvCxnSpPr>
            <a:cxnSpLocks/>
          </p:cNvCxnSpPr>
          <p:nvPr/>
        </p:nvCxnSpPr>
        <p:spPr>
          <a:xfrm flipH="1">
            <a:off x="4882819" y="2353597"/>
            <a:ext cx="5179" cy="914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4CB1A46B-81F4-273A-2223-EC5BB878D149}"/>
              </a:ext>
            </a:extLst>
          </p:cNvPr>
          <p:cNvSpPr/>
          <p:nvPr/>
        </p:nvSpPr>
        <p:spPr>
          <a:xfrm>
            <a:off x="5875165" y="3270045"/>
            <a:ext cx="309716" cy="30971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8477674-BE41-4CAB-0E97-8E4A09BF8CEA}"/>
              </a:ext>
            </a:extLst>
          </p:cNvPr>
          <p:cNvCxnSpPr>
            <a:cxnSpLocks/>
            <a:stCxn id="32" idx="4"/>
          </p:cNvCxnSpPr>
          <p:nvPr/>
        </p:nvCxnSpPr>
        <p:spPr>
          <a:xfrm flipH="1">
            <a:off x="6024844" y="3579761"/>
            <a:ext cx="5179" cy="8611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EA85BE0C-961E-EA3B-37AE-A47090A97B55}"/>
              </a:ext>
            </a:extLst>
          </p:cNvPr>
          <p:cNvSpPr/>
          <p:nvPr/>
        </p:nvSpPr>
        <p:spPr>
          <a:xfrm>
            <a:off x="7027549" y="3270045"/>
            <a:ext cx="309716" cy="30971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7D26A5C-221C-5952-A7CC-DAF0CC1F5314}"/>
              </a:ext>
            </a:extLst>
          </p:cNvPr>
          <p:cNvCxnSpPr>
            <a:cxnSpLocks/>
          </p:cNvCxnSpPr>
          <p:nvPr/>
        </p:nvCxnSpPr>
        <p:spPr>
          <a:xfrm>
            <a:off x="7182407" y="2351548"/>
            <a:ext cx="0" cy="914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331FBDF8-BF17-2FF1-E2DB-C246080EC5D0}"/>
              </a:ext>
            </a:extLst>
          </p:cNvPr>
          <p:cNvSpPr/>
          <p:nvPr/>
        </p:nvSpPr>
        <p:spPr>
          <a:xfrm>
            <a:off x="8174754" y="3270045"/>
            <a:ext cx="309716" cy="30971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D86C0EB-7756-32AD-5C1D-20EBDBF64562}"/>
              </a:ext>
            </a:extLst>
          </p:cNvPr>
          <p:cNvCxnSpPr>
            <a:cxnSpLocks/>
            <a:stCxn id="36" idx="4"/>
          </p:cNvCxnSpPr>
          <p:nvPr/>
        </p:nvCxnSpPr>
        <p:spPr>
          <a:xfrm flipH="1">
            <a:off x="8324433" y="3579761"/>
            <a:ext cx="5179" cy="8611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104435A5-BDA0-9A4D-1E9E-A33E12FA5ED6}"/>
              </a:ext>
            </a:extLst>
          </p:cNvPr>
          <p:cNvSpPr/>
          <p:nvPr/>
        </p:nvSpPr>
        <p:spPr>
          <a:xfrm>
            <a:off x="9327138" y="3270045"/>
            <a:ext cx="309716" cy="30971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4211C5F-D4E1-BFA8-ED38-8CBE6370B4FD}"/>
              </a:ext>
            </a:extLst>
          </p:cNvPr>
          <p:cNvCxnSpPr>
            <a:cxnSpLocks/>
          </p:cNvCxnSpPr>
          <p:nvPr/>
        </p:nvCxnSpPr>
        <p:spPr>
          <a:xfrm flipH="1">
            <a:off x="9481996" y="2351548"/>
            <a:ext cx="0" cy="914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6CDB75E-4479-1C83-7C10-731CF8ECF3B0}"/>
              </a:ext>
            </a:extLst>
          </p:cNvPr>
          <p:cNvSpPr txBox="1"/>
          <p:nvPr/>
        </p:nvSpPr>
        <p:spPr>
          <a:xfrm>
            <a:off x="1812024" y="1151219"/>
            <a:ext cx="154240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/>
              <a:t>1954</a:t>
            </a:r>
          </a:p>
          <a:p>
            <a:pPr algn="ctr"/>
            <a:r>
              <a:rPr lang="en-US"/>
              <a:t>Hệ thống NLP</a:t>
            </a:r>
          </a:p>
          <a:p>
            <a:pPr algn="ctr"/>
            <a:r>
              <a:rPr lang="en-US"/>
              <a:t>sử dụng AI</a:t>
            </a:r>
          </a:p>
          <a:p>
            <a:pPr algn="ctr"/>
            <a:r>
              <a:rPr lang="en-US"/>
              <a:t>đầu tiên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42AA5A2-807B-7A5F-4975-F3D1D774F07F}"/>
              </a:ext>
            </a:extLst>
          </p:cNvPr>
          <p:cNvSpPr txBox="1"/>
          <p:nvPr/>
        </p:nvSpPr>
        <p:spPr>
          <a:xfrm>
            <a:off x="2842828" y="4440903"/>
            <a:ext cx="177003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/>
              <a:t>1990</a:t>
            </a:r>
          </a:p>
          <a:p>
            <a:pPr algn="ctr"/>
            <a:r>
              <a:rPr lang="en-US"/>
              <a:t>Sự khởi đầu của</a:t>
            </a:r>
          </a:p>
          <a:p>
            <a:pPr algn="ctr"/>
            <a:r>
              <a:rPr lang="en-US"/>
              <a:t>NLP với ML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5D0DC0D-61E9-0C5B-6C24-32B161B0597B}"/>
              </a:ext>
            </a:extLst>
          </p:cNvPr>
          <p:cNvSpPr txBox="1"/>
          <p:nvPr/>
        </p:nvSpPr>
        <p:spPr>
          <a:xfrm>
            <a:off x="4258512" y="1696845"/>
            <a:ext cx="12486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/>
              <a:t>1990s</a:t>
            </a:r>
          </a:p>
          <a:p>
            <a:pPr algn="ctr"/>
            <a:r>
              <a:rPr lang="en-US"/>
              <a:t>ANN ra đời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3F0034D-3EEB-1282-EC4E-BBE91016FEC0}"/>
              </a:ext>
            </a:extLst>
          </p:cNvPr>
          <p:cNvSpPr txBox="1"/>
          <p:nvPr/>
        </p:nvSpPr>
        <p:spPr>
          <a:xfrm>
            <a:off x="4941055" y="4440903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/>
              <a:t>1990s</a:t>
            </a:r>
          </a:p>
          <a:p>
            <a:pPr algn="ctr"/>
            <a:r>
              <a:rPr lang="en-US"/>
              <a:t>RNN được giới thiệu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1A896BF-99A1-C230-0A35-B24A78C51167}"/>
              </a:ext>
            </a:extLst>
          </p:cNvPr>
          <p:cNvSpPr txBox="1"/>
          <p:nvPr/>
        </p:nvSpPr>
        <p:spPr>
          <a:xfrm>
            <a:off x="7579139" y="4440903"/>
            <a:ext cx="150073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>
                <a:solidFill>
                  <a:srgbClr val="FF0000"/>
                </a:solidFill>
              </a:rPr>
              <a:t>2013</a:t>
            </a:r>
          </a:p>
          <a:p>
            <a:pPr algn="ctr"/>
            <a:r>
              <a:rPr lang="en-US">
                <a:solidFill>
                  <a:srgbClr val="FF0000"/>
                </a:solidFill>
              </a:rPr>
              <a:t>Bước tiến lớn</a:t>
            </a:r>
          </a:p>
          <a:p>
            <a:pPr algn="ctr"/>
            <a:r>
              <a:rPr lang="en-US">
                <a:solidFill>
                  <a:srgbClr val="FF0000"/>
                </a:solidFill>
              </a:rPr>
              <a:t>với DL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FD8DEF4-C432-0133-FD3E-1E210A590AC8}"/>
              </a:ext>
            </a:extLst>
          </p:cNvPr>
          <p:cNvSpPr txBox="1"/>
          <p:nvPr/>
        </p:nvSpPr>
        <p:spPr>
          <a:xfrm>
            <a:off x="6347563" y="1696846"/>
            <a:ext cx="16696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/>
              <a:t>1997</a:t>
            </a:r>
          </a:p>
          <a:p>
            <a:pPr algn="ctr"/>
            <a:r>
              <a:rPr lang="en-US"/>
              <a:t>LSTM xuất hiện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61525B6-43AB-2488-D415-7DBCC162E2B5}"/>
              </a:ext>
            </a:extLst>
          </p:cNvPr>
          <p:cNvSpPr txBox="1"/>
          <p:nvPr/>
        </p:nvSpPr>
        <p:spPr>
          <a:xfrm>
            <a:off x="8767377" y="1696844"/>
            <a:ext cx="14292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/>
              <a:t>2017</a:t>
            </a:r>
          </a:p>
          <a:p>
            <a:pPr algn="ctr"/>
            <a:r>
              <a:rPr lang="en-US"/>
              <a:t>Transformer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3B8F907F-9F48-7850-75D9-9E3E25598592}"/>
              </a:ext>
            </a:extLst>
          </p:cNvPr>
          <p:cNvSpPr/>
          <p:nvPr/>
        </p:nvSpPr>
        <p:spPr>
          <a:xfrm>
            <a:off x="10563196" y="3270045"/>
            <a:ext cx="309716" cy="30971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241080D-C8F7-6C8A-A441-2DD97BAE0E3B}"/>
              </a:ext>
            </a:extLst>
          </p:cNvPr>
          <p:cNvCxnSpPr>
            <a:cxnSpLocks/>
            <a:stCxn id="55" idx="4"/>
          </p:cNvCxnSpPr>
          <p:nvPr/>
        </p:nvCxnSpPr>
        <p:spPr>
          <a:xfrm flipH="1">
            <a:off x="10712875" y="3579761"/>
            <a:ext cx="5179" cy="8611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3C3234DD-9F4A-6546-003F-833B4D225C8C}"/>
              </a:ext>
            </a:extLst>
          </p:cNvPr>
          <p:cNvSpPr txBox="1"/>
          <p:nvPr/>
        </p:nvSpPr>
        <p:spPr>
          <a:xfrm>
            <a:off x="10070175" y="4440903"/>
            <a:ext cx="129554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/>
              <a:t>2018</a:t>
            </a:r>
          </a:p>
          <a:p>
            <a:pPr algn="ctr"/>
            <a:r>
              <a:rPr lang="en-US"/>
              <a:t>Sự bùng nổ</a:t>
            </a:r>
          </a:p>
          <a:p>
            <a:pPr algn="ctr"/>
            <a:r>
              <a:rPr lang="en-US"/>
              <a:t>của LLM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6780209-95F1-556A-DA0B-1CC10C2F1ABB}"/>
              </a:ext>
            </a:extLst>
          </p:cNvPr>
          <p:cNvSpPr txBox="1"/>
          <p:nvPr/>
        </p:nvSpPr>
        <p:spPr>
          <a:xfrm>
            <a:off x="639097" y="323850"/>
            <a:ext cx="898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Tiêu đề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A102633-26E8-1DC7-0E27-81B6C268AEBD}"/>
              </a:ext>
            </a:extLst>
          </p:cNvPr>
          <p:cNvSpPr txBox="1"/>
          <p:nvPr/>
        </p:nvSpPr>
        <p:spPr>
          <a:xfrm>
            <a:off x="1585703" y="6038850"/>
            <a:ext cx="6717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Vào khi nào thì cái gì ra đời, để làm gì, có hạn chế gì -&gt; cái tiếp theo</a:t>
            </a:r>
          </a:p>
        </p:txBody>
      </p:sp>
    </p:spTree>
    <p:extLst>
      <p:ext uri="{BB962C8B-B14F-4D97-AF65-F5344CB8AC3E}">
        <p14:creationId xmlns:p14="http://schemas.microsoft.com/office/powerpoint/2010/main" val="20622461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E5978E3-F900-CA23-529B-59D726ADBC9B}"/>
              </a:ext>
            </a:extLst>
          </p:cNvPr>
          <p:cNvSpPr txBox="1"/>
          <p:nvPr/>
        </p:nvSpPr>
        <p:spPr>
          <a:xfrm>
            <a:off x="9886950" y="1485900"/>
            <a:ext cx="1151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Chú thích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84A2BE-AB3E-3655-E630-8375B72F27EC}"/>
              </a:ext>
            </a:extLst>
          </p:cNvPr>
          <p:cNvSpPr txBox="1"/>
          <p:nvPr/>
        </p:nvSpPr>
        <p:spPr>
          <a:xfrm>
            <a:off x="666750" y="1855232"/>
            <a:ext cx="10834569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LLM là gì?</a:t>
            </a:r>
          </a:p>
          <a:p>
            <a:pPr marL="285750" indent="-285750">
              <a:buFontTx/>
              <a:buChar char="-"/>
            </a:pPr>
            <a:r>
              <a:rPr lang="en-US"/>
              <a:t>Tại sao lại gọi là LLM</a:t>
            </a:r>
          </a:p>
          <a:p>
            <a:pPr marL="285750" indent="-285750">
              <a:buFontTx/>
              <a:buChar char="-"/>
            </a:pPr>
            <a:r>
              <a:rPr lang="en-US"/>
              <a:t>Dựa trên nguyên lý? (xây dựng dựa trên transformer làm mô hình cơ sở, tuy nhiên thì có chút biến đổi)</a:t>
            </a:r>
          </a:p>
          <a:p>
            <a:pPr marL="285750" indent="-285750">
              <a:buFontTx/>
              <a:buChar char="-"/>
            </a:pPr>
            <a:r>
              <a:rPr lang="en-US"/>
              <a:t>Nó có thể làm gì? (sinh văn bản, xử lý âm thanh, video…)</a:t>
            </a:r>
          </a:p>
          <a:p>
            <a:pPr marL="285750" indent="-285750">
              <a:buFontTx/>
              <a:buChar char="-"/>
            </a:pPr>
            <a:r>
              <a:rPr lang="en-US"/>
              <a:t>Kể ra một vài thông số (LLM có thể lên tới hang tỉ tham số, chi phí huấn luyện khổng lồ, kiến trúc phức tạp)</a:t>
            </a:r>
          </a:p>
          <a:p>
            <a:pPr marL="285750" indent="-285750">
              <a:buFontTx/>
              <a:buChar char="-"/>
            </a:pPr>
            <a:r>
              <a:rPr lang="en-US"/>
              <a:t>chèn hình LLM</a:t>
            </a:r>
          </a:p>
        </p:txBody>
      </p:sp>
    </p:spTree>
    <p:extLst>
      <p:ext uri="{BB962C8B-B14F-4D97-AF65-F5344CB8AC3E}">
        <p14:creationId xmlns:p14="http://schemas.microsoft.com/office/powerpoint/2010/main" val="29812616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94C927-510B-47DE-D634-D22B44D4AA2E}"/>
              </a:ext>
            </a:extLst>
          </p:cNvPr>
          <p:cNvSpPr txBox="1"/>
          <p:nvPr/>
        </p:nvSpPr>
        <p:spPr>
          <a:xfrm>
            <a:off x="823338" y="1951672"/>
            <a:ext cx="1054532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Hệ thống RAG là gì?</a:t>
            </a:r>
          </a:p>
          <a:p>
            <a:pPr marL="285750" indent="-285750">
              <a:buFontTx/>
              <a:buChar char="-"/>
            </a:pPr>
            <a:r>
              <a:rPr lang="en-US"/>
              <a:t>Tác dụng?</a:t>
            </a:r>
          </a:p>
          <a:p>
            <a:pPr marL="285750" indent="-285750">
              <a:buFontTx/>
              <a:buChar char="-"/>
            </a:pPr>
            <a:r>
              <a:rPr lang="en-US"/>
              <a:t>LLM được sử dụng trong hệ thống rag như thế nào?</a:t>
            </a:r>
          </a:p>
          <a:p>
            <a:pPr marL="285750" indent="-285750">
              <a:buFontTx/>
              <a:buChar char="-"/>
            </a:pPr>
            <a:r>
              <a:rPr lang="en-US"/>
              <a:t>Sử dụng LLM và hệ thống rag để xây dựng chatbot hõ trợ học lịch sử việt nam</a:t>
            </a:r>
          </a:p>
          <a:p>
            <a:pPr marL="285750" indent="-285750">
              <a:buFontTx/>
              <a:buChar char="-"/>
            </a:pPr>
            <a:r>
              <a:rPr lang="en-US"/>
              <a:t> (tại sao 2 cái đó lại có thể sử dụng để xây dung chatbot? Lợi tích so với các phương pháp truyền thống)</a:t>
            </a:r>
          </a:p>
        </p:txBody>
      </p:sp>
    </p:spTree>
    <p:extLst>
      <p:ext uri="{BB962C8B-B14F-4D97-AF65-F5344CB8AC3E}">
        <p14:creationId xmlns:p14="http://schemas.microsoft.com/office/powerpoint/2010/main" val="20711356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C277F-9E35-80E7-BAF3-F5561C1C1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26550-92BF-050F-8E50-6EDE860C60A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Phương pháp đề xuất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C84A6B-D148-9944-CF6F-D320F62BC3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589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8C0A4-F40D-E95E-AA3C-784AF0AC4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1D66FF-4304-786C-2EEE-636842DCC49C}"/>
              </a:ext>
            </a:extLst>
          </p:cNvPr>
          <p:cNvSpPr txBox="1"/>
          <p:nvPr/>
        </p:nvSpPr>
        <p:spPr>
          <a:xfrm>
            <a:off x="823338" y="1951672"/>
            <a:ext cx="357982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Phát biểu và phân tích bài toán:</a:t>
            </a:r>
          </a:p>
          <a:p>
            <a:pPr marL="285750" indent="-285750">
              <a:buFontTx/>
              <a:buChar char="-"/>
            </a:pPr>
            <a:r>
              <a:rPr lang="en-US"/>
              <a:t>Yêu cầu của bài toán là gì?</a:t>
            </a:r>
          </a:p>
          <a:p>
            <a:pPr marL="285750" indent="-285750">
              <a:buFontTx/>
              <a:buChar char="-"/>
            </a:pPr>
            <a:r>
              <a:rPr lang="en-US"/>
              <a:t>Tính cấp thiết của bài toán</a:t>
            </a:r>
          </a:p>
          <a:p>
            <a:pPr marL="285750" indent="-285750">
              <a:buFontTx/>
              <a:buChar char="-"/>
            </a:pPr>
            <a:r>
              <a:rPr lang="en-US"/>
              <a:t>Phân tích bài toán</a:t>
            </a:r>
          </a:p>
        </p:txBody>
      </p:sp>
    </p:spTree>
    <p:extLst>
      <p:ext uri="{BB962C8B-B14F-4D97-AF65-F5344CB8AC3E}">
        <p14:creationId xmlns:p14="http://schemas.microsoft.com/office/powerpoint/2010/main" val="1686415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B900F-05B7-08CC-5194-A989A3B88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E28C3E0-7451-F051-7635-94E578292DF8}"/>
              </a:ext>
            </a:extLst>
          </p:cNvPr>
          <p:cNvSpPr txBox="1"/>
          <p:nvPr/>
        </p:nvSpPr>
        <p:spPr>
          <a:xfrm>
            <a:off x="2571750" y="2667000"/>
            <a:ext cx="521033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Phương pháp đề xuất</a:t>
            </a:r>
          </a:p>
          <a:p>
            <a:pPr marL="285750" indent="-285750">
              <a:buFontTx/>
              <a:buChar char="-"/>
            </a:pPr>
            <a:r>
              <a:rPr lang="en-US"/>
              <a:t>Chèn hình, miêu tả chi tiết phương pháp đề xuất</a:t>
            </a:r>
          </a:p>
          <a:p>
            <a:pPr marL="285750" indent="-285750">
              <a:buFontTx/>
              <a:buChar char="-"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436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FB8E2-BAB1-3C88-F437-BD763C4B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E17E17-E980-B51F-713B-33484F322492}"/>
              </a:ext>
            </a:extLst>
          </p:cNvPr>
          <p:cNvSpPr txBox="1"/>
          <p:nvPr/>
        </p:nvSpPr>
        <p:spPr>
          <a:xfrm>
            <a:off x="2571750" y="2667000"/>
            <a:ext cx="24976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Hệ thống rag đề xuất</a:t>
            </a:r>
          </a:p>
        </p:txBody>
      </p:sp>
    </p:spTree>
    <p:extLst>
      <p:ext uri="{BB962C8B-B14F-4D97-AF65-F5344CB8AC3E}">
        <p14:creationId xmlns:p14="http://schemas.microsoft.com/office/powerpoint/2010/main" val="1369817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79B94-56B6-9D10-6406-8F239DFDC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86B3D-A879-BF4E-B1BF-066A56A447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Thu thập – tiền xử lý và embedding dữ liệu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944A8A-AE30-7F44-9ACD-471C50672F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9471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F7152-6CF2-FC53-F528-903F138F9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9FD35E-AD92-3EF5-13C8-5B290E78C311}"/>
              </a:ext>
            </a:extLst>
          </p:cNvPr>
          <p:cNvSpPr txBox="1"/>
          <p:nvPr/>
        </p:nvSpPr>
        <p:spPr>
          <a:xfrm>
            <a:off x="2571750" y="2667000"/>
            <a:ext cx="30318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Thu thập và tiền xử lý data</a:t>
            </a:r>
          </a:p>
          <a:p>
            <a:pPr marL="285750" indent="-285750">
              <a:buFontTx/>
              <a:buChar char="-"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0147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480E0-20A5-CDB9-3B05-52665562A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F25F04-C544-BBE6-D80B-1BFD95A86C57}"/>
              </a:ext>
            </a:extLst>
          </p:cNvPr>
          <p:cNvSpPr txBox="1"/>
          <p:nvPr/>
        </p:nvSpPr>
        <p:spPr>
          <a:xfrm>
            <a:off x="2571750" y="2667000"/>
            <a:ext cx="578369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embedding data:</a:t>
            </a:r>
          </a:p>
          <a:p>
            <a:pPr marL="285750" indent="-285750">
              <a:buFontTx/>
              <a:buChar char="-"/>
            </a:pPr>
            <a:r>
              <a:rPr lang="en-US"/>
              <a:t>giới thiệu word embedding là gì?</a:t>
            </a:r>
          </a:p>
          <a:p>
            <a:pPr marL="285750" indent="-285750">
              <a:buFontTx/>
              <a:buChar char="-"/>
            </a:pPr>
            <a:r>
              <a:rPr lang="en-US"/>
              <a:t>Tại sao, Lợi tích</a:t>
            </a:r>
          </a:p>
          <a:p>
            <a:pPr marL="285750" indent="-285750">
              <a:buFontTx/>
              <a:buChar char="-"/>
            </a:pPr>
            <a:endParaRPr lang="en-US"/>
          </a:p>
          <a:p>
            <a:r>
              <a:rPr lang="en-US"/>
              <a:t>các mô hình embedding đề xuất:</a:t>
            </a:r>
          </a:p>
          <a:p>
            <a:pPr marL="285750" indent="-285750">
              <a:buFontTx/>
              <a:buChar char="-"/>
            </a:pPr>
            <a:r>
              <a:rPr lang="en-US"/>
              <a:t>liệt kê các mô hình + kèm thông số</a:t>
            </a:r>
          </a:p>
          <a:p>
            <a:pPr marL="285750" indent="-285750">
              <a:buFontTx/>
              <a:buChar char="-"/>
            </a:pPr>
            <a:r>
              <a:rPr lang="en-US"/>
              <a:t>Đánh giá hiệu quả tokenization của model embedding</a:t>
            </a:r>
          </a:p>
          <a:p>
            <a:pPr marL="285750" indent="-285750">
              <a:buFontTx/>
              <a:buChar char="-"/>
            </a:pPr>
            <a:r>
              <a:rPr lang="en-US"/>
              <a:t>Đánh giá hiệu quả embedding data</a:t>
            </a:r>
          </a:p>
        </p:txBody>
      </p:sp>
    </p:spTree>
    <p:extLst>
      <p:ext uri="{BB962C8B-B14F-4D97-AF65-F5344CB8AC3E}">
        <p14:creationId xmlns:p14="http://schemas.microsoft.com/office/powerpoint/2010/main" val="2125420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204C1-5F08-5680-957D-395D6D1D7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4BCB41-73FC-CD7C-9D26-CEE00D05CB5B}"/>
              </a:ext>
            </a:extLst>
          </p:cNvPr>
          <p:cNvSpPr txBox="1"/>
          <p:nvPr/>
        </p:nvSpPr>
        <p:spPr>
          <a:xfrm>
            <a:off x="2571750" y="2667000"/>
            <a:ext cx="578369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embedding data:</a:t>
            </a:r>
          </a:p>
          <a:p>
            <a:pPr marL="285750" indent="-285750">
              <a:buFontTx/>
              <a:buChar char="-"/>
            </a:pPr>
            <a:r>
              <a:rPr lang="en-US"/>
              <a:t>giới thiệu word embedding là gì?</a:t>
            </a:r>
          </a:p>
          <a:p>
            <a:pPr marL="285750" indent="-285750">
              <a:buFontTx/>
              <a:buChar char="-"/>
            </a:pPr>
            <a:r>
              <a:rPr lang="en-US"/>
              <a:t>Tại sao, Lợi tích</a:t>
            </a:r>
          </a:p>
          <a:p>
            <a:pPr marL="285750" indent="-285750">
              <a:buFontTx/>
              <a:buChar char="-"/>
            </a:pPr>
            <a:endParaRPr lang="en-US"/>
          </a:p>
          <a:p>
            <a:r>
              <a:rPr lang="en-US"/>
              <a:t>các mô hình embedding đề xuất:</a:t>
            </a:r>
          </a:p>
          <a:p>
            <a:pPr marL="285750" indent="-285750">
              <a:buFontTx/>
              <a:buChar char="-"/>
            </a:pPr>
            <a:r>
              <a:rPr lang="en-US"/>
              <a:t>liệt kê các mô hình + kèm thông số</a:t>
            </a:r>
          </a:p>
          <a:p>
            <a:pPr marL="285750" indent="-285750">
              <a:buFontTx/>
              <a:buChar char="-"/>
            </a:pPr>
            <a:r>
              <a:rPr lang="en-US"/>
              <a:t>Đánh giá hiệu quả tokenization của model embedding</a:t>
            </a:r>
          </a:p>
          <a:p>
            <a:pPr marL="285750" indent="-285750">
              <a:buFontTx/>
              <a:buChar char="-"/>
            </a:pPr>
            <a:r>
              <a:rPr lang="en-US"/>
              <a:t>Đánh giá hiệu quả embedding data</a:t>
            </a:r>
          </a:p>
        </p:txBody>
      </p:sp>
    </p:spTree>
    <p:extLst>
      <p:ext uri="{BB962C8B-B14F-4D97-AF65-F5344CB8AC3E}">
        <p14:creationId xmlns:p14="http://schemas.microsoft.com/office/powerpoint/2010/main" val="6617416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words and numbers&#10;&#10;AI-generated content may be incorrect.">
            <a:extLst>
              <a:ext uri="{FF2B5EF4-FFF2-40B4-BE49-F238E27FC236}">
                <a16:creationId xmlns:a16="http://schemas.microsoft.com/office/drawing/2014/main" id="{7D5E91D7-3243-CAC9-5D2F-3343213CA0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562"/>
          <a:stretch>
            <a:fillRect/>
          </a:stretch>
        </p:blipFill>
        <p:spPr>
          <a:xfrm>
            <a:off x="0" y="19187"/>
            <a:ext cx="7124700" cy="68196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3314DB7-69A9-F154-A588-F0AE61A9D761}"/>
              </a:ext>
            </a:extLst>
          </p:cNvPr>
          <p:cNvSpPr txBox="1"/>
          <p:nvPr/>
        </p:nvSpPr>
        <p:spPr>
          <a:xfrm>
            <a:off x="8020050" y="1200150"/>
            <a:ext cx="37640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We là gì? Ánh xạ từ word sang vector</a:t>
            </a:r>
          </a:p>
          <a:p>
            <a:r>
              <a:rPr lang="en-US"/>
              <a:t>Trong đó mỗi chiều là 1 thuộc tính…</a:t>
            </a:r>
          </a:p>
          <a:p>
            <a:r>
              <a:rPr lang="en-US"/>
              <a:t>Ví dụ như trong hình…</a:t>
            </a:r>
          </a:p>
          <a:p>
            <a:r>
              <a:rPr lang="en-US"/>
              <a:t>Như vậy,… “tóm tắt kết quả”</a:t>
            </a:r>
          </a:p>
        </p:txBody>
      </p:sp>
    </p:spTree>
    <p:extLst>
      <p:ext uri="{BB962C8B-B14F-4D97-AF65-F5344CB8AC3E}">
        <p14:creationId xmlns:p14="http://schemas.microsoft.com/office/powerpoint/2010/main" val="22222173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90A43-521D-EBF1-DB42-58A8155E1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74895E-D091-B258-553B-368712CF210F}"/>
              </a:ext>
            </a:extLst>
          </p:cNvPr>
          <p:cNvSpPr txBox="1"/>
          <p:nvPr/>
        </p:nvSpPr>
        <p:spPr>
          <a:xfrm>
            <a:off x="2571750" y="2667000"/>
            <a:ext cx="494879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Các LLM để xuất</a:t>
            </a:r>
          </a:p>
          <a:p>
            <a:pPr marL="285750" indent="-285750">
              <a:buFontTx/>
              <a:buChar char="-"/>
            </a:pPr>
            <a:r>
              <a:rPr lang="en-US"/>
              <a:t>Các thông số LLM + kèm giải thích + giới thiệu</a:t>
            </a:r>
          </a:p>
          <a:p>
            <a:pPr marL="285750" indent="-285750">
              <a:buFontTx/>
              <a:buChar char="-"/>
            </a:pPr>
            <a:r>
              <a:rPr lang="en-US"/>
              <a:t>Benmark của các model embedding</a:t>
            </a:r>
          </a:p>
          <a:p>
            <a:pPr marL="285750" indent="-285750">
              <a:buFontTx/>
              <a:buChar char="-"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352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71E94-CE27-F948-46F8-8AEFD8B57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6937F4-5ACE-ED20-FBFD-987EFC21E860}"/>
              </a:ext>
            </a:extLst>
          </p:cNvPr>
          <p:cNvSpPr txBox="1"/>
          <p:nvPr/>
        </p:nvSpPr>
        <p:spPr>
          <a:xfrm>
            <a:off x="2571750" y="2667000"/>
            <a:ext cx="82559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Các chức năng của hệ thống:</a:t>
            </a:r>
          </a:p>
          <a:p>
            <a:r>
              <a:rPr lang="en-US"/>
              <a:t>- Các chức năng đưuọc triển khai cho hệ thống (text chat, voice realtime.., exam…)</a:t>
            </a:r>
          </a:p>
        </p:txBody>
      </p:sp>
    </p:spTree>
    <p:extLst>
      <p:ext uri="{BB962C8B-B14F-4D97-AF65-F5344CB8AC3E}">
        <p14:creationId xmlns:p14="http://schemas.microsoft.com/office/powerpoint/2010/main" val="13919732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B43E1-6279-1E12-7C4D-079661226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4A9EF1-8662-93B5-1E75-CA2964560939}"/>
              </a:ext>
            </a:extLst>
          </p:cNvPr>
          <p:cNvSpPr txBox="1"/>
          <p:nvPr/>
        </p:nvSpPr>
        <p:spPr>
          <a:xfrm>
            <a:off x="2571750" y="2667000"/>
            <a:ext cx="29165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Chức năng chatbot văn bản</a:t>
            </a:r>
          </a:p>
        </p:txBody>
      </p:sp>
    </p:spTree>
    <p:extLst>
      <p:ext uri="{BB962C8B-B14F-4D97-AF65-F5344CB8AC3E}">
        <p14:creationId xmlns:p14="http://schemas.microsoft.com/office/powerpoint/2010/main" val="5400949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0F8F1-2303-4AC4-E099-3DF21445E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C579DB5-FB17-6D49-7A4D-2B764E003DC2}"/>
              </a:ext>
            </a:extLst>
          </p:cNvPr>
          <p:cNvSpPr txBox="1"/>
          <p:nvPr/>
        </p:nvSpPr>
        <p:spPr>
          <a:xfrm>
            <a:off x="457200" y="1657350"/>
            <a:ext cx="1020324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Chức năng trò chuyện thời gian thực</a:t>
            </a:r>
          </a:p>
          <a:p>
            <a:r>
              <a:rPr lang="en-US"/>
              <a:t>Giới thiệu về công nghệ TTS-STT</a:t>
            </a:r>
          </a:p>
          <a:p>
            <a:pPr marL="285750" indent="-285750">
              <a:buFontTx/>
              <a:buChar char="-"/>
            </a:pPr>
            <a:r>
              <a:rPr lang="en-US"/>
              <a:t>giới thiệu</a:t>
            </a:r>
          </a:p>
          <a:p>
            <a:pPr marL="285750" indent="-285750">
              <a:buFontTx/>
              <a:buChar char="-"/>
            </a:pPr>
            <a:r>
              <a:rPr lang="en-US"/>
              <a:t>Lợi tích</a:t>
            </a:r>
          </a:p>
          <a:p>
            <a:pPr marL="285750" indent="-285750">
              <a:buFontTx/>
              <a:buChar char="-"/>
            </a:pPr>
            <a:r>
              <a:rPr lang="en-US"/>
              <a:t>Lợi tích khi Ứng dụng công nghệ này vào hệ thống chatbot</a:t>
            </a:r>
          </a:p>
          <a:p>
            <a:pPr marL="285750" indent="-285750">
              <a:buFontTx/>
              <a:buChar char="-"/>
            </a:pPr>
            <a:r>
              <a:rPr lang="en-US"/>
              <a:t>Phương pháp triển khai hệ thống (miêu tả hệ thống  hoạt động như thế nào? Cách mà văn bản được</a:t>
            </a:r>
          </a:p>
          <a:p>
            <a:r>
              <a:rPr lang="en-US"/>
              <a:t>Chuyển thành âm thanh và ngược lại. (chi tiết các phần và luồng hoạt động để sau)</a:t>
            </a:r>
          </a:p>
        </p:txBody>
      </p:sp>
    </p:spTree>
    <p:extLst>
      <p:ext uri="{BB962C8B-B14F-4D97-AF65-F5344CB8AC3E}">
        <p14:creationId xmlns:p14="http://schemas.microsoft.com/office/powerpoint/2010/main" val="37128102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FDD86-2554-20C0-3BD8-48C3D0CE3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5E1B44-3531-38D8-BE32-5BD8B7E04216}"/>
              </a:ext>
            </a:extLst>
          </p:cNvPr>
          <p:cNvSpPr txBox="1"/>
          <p:nvPr/>
        </p:nvSpPr>
        <p:spPr>
          <a:xfrm>
            <a:off x="457200" y="1657350"/>
            <a:ext cx="59050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Quá trình sinh phản hồi</a:t>
            </a:r>
          </a:p>
          <a:p>
            <a:r>
              <a:rPr lang="en-US"/>
              <a:t>Đề cập đến data được embedding và retrieval như thế nào</a:t>
            </a:r>
          </a:p>
        </p:txBody>
      </p:sp>
    </p:spTree>
    <p:extLst>
      <p:ext uri="{BB962C8B-B14F-4D97-AF65-F5344CB8AC3E}">
        <p14:creationId xmlns:p14="http://schemas.microsoft.com/office/powerpoint/2010/main" val="7555351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9A16C-21A7-F245-2803-D5F851D41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48258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567</Words>
  <Application>Microsoft Office PowerPoint</Application>
  <PresentationFormat>Widescreen</PresentationFormat>
  <Paragraphs>89</Paragraphs>
  <Slides>20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PowerPoint Presentation</vt:lpstr>
      <vt:lpstr>Cơ sở lý thuyết</vt:lpstr>
      <vt:lpstr>PowerPoint Presentation</vt:lpstr>
      <vt:lpstr>PowerPoint Presentation</vt:lpstr>
      <vt:lpstr>PowerPoint Presentation</vt:lpstr>
      <vt:lpstr>Phương pháp đề xuất</vt:lpstr>
      <vt:lpstr>PowerPoint Presentation</vt:lpstr>
      <vt:lpstr>PowerPoint Presentation</vt:lpstr>
      <vt:lpstr>PowerPoint Presentation</vt:lpstr>
      <vt:lpstr>Thu thập – tiền xử lý và embedding dữ liệu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trung lee vieet</dc:creator>
  <cp:lastModifiedBy>trung lee vieet</cp:lastModifiedBy>
  <cp:revision>22</cp:revision>
  <dcterms:created xsi:type="dcterms:W3CDTF">2025-06-09T12:09:11Z</dcterms:created>
  <dcterms:modified xsi:type="dcterms:W3CDTF">2025-06-09T14:56:02Z</dcterms:modified>
</cp:coreProperties>
</file>