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84" r:id="rId10"/>
    <p:sldId id="285" r:id="rId11"/>
    <p:sldId id="286" r:id="rId12"/>
    <p:sldId id="287" r:id="rId13"/>
    <p:sldId id="281" r:id="rId14"/>
    <p:sldId id="268" r:id="rId15"/>
    <p:sldId id="269" r:id="rId16"/>
    <p:sldId id="288" r:id="rId17"/>
    <p:sldId id="289" r:id="rId18"/>
    <p:sldId id="318" r:id="rId19"/>
    <p:sldId id="290" r:id="rId20"/>
    <p:sldId id="271" r:id="rId21"/>
    <p:sldId id="292" r:id="rId22"/>
    <p:sldId id="272" r:id="rId23"/>
    <p:sldId id="273" r:id="rId24"/>
    <p:sldId id="319" r:id="rId25"/>
    <p:sldId id="322" r:id="rId26"/>
    <p:sldId id="320" r:id="rId27"/>
    <p:sldId id="293" r:id="rId28"/>
    <p:sldId id="323" r:id="rId29"/>
    <p:sldId id="324" r:id="rId30"/>
    <p:sldId id="325" r:id="rId31"/>
    <p:sldId id="295" r:id="rId32"/>
    <p:sldId id="326" r:id="rId33"/>
    <p:sldId id="299" r:id="rId34"/>
    <p:sldId id="327" r:id="rId35"/>
    <p:sldId id="297" r:id="rId36"/>
    <p:sldId id="274" r:id="rId37"/>
    <p:sldId id="300" r:id="rId38"/>
    <p:sldId id="304" r:id="rId39"/>
    <p:sldId id="305" r:id="rId40"/>
    <p:sldId id="301" r:id="rId41"/>
    <p:sldId id="303" r:id="rId42"/>
    <p:sldId id="302" r:id="rId43"/>
    <p:sldId id="311" r:id="rId44"/>
    <p:sldId id="306" r:id="rId45"/>
    <p:sldId id="307" r:id="rId46"/>
    <p:sldId id="308" r:id="rId47"/>
    <p:sldId id="309" r:id="rId48"/>
    <p:sldId id="310" r:id="rId49"/>
    <p:sldId id="312" r:id="rId50"/>
    <p:sldId id="265" r:id="rId51"/>
    <p:sldId id="276" r:id="rId52"/>
    <p:sldId id="313" r:id="rId53"/>
    <p:sldId id="277" r:id="rId54"/>
    <p:sldId id="278" r:id="rId55"/>
    <p:sldId id="279" r:id="rId56"/>
    <p:sldId id="280" r:id="rId57"/>
    <p:sldId id="266" r:id="rId58"/>
    <p:sldId id="316" r:id="rId59"/>
    <p:sldId id="317" r:id="rId60"/>
    <p:sldId id="315" r:id="rId61"/>
    <p:sldId id="321" r:id="rId62"/>
    <p:sldId id="282" r:id="rId63"/>
    <p:sldId id="283" r:id="rId64"/>
    <p:sldId id="267" r:id="rId6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9B11291-C0C4-40EB-9831-7A4D69CD6236}">
          <p14:sldIdLst>
            <p14:sldId id="256"/>
            <p14:sldId id="257"/>
            <p14:sldId id="262"/>
            <p14:sldId id="258"/>
            <p14:sldId id="259"/>
            <p14:sldId id="260"/>
            <p14:sldId id="261"/>
            <p14:sldId id="263"/>
            <p14:sldId id="284"/>
            <p14:sldId id="285"/>
            <p14:sldId id="286"/>
            <p14:sldId id="287"/>
            <p14:sldId id="281"/>
            <p14:sldId id="268"/>
            <p14:sldId id="269"/>
            <p14:sldId id="288"/>
            <p14:sldId id="289"/>
            <p14:sldId id="318"/>
            <p14:sldId id="290"/>
            <p14:sldId id="271"/>
            <p14:sldId id="292"/>
            <p14:sldId id="272"/>
            <p14:sldId id="273"/>
            <p14:sldId id="319"/>
            <p14:sldId id="322"/>
            <p14:sldId id="320"/>
            <p14:sldId id="293"/>
            <p14:sldId id="323"/>
            <p14:sldId id="324"/>
            <p14:sldId id="325"/>
            <p14:sldId id="295"/>
            <p14:sldId id="326"/>
            <p14:sldId id="299"/>
            <p14:sldId id="327"/>
            <p14:sldId id="297"/>
            <p14:sldId id="274"/>
            <p14:sldId id="300"/>
            <p14:sldId id="304"/>
            <p14:sldId id="305"/>
            <p14:sldId id="301"/>
            <p14:sldId id="303"/>
            <p14:sldId id="302"/>
            <p14:sldId id="311"/>
            <p14:sldId id="306"/>
            <p14:sldId id="307"/>
            <p14:sldId id="308"/>
            <p14:sldId id="309"/>
            <p14:sldId id="310"/>
            <p14:sldId id="312"/>
            <p14:sldId id="265"/>
            <p14:sldId id="276"/>
            <p14:sldId id="313"/>
            <p14:sldId id="277"/>
            <p14:sldId id="278"/>
            <p14:sldId id="279"/>
            <p14:sldId id="280"/>
            <p14:sldId id="266"/>
            <p14:sldId id="316"/>
            <p14:sldId id="317"/>
            <p14:sldId id="315"/>
            <p14:sldId id="321"/>
            <p14:sldId id="282"/>
            <p14:sldId id="283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53" autoAdjust="0"/>
    <p:restoredTop sz="86015" autoAdjust="0"/>
  </p:normalViewPr>
  <p:slideViewPr>
    <p:cSldViewPr snapToGrid="0">
      <p:cViewPr varScale="1">
        <p:scale>
          <a:sx n="60" d="100"/>
          <a:sy n="60" d="100"/>
        </p:scale>
        <p:origin x="25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B1C5C1-54CE-4892-A53C-9115FF4B63AE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AE1F8-3712-49A6-BC7C-273E12ADC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9373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D29AF-B355-D1E8-9B2D-B8269525B7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07E63C-8FF0-97E4-B4F0-33843DF8C2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9F2BF-AA70-F54C-B731-3D861AB98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5B464-2024-A8ED-9C7C-A41DA166F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9A9B8-1EFD-5192-7DEB-46777E765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4409B-8C38-1A8F-29F7-B3B18D129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F2842-D70F-50B1-4B1C-D1B015C01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316A48-E558-E35D-8FC6-00F7621C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8BF35-E979-8F2E-1BDB-57BAF9AC6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28570-8D79-A971-B32C-4032154AA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91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318E3-A4FB-1672-078A-DBEFE342F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BA2838-D279-21C8-2B1E-036EC5DF0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E73C9-9CB4-A847-9FD2-AC9E2FAE7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44A77-FC0F-06FC-6A12-3276BCAE6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003C-90A9-EA1C-D7ED-504494AC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760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ABA76-ED91-7EE0-7E8C-E9F29DAD0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285B7-563E-E1FD-3978-F25D88637E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37E7BB-0E71-5989-1231-F070DE9A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33FCD-493A-7EE4-F542-189CC670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CF390C-B99E-3CE7-631E-DBA1E2DE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B861D-E93F-EE54-EB47-C65B5B9C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97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85041-915D-1B57-6585-E46D8F03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5897D1-315D-6F7F-6641-E07C60B26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2216A7-44AA-621D-CAF6-5D5C83B7A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825DA8-420D-BB30-4DE8-99CEB403CB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C9977-D0CD-C314-F299-66D26BF6D2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B8C945-B118-A49B-4EFD-6F5BAA339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7DDD7F-0432-89CD-B540-D031806E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C6C9F-7DC5-80BB-B555-881A6BD2E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3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08FA-B87A-A158-7C30-0140BA3B9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709ABB-F651-41F9-52CA-A367A596B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0CD08-030F-CEE8-9986-E879A72D6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57DE-7934-DA4A-925E-3CA9B957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84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E45D9-8CEB-7175-77D2-FD2E956EB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EACD59-99D2-8B6B-F05D-120CD303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8994E-693D-EA8A-B9B3-0BDEECB9F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53DD-120D-7FE1-8213-1F75220C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D198-FB63-C5FF-3B4D-BE5129CF26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FA32C8-5ED0-57AE-7B20-6A14B6940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87C8D-98E3-450C-F2BE-D7C3A59DF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831C5-FC80-9F39-EC63-8FA36704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A1AA8-A581-B978-BC1C-F2EEF05BA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88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AE862-AEF1-8A07-360B-04C521CCC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5F83F-A5F3-6969-1539-9B9CF2F325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20172-6BD6-DAC4-947C-B7AC2905B2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EC2EAE-1317-1E3C-5167-BECD90244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372C58-D327-543A-6915-24726869B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434148-7F51-2855-5EFB-D9B60FF6F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0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A707-8C7C-3DF2-50FA-D99B169D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FAC39-5B78-9364-F32D-066FC405A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A63DED-A28B-E216-59C6-C6C67E9B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A498F-6E05-C40A-8CCF-FA4D8AF19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38E0B-6E2A-8566-2999-056785A50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24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DD25BC-7B38-FF50-F800-FA1833A84F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9EDB33-95B1-B4B7-D428-ED30E9C52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ABD337-9F18-3111-99FA-19369376F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5D57B-FB7A-723B-8362-E65B3F7D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9E1B01-BE7F-FFCC-9094-7723BE49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9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65575-5DF7-CE07-B27E-D0D694C4C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06DA5-2478-C139-C50B-F75C3F885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159DF3-996C-AAC9-862D-5DBE644FD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6C343-037B-4BB6-A079-7472CF8881D5}" type="datetimeFigureOut">
              <a:rPr lang="en-US" smtClean="0"/>
              <a:t>6/19/2025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08EB3-0CA6-B077-D700-62B640671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DD6CA-B4DC-3EB9-5C97-BAFAFF693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D6CA4-79FB-4FD5-9065-54A4B7DE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79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BE15F-3D48-FED2-9293-40CA55594E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0513"/>
            <a:ext cx="9144000" cy="2387600"/>
          </a:xfrm>
        </p:spPr>
        <p:txBody>
          <a:bodyPr>
            <a:normAutofit/>
          </a:bodyPr>
          <a:lstStyle/>
          <a:p>
            <a:r>
              <a:rPr lang="en-US" sz="4800" b="1">
                <a:latin typeface="Times New Roman" panose="02020603050405020304" pitchFamily="18" charset="0"/>
              </a:rPr>
              <a:t>HỆ THỐNG CHATBOT HỖ TRỢ HỌC LỊCH SỬ VIỆT NAM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50EE6C-37B6-A4AC-4C11-2E5A08C66C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49738"/>
            <a:ext cx="9144000" cy="1655762"/>
          </a:xfrm>
        </p:spPr>
        <p:txBody>
          <a:bodyPr anchor="ctr"/>
          <a:lstStyle/>
          <a:p>
            <a:r>
              <a:rPr lang="en-US">
                <a:latin typeface="Times New Roman" panose="02020603050405020304" pitchFamily="18" charset="0"/>
              </a:rPr>
              <a:t>GVHD: </a:t>
            </a:r>
            <a:r>
              <a:rPr lang="en-US" b="1">
                <a:latin typeface="Times New Roman" panose="02020603050405020304" pitchFamily="18" charset="0"/>
              </a:rPr>
              <a:t>TS. NGUYỄN NĂNG HÙNG VÂN</a:t>
            </a:r>
          </a:p>
          <a:p>
            <a:r>
              <a:rPr lang="en-US">
                <a:latin typeface="Times New Roman" panose="02020603050405020304" pitchFamily="18" charset="0"/>
              </a:rPr>
              <a:t>SINH VIÊN THỰC HIỆN: </a:t>
            </a:r>
            <a:r>
              <a:rPr lang="en-US" b="1">
                <a:latin typeface="Times New Roman" panose="02020603050405020304" pitchFamily="18" charset="0"/>
              </a:rPr>
              <a:t>LÊ VIỆT TRUNG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067AD6E-B2FE-103A-F385-B0BCE3B39C2A}"/>
              </a:ext>
            </a:extLst>
          </p:cNvPr>
          <p:cNvSpPr txBox="1">
            <a:spLocks/>
          </p:cNvSpPr>
          <p:nvPr/>
        </p:nvSpPr>
        <p:spPr>
          <a:xfrm>
            <a:off x="1524000" y="433722"/>
            <a:ext cx="9144000" cy="464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>
                <a:latin typeface="Times New Roman" panose="02020603050405020304" pitchFamily="18" charset="0"/>
              </a:rPr>
              <a:t>TRƯỜNG ĐẠI HỌC BÁCH KHOA – ĐẠI HỌC ĐÀ NẴNG</a:t>
            </a:r>
          </a:p>
        </p:txBody>
      </p:sp>
    </p:spTree>
    <p:extLst>
      <p:ext uri="{BB962C8B-B14F-4D97-AF65-F5344CB8AC3E}">
        <p14:creationId xmlns:p14="http://schemas.microsoft.com/office/powerpoint/2010/main" val="4258233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4719D-DA31-265B-399F-E5A4980EE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NỘI DUNG BÁO CÁO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55BBE-2C7A-179F-1170-6AB59E37D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6895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FD1EF-E53B-5A9F-9692-52F285066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11DCEB-E4ED-4FCA-9B6A-375B2B3ACA8C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3468308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3B475F8-50AE-46A0-9943-B2B63183D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9E429C-446C-5C3D-E9F3-E05438AF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65125"/>
            <a:ext cx="6986015" cy="1776484"/>
          </a:xfrm>
        </p:spPr>
        <p:txBody>
          <a:bodyPr anchor="b"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pic>
        <p:nvPicPr>
          <p:cNvPr id="7" name="Picture 6" descr="A group of logos in a circle&#10;&#10;AI-generated content may be incorrect.">
            <a:extLst>
              <a:ext uri="{FF2B5EF4-FFF2-40B4-BE49-F238E27FC236}">
                <a16:creationId xmlns:a16="http://schemas.microsoft.com/office/drawing/2014/main" id="{C1C2440E-83D8-6DF3-21CD-2DE339B7F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231" y="261991"/>
            <a:ext cx="3360391" cy="1890220"/>
          </a:xfrm>
          <a:prstGeom prst="rect">
            <a:avLst/>
          </a:prstGeom>
        </p:spPr>
      </p:pic>
      <p:sp>
        <p:nvSpPr>
          <p:cNvPr id="16" name="sketch line">
            <a:extLst>
              <a:ext uri="{FF2B5EF4-FFF2-40B4-BE49-F238E27FC236}">
                <a16:creationId xmlns:a16="http://schemas.microsoft.com/office/drawing/2014/main" id="{75F6FDB4-2351-48C2-A863-2364A0234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315691"/>
            <a:ext cx="4343400" cy="18288"/>
          </a:xfrm>
          <a:custGeom>
            <a:avLst/>
            <a:gdLst>
              <a:gd name="connsiteX0" fmla="*/ 0 w 4343400"/>
              <a:gd name="connsiteY0" fmla="*/ 0 h 18288"/>
              <a:gd name="connsiteX1" fmla="*/ 577052 w 4343400"/>
              <a:gd name="connsiteY1" fmla="*/ 0 h 18288"/>
              <a:gd name="connsiteX2" fmla="*/ 1067235 w 4343400"/>
              <a:gd name="connsiteY2" fmla="*/ 0 h 18288"/>
              <a:gd name="connsiteX3" fmla="*/ 1600853 w 4343400"/>
              <a:gd name="connsiteY3" fmla="*/ 0 h 18288"/>
              <a:gd name="connsiteX4" fmla="*/ 2264773 w 4343400"/>
              <a:gd name="connsiteY4" fmla="*/ 0 h 18288"/>
              <a:gd name="connsiteX5" fmla="*/ 2841825 w 4343400"/>
              <a:gd name="connsiteY5" fmla="*/ 0 h 18288"/>
              <a:gd name="connsiteX6" fmla="*/ 3375442 w 4343400"/>
              <a:gd name="connsiteY6" fmla="*/ 0 h 18288"/>
              <a:gd name="connsiteX7" fmla="*/ 4343400 w 4343400"/>
              <a:gd name="connsiteY7" fmla="*/ 0 h 18288"/>
              <a:gd name="connsiteX8" fmla="*/ 4343400 w 4343400"/>
              <a:gd name="connsiteY8" fmla="*/ 18288 h 18288"/>
              <a:gd name="connsiteX9" fmla="*/ 3722914 w 4343400"/>
              <a:gd name="connsiteY9" fmla="*/ 18288 h 18288"/>
              <a:gd name="connsiteX10" fmla="*/ 3189297 w 4343400"/>
              <a:gd name="connsiteY10" fmla="*/ 18288 h 18288"/>
              <a:gd name="connsiteX11" fmla="*/ 2481943 w 4343400"/>
              <a:gd name="connsiteY11" fmla="*/ 18288 h 18288"/>
              <a:gd name="connsiteX12" fmla="*/ 1904891 w 4343400"/>
              <a:gd name="connsiteY12" fmla="*/ 18288 h 18288"/>
              <a:gd name="connsiteX13" fmla="*/ 1414707 w 4343400"/>
              <a:gd name="connsiteY13" fmla="*/ 18288 h 18288"/>
              <a:gd name="connsiteX14" fmla="*/ 750788 w 4343400"/>
              <a:gd name="connsiteY14" fmla="*/ 18288 h 18288"/>
              <a:gd name="connsiteX15" fmla="*/ 0 w 4343400"/>
              <a:gd name="connsiteY15" fmla="*/ 18288 h 18288"/>
              <a:gd name="connsiteX16" fmla="*/ 0 w 43434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A3D1D-5A35-3D5F-7447-81194895EC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04819"/>
            <a:ext cx="6986016" cy="367214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1.1. Lý do chọn đề tài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Nhu cầu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đổi mới phương pháp giáo dục.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Tiềm năng từ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AI và LLM.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Lịch sử là một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môn học đặc thù.</a:t>
            </a:r>
          </a:p>
        </p:txBody>
      </p:sp>
      <p:pic>
        <p:nvPicPr>
          <p:cNvPr id="5" name="Picture 4" descr="A classroom with students in front of a blackboard&#10;&#10;AI-generated content may be incorrect.">
            <a:extLst>
              <a:ext uri="{FF2B5EF4-FFF2-40B4-BE49-F238E27FC236}">
                <a16:creationId xmlns:a16="http://schemas.microsoft.com/office/drawing/2014/main" id="{F383968B-DDBB-0538-D632-57CBE19A01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6144" y="2310086"/>
            <a:ext cx="2520293" cy="1890220"/>
          </a:xfrm>
          <a:prstGeom prst="rect">
            <a:avLst/>
          </a:prstGeom>
        </p:spPr>
      </p:pic>
      <p:pic>
        <p:nvPicPr>
          <p:cNvPr id="9" name="Picture 8" descr="A book on a map&#10;&#10;AI-generated content may be incorrect.">
            <a:extLst>
              <a:ext uri="{FF2B5EF4-FFF2-40B4-BE49-F238E27FC236}">
                <a16:creationId xmlns:a16="http://schemas.microsoft.com/office/drawing/2014/main" id="{B1F2BB6C-6A97-7B72-A60E-2FBCC066E6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0718" y="4358181"/>
            <a:ext cx="3231145" cy="1890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577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ACC9AE-4282-9F1E-1993-C94D1F1C7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EAC56F-4530-0099-1FEB-FF6A38C16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CE7BF-29EB-0616-CC76-430116469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483864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1.2. Mục tiêu của đề tài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hệ thống chatbot hỗ trợ học Lịch sử Việt Nam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bằng cách ứng dụng LLM và các công nghệ NLP tiên tiến.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Gia tăng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tính tự động hóa, hiệu quả và trải nghiệm của việc học Lịch sử.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Bổ trợ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và hiện đại hóa phương pháp giáo dục truyền thống.</a:t>
            </a:r>
          </a:p>
          <a:p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A teacher teaching a class&#10;&#10;AI-generated content may be incorrect.">
            <a:extLst>
              <a:ext uri="{FF2B5EF4-FFF2-40B4-BE49-F238E27FC236}">
                <a16:creationId xmlns:a16="http://schemas.microsoft.com/office/drawing/2014/main" id="{1511805F-94FA-3749-A5B0-C25E681A6F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3840" y="704423"/>
            <a:ext cx="4014216" cy="2679489"/>
          </a:xfrm>
          <a:prstGeom prst="rect">
            <a:avLst/>
          </a:prstGeom>
        </p:spPr>
      </p:pic>
      <p:pic>
        <p:nvPicPr>
          <p:cNvPr id="5" name="Picture 4" descr="A chatbot with a headset&#10;&#10;AI-generated content may be incorrect.">
            <a:extLst>
              <a:ext uri="{FF2B5EF4-FFF2-40B4-BE49-F238E27FC236}">
                <a16:creationId xmlns:a16="http://schemas.microsoft.com/office/drawing/2014/main" id="{73751C16-9EAF-37E9-87A1-B09347ACC7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204" y="4079193"/>
            <a:ext cx="3427200" cy="2176272"/>
          </a:xfrm>
          <a:prstGeom prst="rect">
            <a:avLst/>
          </a:prstGeom>
        </p:spPr>
      </p:pic>
      <p:sp>
        <p:nvSpPr>
          <p:cNvPr id="9" name="Arrow: Up 8">
            <a:extLst>
              <a:ext uri="{FF2B5EF4-FFF2-40B4-BE49-F238E27FC236}">
                <a16:creationId xmlns:a16="http://schemas.microsoft.com/office/drawing/2014/main" id="{6CE18BF5-C5F9-D784-FA15-E641D51DCB74}"/>
              </a:ext>
            </a:extLst>
          </p:cNvPr>
          <p:cNvSpPr/>
          <p:nvPr/>
        </p:nvSpPr>
        <p:spPr>
          <a:xfrm>
            <a:off x="9734590" y="3561347"/>
            <a:ext cx="272715" cy="368969"/>
          </a:xfrm>
          <a:prstGeom prst="up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A64011-730D-C95C-DF94-B39101006B8E}"/>
              </a:ext>
            </a:extLst>
          </p:cNvPr>
          <p:cNvSpPr txBox="1"/>
          <p:nvPr/>
        </p:nvSpPr>
        <p:spPr>
          <a:xfrm>
            <a:off x="10007305" y="3564873"/>
            <a:ext cx="779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Bổ trợ</a:t>
            </a:r>
          </a:p>
        </p:txBody>
      </p:sp>
    </p:spTree>
    <p:extLst>
      <p:ext uri="{BB962C8B-B14F-4D97-AF65-F5344CB8AC3E}">
        <p14:creationId xmlns:p14="http://schemas.microsoft.com/office/powerpoint/2010/main" val="3036869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29467A-6B36-F138-6409-BB22F619E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A6D7A7-A6F2-02BE-01CB-B79575395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9059FA-D655-22D4-0BEB-242403E8B3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1.3. Đối tượng nghiên cứu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Nghiên cứu các LLM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để xây dựng hệ thống chatbot hỗ trợ học Lịch sử Việt Nam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nạp dữ liệu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 tối ưu hóa mô hình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trong ngữ cảnh giáo dục Lịch sử.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đánh giá hiệu suất hệ thống.</a:t>
            </a:r>
          </a:p>
        </p:txBody>
      </p:sp>
    </p:spTree>
    <p:extLst>
      <p:ext uri="{BB962C8B-B14F-4D97-AF65-F5344CB8AC3E}">
        <p14:creationId xmlns:p14="http://schemas.microsoft.com/office/powerpoint/2010/main" val="1104712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6E34E2-CE2D-9589-7C5C-C261893D2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DCAFB6-133C-8628-69A4-13364D8A2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 ĐỀ TÀI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0C182-55D2-A7F6-8A60-BF17B263B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1.4. Nội dung nghiên cứu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Nghiên cứu, đánh giá và lựa chọn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LLM và embedding phù hợp.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kiến trúc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hệ thống chatbot tổng thể.</a:t>
            </a:r>
          </a:p>
          <a:p>
            <a:r>
              <a:rPr lang="vi-VN" sz="2200">
                <a:latin typeface="Times New Roman" panose="02020603050405020304" pitchFamily="18" charset="0"/>
                <a:cs typeface="Times New Roman" panose="02020603050405020304" pitchFamily="18" charset="0"/>
              </a:rPr>
              <a:t>Thiết lập </a:t>
            </a:r>
            <a:r>
              <a:rPr lang="vi-VN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các tiêu chí đánh giá chất lượng chatbot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vi-VN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Thử nghiệm và tối ưu </a:t>
            </a:r>
            <a:r>
              <a:rPr lang="vi-VN" sz="2200">
                <a:latin typeface="Times New Roman" panose="02020603050405020304" pitchFamily="18" charset="0"/>
                <a:cs typeface="Times New Roman" panose="02020603050405020304" pitchFamily="18" charset="0"/>
              </a:rPr>
              <a:t>chatbot qua các kịch bản hỏi đáp thực tế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vi-VN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</a:t>
            </a:r>
            <a:r>
              <a:rPr lang="vi-VN" sz="2200">
                <a:latin typeface="Times New Roman" panose="02020603050405020304" pitchFamily="18" charset="0"/>
                <a:cs typeface="Times New Roman" panose="02020603050405020304" pitchFamily="18" charset="0"/>
              </a:rPr>
              <a:t>chatbot lên giao diện người dùng (UI)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977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41905-87A2-41AF-1129-86442AE80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67299-79A1-4EF6-83A3-A771D257B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16EE07-0C23-B99A-E874-6B1BF571A59C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2730506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7BE326-42D9-27A3-AD3F-0ABE4B0C3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FBDB50-1CF1-909D-D85C-D508E40CF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48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FF2A4-5B05-6C47-802E-14A242F21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2.1. Lược sử phát triển của NLP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CB9C94-A3B5-AD77-34BA-77E776DFF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666141" y="2290936"/>
            <a:ext cx="10847526" cy="39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732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327226-3F43-80C0-4171-3D2B3FF83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6D27E4-D1CC-7449-5835-509B35BF4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</a:t>
            </a:r>
            <a:b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7B23E-8310-5899-E43E-DAE762286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135880" cy="3547872"/>
          </a:xfrm>
        </p:spPr>
        <p:txBody>
          <a:bodyPr anchor="t">
            <a:normAutofit fontScale="92500" lnSpcReduction="1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2.2. Mô hình </a:t>
            </a:r>
            <a:r>
              <a:rPr lang="en-US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ngôn</a:t>
            </a: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 ngữ lớn - LLM</a:t>
            </a:r>
          </a:p>
          <a:p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Xử lý và sinh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tự nhiên.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Huấn luyện trên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quy mô lớn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Kiến trúc phức tạp 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với hàng tỉ tham số dựa trên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nền Transformer</a:t>
            </a:r>
            <a:r>
              <a:rPr lang="en-US" sz="2200" b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Có thể trích xuất, phân tích, gán nhãn, sinh văn bản.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trong chatbot, giáo dục, pháp lý, y tế…</a:t>
            </a:r>
          </a:p>
          <a:p>
            <a:pPr marL="0" indent="0">
              <a:buNone/>
            </a:pPr>
            <a:endParaRPr lang="en-US" sz="22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0E2A17-FB78-A897-D260-C9C252227D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6816" y="1594753"/>
            <a:ext cx="6108192" cy="366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6610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B0F448-5FE2-3765-2626-2BF7EE14F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2D5F9A-9397-BD22-F4BB-DCDF55965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</a:t>
            </a:r>
            <a:b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CBD0B-87E8-0B2A-8825-72D6A9F50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2.3. Hệ thống RAG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Sự kết hợp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giữa tìm kiếm thông tin (retrieval) và sinh văn bản (generation).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Gồm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bộ truy xuất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và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bộ tạo sinh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Cải thiện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độ chinh xác, khả năng mở rộng và khả năng tùy biến lĩnh vực.</a:t>
            </a:r>
          </a:p>
        </p:txBody>
      </p:sp>
      <p:pic>
        <p:nvPicPr>
          <p:cNvPr id="4" name="Picture 3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1AA1C02A-01CC-8118-BE66-A0E66E8B5F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2043787"/>
            <a:ext cx="5458968" cy="277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655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CE1FD-5336-C84F-56CE-F0CD03B88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654923-3D76-C0E7-D7B8-36E4D40CA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CƠ SỞ </a:t>
            </a:r>
            <a:b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5000" b="1">
                <a:latin typeface="Times New Roman" panose="02020603050405020304" pitchFamily="18" charset="0"/>
                <a:cs typeface="Times New Roman" panose="02020603050405020304" pitchFamily="18" charset="0"/>
              </a:rPr>
              <a:t>LÝ THUYẾT</a:t>
            </a:r>
          </a:p>
        </p:txBody>
      </p:sp>
      <p:sp>
        <p:nvSpPr>
          <p:cNvPr id="40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089A2-789B-BD11-19CB-A29F9C8615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144222" cy="3547872"/>
          </a:xfrm>
        </p:spPr>
        <p:txBody>
          <a:bodyPr anchor="t">
            <a:normAutofit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2.4. Công cụ chuyển đổi văn bản – âm thanh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Sử dụng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các công nghệ chuyển đổi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văn bản thành âm thanh hoặc ngược lại</a:t>
            </a:r>
          </a:p>
          <a:p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Cải thiện khả năng giao tiếp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giữa con người và máy móc.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trong trợ lý ảo, nhập liệu bằng giọng nói, và đọc văn bản tự động trong nhiều ứng dụng, hệ thống khác nhau.</a:t>
            </a:r>
          </a:p>
        </p:txBody>
      </p:sp>
      <p:pic>
        <p:nvPicPr>
          <p:cNvPr id="5" name="Picture 4" descr="A blue background with text and icons&#10;&#10;AI-generated content may be incorrect.">
            <a:extLst>
              <a:ext uri="{FF2B5EF4-FFF2-40B4-BE49-F238E27FC236}">
                <a16:creationId xmlns:a16="http://schemas.microsoft.com/office/drawing/2014/main" id="{F9BD9FDD-2993-0818-4C18-DC0B116FEB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27" t="26852" r="8709"/>
          <a:stretch>
            <a:fillRect/>
          </a:stretch>
        </p:blipFill>
        <p:spPr>
          <a:xfrm>
            <a:off x="6099048" y="2040166"/>
            <a:ext cx="5458968" cy="277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383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409-7ECF-F86F-F77D-6A0F7B05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A0FCC-8B8D-D846-39CB-5E8E3387C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95186-37DA-B7A5-CC28-980C9CD54CB6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1700024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EBBBE-DF49-BBAA-A74C-124D8951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75B74-5CE3-6F61-F092-CEFD46C2E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8F291-9F9C-7F17-EE02-9E221BB71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3.1. Phát biểu và phân tích bài toán</a:t>
            </a:r>
          </a:p>
        </p:txBody>
      </p:sp>
    </p:spTree>
    <p:extLst>
      <p:ext uri="{BB962C8B-B14F-4D97-AF65-F5344CB8AC3E}">
        <p14:creationId xmlns:p14="http://schemas.microsoft.com/office/powerpoint/2010/main" val="1420802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C4C8A0-A7AB-2DC9-2101-E2865FE6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61362B-C055-854C-DA7B-0A54BC88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213039"/>
            <a:ext cx="10909640" cy="145393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en-US" sz="40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  <a:br>
              <a:rPr lang="en-US" sz="28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kern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DDCF43-B889-D0B9-E9F1-1B2FF967F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0985" y="1818226"/>
            <a:ext cx="7245432" cy="44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95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F171C-8F63-4FB3-79E2-8308033B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CC718-9D3D-219B-E9D5-990B2ECC8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2C532-A17D-8CC4-4F22-7D99373D2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3.2.1. Giai đoạn một: Chuẩn bị dữ liệu</a:t>
            </a:r>
          </a:p>
        </p:txBody>
      </p:sp>
    </p:spTree>
    <p:extLst>
      <p:ext uri="{BB962C8B-B14F-4D97-AF65-F5344CB8AC3E}">
        <p14:creationId xmlns:p14="http://schemas.microsoft.com/office/powerpoint/2010/main" val="95519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78DCF-2152-9C55-8B52-D8BB5AC6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5EF4C-4642-D661-32A1-2E4BFDA37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C5141-C1D6-DFFA-E76D-E43D79C5C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3.2. Tổng quan phương pháp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3.2.2. Giai đoạn hai: Phát triển hệ thống</a:t>
            </a:r>
          </a:p>
        </p:txBody>
      </p:sp>
    </p:spTree>
    <p:extLst>
      <p:ext uri="{BB962C8B-B14F-4D97-AF65-F5344CB8AC3E}">
        <p14:creationId xmlns:p14="http://schemas.microsoft.com/office/powerpoint/2010/main" val="1035561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29206B-2DF5-06CD-B140-9FA5D277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47DA0F-DFD7-605B-1978-2ECE55BFA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180955"/>
            <a:ext cx="10909640" cy="148601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  <a:b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3.3. Hệ thống RAG đề xuất</a:t>
            </a:r>
            <a:endParaRPr lang="en-US" sz="4100" b="1" kern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6F8FCA-E996-1FC6-6FF5-E917E277A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580" y="1847925"/>
            <a:ext cx="7070840" cy="440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549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240CE-75C8-FAD3-F11D-D12E50D3E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00910-DBD4-C977-CC19-F8415F4D9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F600F-137F-1B18-1D35-C7894E00D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3.3. Hệ thống RAG đề xuất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(mô tả hình)</a:t>
            </a:r>
          </a:p>
        </p:txBody>
      </p:sp>
    </p:spTree>
    <p:extLst>
      <p:ext uri="{BB962C8B-B14F-4D97-AF65-F5344CB8AC3E}">
        <p14:creationId xmlns:p14="http://schemas.microsoft.com/office/powerpoint/2010/main" val="38658843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E5FB31-9924-5C2E-F7A0-6E99FB530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973459-9CC7-7ED9-05ED-622E0AF56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617BC-26E8-26FB-B8F4-C67280D57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660904"/>
            <a:ext cx="5080053" cy="387978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3.4. Quy trình thu thập dữ liệu</a:t>
            </a:r>
          </a:p>
          <a:p>
            <a:pPr>
              <a:lnSpc>
                <a:spcPct val="100000"/>
              </a:lnSpc>
            </a:pP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Các nội dung được </a:t>
            </a:r>
            <a:r>
              <a:rPr lang="en-US" sz="18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thành văn bản thô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8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Mỗi văn bản tương ứng với </a:t>
            </a:r>
            <a:r>
              <a:rPr lang="en-US" sz="18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một đơn vị kiến thức (chương, bài, đoạn) </a:t>
            </a: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cụ thể.</a:t>
            </a:r>
          </a:p>
          <a:p>
            <a:pPr>
              <a:lnSpc>
                <a:spcPct val="100000"/>
              </a:lnSpc>
            </a:pPr>
            <a:r>
              <a:rPr lang="en-US" sz="1800">
                <a:latin typeface="Times New Roman" panose="02020603050405020304" pitchFamily="18" charset="0"/>
                <a:cs typeface="Times New Roman" panose="02020603050405020304" pitchFamily="18" charset="0"/>
              </a:rPr>
              <a:t>Lưu trữ các văn bản trong các </a:t>
            </a:r>
            <a:r>
              <a:rPr lang="en-US" sz="18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tệp JSON</a:t>
            </a:r>
            <a:r>
              <a:rPr lang="en-US" sz="1800" b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4" name="Picture 3" descr="A black background with red lines&#10;&#10;AI-generated content may be incorrect.">
            <a:extLst>
              <a:ext uri="{FF2B5EF4-FFF2-40B4-BE49-F238E27FC236}">
                <a16:creationId xmlns:a16="http://schemas.microsoft.com/office/drawing/2014/main" id="{0E7045BD-A995-549B-B842-1F75B407D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223" y="2236131"/>
            <a:ext cx="6039841" cy="238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495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507503-FAAF-2934-626E-F3619FB07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318B0F-F164-D94D-7A04-2DDFA28B8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BC489-EA73-CEFB-BFFB-8D3BABA50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144222" cy="354787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3.4. Quy trình thu thập dữ liệu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Có tổng cộng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1121 tài liệu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các loại.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 loại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chapter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(chương),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lesson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(bài học) và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(câu hỏi hoặc tiêu đề).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chiếm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phần lớn số lượng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thu thập được.</a:t>
            </a:r>
          </a:p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Tài liệu loại 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 có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độ dài (đơn vị từ)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vượt trội so với các loại tài liệu còn lại.</a:t>
            </a:r>
          </a:p>
        </p:txBody>
      </p:sp>
      <p:pic>
        <p:nvPicPr>
          <p:cNvPr id="4" name="Picture 3" descr="A green graph with white text&#10;&#10;AI-generated content may be incorrect.">
            <a:extLst>
              <a:ext uri="{FF2B5EF4-FFF2-40B4-BE49-F238E27FC236}">
                <a16:creationId xmlns:a16="http://schemas.microsoft.com/office/drawing/2014/main" id="{5E9C202C-3520-3FA0-68AD-F02B840B6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158" y="2077905"/>
            <a:ext cx="5782858" cy="286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6561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A26E3-B132-9FAB-2B33-C41440C02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932D-3C78-28C1-59AC-5357AB2CE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1EEE0-6882-2F14-62F2-2B24CF94C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3.5. Quy trình tiền xử lý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quy trình + mô tả)</a:t>
            </a:r>
          </a:p>
        </p:txBody>
      </p:sp>
    </p:spTree>
    <p:extLst>
      <p:ext uri="{BB962C8B-B14F-4D97-AF65-F5344CB8AC3E}">
        <p14:creationId xmlns:p14="http://schemas.microsoft.com/office/powerpoint/2010/main" val="14334738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12ACB-2A8D-25DD-6AE4-9C35C2E93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1C28AD-26F9-7DBF-306F-990763ACE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585B3-FB86-11DA-313F-23A2B9DBE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3.6.1. Word Embedding</a:t>
            </a:r>
          </a:p>
          <a:p>
            <a:pPr marL="342900">
              <a:lnSpc>
                <a:spcPct val="110000"/>
              </a:lnSpc>
              <a:spcAft>
                <a:spcPts val="600"/>
              </a:spcAft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Ánh xạ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một từ trong tập từ điển sang vector không gian nhiều chiều.</a:t>
            </a:r>
          </a:p>
          <a:p>
            <a:pPr marL="342900">
              <a:lnSpc>
                <a:spcPct val="110000"/>
              </a:lnSpc>
              <a:spcAft>
                <a:spcPts val="600"/>
              </a:spcAft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Mỗi chiều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đại diện cho một thuộc tính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13949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3FCDFC-79DB-40CC-2BA1-C22B70543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9A9051A-8510-B97B-FCC3-88FA6E6015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A6A097-795E-150D-A0F7-19244E93A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CC773537-1363-BB47-78B1-2C9E2DF41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85546-EAF9-A79D-480C-C6A4EEF5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14000"/>
              </a:lnSpc>
              <a:buNone/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lnSpc>
                <a:spcPct val="114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3.6.1. Word Embedding</a:t>
            </a:r>
          </a:p>
          <a:p>
            <a:pPr marL="0" indent="0"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Khái niệm:</a:t>
            </a:r>
          </a:p>
          <a:p>
            <a:pPr marL="342900">
              <a:lnSpc>
                <a:spcPct val="110000"/>
              </a:lnSpc>
              <a:spcAft>
                <a:spcPts val="600"/>
              </a:spcAft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Ánh xạ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một từ trong tập từ điển sang vector không gian nhiều chiều.</a:t>
            </a:r>
          </a:p>
          <a:p>
            <a:pPr marL="342900">
              <a:lnSpc>
                <a:spcPct val="110000"/>
              </a:lnSpc>
              <a:spcAft>
                <a:spcPts val="600"/>
              </a:spcAft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Mỗi chiều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đại diện cho một thuộc tính</a:t>
            </a: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120774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diagram of words and numbers&#10;&#10;AI-generated content may be incorrect.">
            <a:extLst>
              <a:ext uri="{FF2B5EF4-FFF2-40B4-BE49-F238E27FC236}">
                <a16:creationId xmlns:a16="http://schemas.microsoft.com/office/drawing/2014/main" id="{304C9623-8B1F-5AF3-C6B6-C0B6016609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5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4814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D6523A-E027-48B8-E88F-EFDFB95DD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3C6C603-E3B0-6D74-07D9-B60590730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9C429D-50C0-F2B9-2D65-DAE6DBF2E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3765B0FD-FAEB-A939-BF4D-6F7F1364D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71CB8-FDE9-C7D1-3047-31450CA3EB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14000"/>
              </a:lnSpc>
              <a:buNone/>
            </a:pPr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lnSpc>
                <a:spcPct val="114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3.6.1. Word Embedding</a:t>
            </a:r>
          </a:p>
          <a:p>
            <a:pPr marL="0" indent="0"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Lợi ích:</a:t>
            </a:r>
          </a:p>
          <a:p>
            <a:pPr marL="342900">
              <a:spcAft>
                <a:spcPts val="600"/>
              </a:spcAft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Giúp máy tính </a:t>
            </a: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có thể tính toán được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ngôn ngữ tự nhiên.</a:t>
            </a:r>
          </a:p>
          <a:p>
            <a:pPr marL="342900">
              <a:spcAft>
                <a:spcPts val="600"/>
              </a:spcAft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Giữ được ngữ cảnh và ý nghĩa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của văn bản.</a:t>
            </a:r>
          </a:p>
          <a:p>
            <a:pPr marL="114300" indent="0">
              <a:spcAft>
                <a:spcPts val="600"/>
              </a:spcAft>
              <a:buNone/>
            </a:pP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=&gt; Quan trọng trong các tác vụ NLP</a:t>
            </a:r>
          </a:p>
        </p:txBody>
      </p:sp>
    </p:spTree>
    <p:extLst>
      <p:ext uri="{BB962C8B-B14F-4D97-AF65-F5344CB8AC3E}">
        <p14:creationId xmlns:p14="http://schemas.microsoft.com/office/powerpoint/2010/main" val="41047959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C11CCA-7AEB-E16D-B0FF-1CCF9C075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EDFB31-1C07-2BAB-6957-BD738B9FB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B49CF-75E2-C360-A3A0-62F680E46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14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lnSpc>
                <a:spcPct val="114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3.6.2. Các mô hình embedding đề xuất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all-MiniLM-L6-v2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bert-base-vietnamese-uncased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distiluse-base-multilingual-cased-v2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multilingual-e5-small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sup-SimSCE-VietNamese-phobert-base</a:t>
            </a:r>
          </a:p>
          <a:p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vietnamese-bi-encoder</a:t>
            </a:r>
            <a:endParaRPr lang="en-US" sz="24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9785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A820FD-0A4C-C54D-2DFC-72323CFEAB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730086"/>
              </p:ext>
            </p:extLst>
          </p:nvPr>
        </p:nvGraphicFramePr>
        <p:xfrm>
          <a:off x="168165" y="993863"/>
          <a:ext cx="11855669" cy="531046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640377">
                  <a:extLst>
                    <a:ext uri="{9D8B030D-6E8A-4147-A177-3AD203B41FA5}">
                      <a16:colId xmlns:a16="http://schemas.microsoft.com/office/drawing/2014/main" val="21212387"/>
                    </a:ext>
                  </a:extLst>
                </a:gridCol>
                <a:gridCol w="1108079">
                  <a:extLst>
                    <a:ext uri="{9D8B030D-6E8A-4147-A177-3AD203B41FA5}">
                      <a16:colId xmlns:a16="http://schemas.microsoft.com/office/drawing/2014/main" val="3098293506"/>
                    </a:ext>
                  </a:extLst>
                </a:gridCol>
                <a:gridCol w="1314156">
                  <a:extLst>
                    <a:ext uri="{9D8B030D-6E8A-4147-A177-3AD203B41FA5}">
                      <a16:colId xmlns:a16="http://schemas.microsoft.com/office/drawing/2014/main" val="1314405756"/>
                    </a:ext>
                  </a:extLst>
                </a:gridCol>
                <a:gridCol w="1318432">
                  <a:extLst>
                    <a:ext uri="{9D8B030D-6E8A-4147-A177-3AD203B41FA5}">
                      <a16:colId xmlns:a16="http://schemas.microsoft.com/office/drawing/2014/main" val="3674700715"/>
                    </a:ext>
                  </a:extLst>
                </a:gridCol>
                <a:gridCol w="1471737">
                  <a:extLst>
                    <a:ext uri="{9D8B030D-6E8A-4147-A177-3AD203B41FA5}">
                      <a16:colId xmlns:a16="http://schemas.microsoft.com/office/drawing/2014/main" val="3069290537"/>
                    </a:ext>
                  </a:extLst>
                </a:gridCol>
                <a:gridCol w="1203398">
                  <a:extLst>
                    <a:ext uri="{9D8B030D-6E8A-4147-A177-3AD203B41FA5}">
                      <a16:colId xmlns:a16="http://schemas.microsoft.com/office/drawing/2014/main" val="14666281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3198331372"/>
                    </a:ext>
                  </a:extLst>
                </a:gridCol>
                <a:gridCol w="1103587">
                  <a:extLst>
                    <a:ext uri="{9D8B030D-6E8A-4147-A177-3AD203B41FA5}">
                      <a16:colId xmlns:a16="http://schemas.microsoft.com/office/drawing/2014/main" val="3783402126"/>
                    </a:ext>
                  </a:extLst>
                </a:gridCol>
                <a:gridCol w="1324303">
                  <a:extLst>
                    <a:ext uri="{9D8B030D-6E8A-4147-A177-3AD203B41FA5}">
                      <a16:colId xmlns:a16="http://schemas.microsoft.com/office/drawing/2014/main" val="1732880498"/>
                    </a:ext>
                  </a:extLst>
                </a:gridCol>
              </a:tblGrid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Kiến trúc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vào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đầu 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Transformer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attention 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</a:t>
                      </a:r>
                    </a:p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lớp 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tham số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lưu trữ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355500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~ 22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9001891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  <a:endParaRPr lang="en-US" sz="1600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418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6594544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Distil-BERT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~135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 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108459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22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86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4910588"/>
                  </a:ext>
                </a:extLst>
              </a:tr>
              <a:tr h="870568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sup-SimSCE-VietNamese-phobert-base</a:t>
                      </a:r>
                      <a:endParaRPr lang="en-US" sz="1600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0177079"/>
                  </a:ext>
                </a:extLst>
              </a:tr>
              <a:tr h="609397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~110 triệu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420 MB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4587989"/>
                  </a:ext>
                </a:extLst>
              </a:tr>
            </a:tbl>
          </a:graphicData>
        </a:graphic>
      </p:graphicFrame>
      <p:sp>
        <p:nvSpPr>
          <p:cNvPr id="5" name="Title 2">
            <a:extLst>
              <a:ext uri="{FF2B5EF4-FFF2-40B4-BE49-F238E27FC236}">
                <a16:creationId xmlns:a16="http://schemas.microsoft.com/office/drawing/2014/main" id="{F11C380E-A584-A080-54F1-38C1B5971000}"/>
              </a:ext>
            </a:extLst>
          </p:cNvPr>
          <p:cNvSpPr txBox="1">
            <a:spLocks/>
          </p:cNvSpPr>
          <p:nvPr/>
        </p:nvSpPr>
        <p:spPr>
          <a:xfrm>
            <a:off x="838200" y="191704"/>
            <a:ext cx="10515600" cy="501023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Thông số của các mô hình embedding đề xuất</a:t>
            </a:r>
          </a:p>
        </p:txBody>
      </p:sp>
    </p:spTree>
    <p:extLst>
      <p:ext uri="{BB962C8B-B14F-4D97-AF65-F5344CB8AC3E}">
        <p14:creationId xmlns:p14="http://schemas.microsoft.com/office/powerpoint/2010/main" val="4641629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CBF554-FD2E-8730-9797-3764FF29E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2F1D20-4453-9FE1-C1BD-6C1ED75FCE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1BD8C2-9833-F331-6FB5-756CD9B1E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3A76678F-A589-E32F-2E40-A0C481536E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5B47B-BB8E-2237-9051-3A138BF2E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lnSpc>
                <a:spcPct val="114000"/>
              </a:lnSpc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lnSpc>
                <a:spcPct val="114000"/>
              </a:lnSpc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3.6.3. Đánh giá hiệu quả phân tách từ (tokenization)</a:t>
            </a:r>
          </a:p>
          <a:p>
            <a:pPr marL="0" indent="0">
              <a:lnSpc>
                <a:spcPct val="114000"/>
              </a:lnSpc>
              <a:buNone/>
            </a:pPr>
            <a:r>
              <a:rPr lang="en-US" sz="20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Mục tiêu: </a:t>
            </a:r>
          </a:p>
          <a:p>
            <a:pPr>
              <a:lnSpc>
                <a:spcPct val="114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Kiểm tra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sự chính xác của mô hình embedding khi phân tách từ</a:t>
            </a:r>
          </a:p>
          <a:p>
            <a:pPr>
              <a:lnSpc>
                <a:spcPct val="114000"/>
              </a:lnSpc>
            </a:pPr>
            <a:r>
              <a:rPr lang="en-US" sz="20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Lựa chọn </a:t>
            </a:r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mô hình phù hợp nhất với đặc thù ngôn ngữ</a:t>
            </a:r>
          </a:p>
        </p:txBody>
      </p:sp>
    </p:spTree>
    <p:extLst>
      <p:ext uri="{BB962C8B-B14F-4D97-AF65-F5344CB8AC3E}">
        <p14:creationId xmlns:p14="http://schemas.microsoft.com/office/powerpoint/2010/main" val="15014792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87E0ACF-349E-0BF7-EF6C-7597D8A62E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278428"/>
              </p:ext>
            </p:extLst>
          </p:nvPr>
        </p:nvGraphicFramePr>
        <p:xfrm>
          <a:off x="207579" y="1923394"/>
          <a:ext cx="11776841" cy="4675458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2760210">
                  <a:extLst>
                    <a:ext uri="{9D8B030D-6E8A-4147-A177-3AD203B41FA5}">
                      <a16:colId xmlns:a16="http://schemas.microsoft.com/office/drawing/2014/main" val="3401729846"/>
                    </a:ext>
                  </a:extLst>
                </a:gridCol>
                <a:gridCol w="9016631">
                  <a:extLst>
                    <a:ext uri="{9D8B030D-6E8A-4147-A177-3AD203B41FA5}">
                      <a16:colId xmlns:a16="http://schemas.microsoft.com/office/drawing/2014/main" val="1479469748"/>
                    </a:ext>
                  </a:extLst>
                </a:gridCol>
              </a:tblGrid>
              <a:tr h="163987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Kết quả tokenization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999059"/>
                  </a:ext>
                </a:extLst>
              </a:tr>
              <a:tr h="528343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'chu', '##ong', ':', 'bu', '##oi', 'đ', '##au', 'li', '##ch', 'su', 'nu', '##oc', 'ta', '[UNK]', '[UNK]', '(', '[UNK]', ')',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390032"/>
                  </a:ext>
                </a:extLst>
              </a:tr>
              <a:tr h="636140">
                <a:tc>
                  <a:txBody>
                    <a:bodyPr/>
                    <a:lstStyle/>
                    <a:p>
                      <a:pPr indent="0" algn="ctr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'chuong', '[UNK]', 'bu', '##o', '##i', 'đau', 'lich', 'su', 'nu', '##oc', 'ta', '[UNK]', '[UNK]', '[UNK]', '[UNK]', '[UNK]', '[UNK]', '[UNK]',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2113233"/>
                  </a:ext>
                </a:extLst>
              </a:tr>
              <a:tr h="526950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['[CLS]', 'Chương', ':', '[UNK]', '[UNK]', '[UNK]', '[UNK]', '[UNK]', 'TA', '[UNK]', '[UNK]', '(', '[UNK]', ')', 'ʃ', '##♪',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'[UNK]', '[SEP]']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5829504"/>
                  </a:ext>
                </a:extLst>
              </a:tr>
              <a:tr h="710521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'▁Chương', ':', '▁BU', 'Ổ', 'I', '▁Đ', 'Ầ', 'U', '▁L', 'Ị', 'CH', '▁S', 'Ử', '▁N', 'ƯỚC', '▁TA', '▁', '❉', '▁', '♡', '&lt;unk&gt;', '(', 'ˆ', '◡', 'ˆ', ')', 'ʃ', '♪', '▁', '</a:t>
                      </a: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卍</a:t>
                      </a: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', '▁',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6756113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9388337"/>
                  </a:ext>
                </a:extLst>
              </a:tr>
              <a:tr h="892698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['&lt;s&gt;', 'Ch@@', 'ương@@', ':', 'B@@', 'U@@', 'ỔI', 'Đ@@', 'Ầ@@', 'U', 'L@@', 'Ị@@', 'CH', 'S@@', 'Ử', 'N@@', 'ƯỚC', 'TA', '&lt;unk&gt;', '&lt;unk&gt;', '&lt;unk&gt;', '(@@', '&lt;unk&gt;', '&lt;unk&gt;', '&lt;unk&gt;', ')@@', 'ʃ@@', '&lt;unk&gt;', '&lt;unk&gt;', '&lt;unk&gt;', '&lt;/s&gt;']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Arial" panose="020B06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8509" marR="48509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6204143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4A095392-C4EE-B911-E83F-6C32886D405E}"/>
              </a:ext>
            </a:extLst>
          </p:cNvPr>
          <p:cNvSpPr txBox="1">
            <a:spLocks/>
          </p:cNvSpPr>
          <p:nvPr/>
        </p:nvSpPr>
        <p:spPr>
          <a:xfrm>
            <a:off x="838199" y="1263761"/>
            <a:ext cx="10515600" cy="6596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Chuỗi mẫu</a:t>
            </a:r>
            <a:r>
              <a:rPr lang="en-US" sz="3200" i="1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/>
              <a:t>Chương: BUỔI ĐẦU LỊCH SỬ NƯỚC TA❉ ♡ƪ(ˆ◡ˆ)ʃ♪ </a:t>
            </a:r>
            <a:r>
              <a:rPr lang="en-US"/>
              <a:t>卍</a:t>
            </a:r>
            <a:r>
              <a:rPr lang="vi-VN"/>
              <a:t> ₯</a:t>
            </a:r>
            <a:endParaRPr lang="en-US" sz="3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2062D12-AEFD-707C-293E-C11A28C1B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9634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phân tách trên chuỗi mẫu</a:t>
            </a:r>
          </a:p>
        </p:txBody>
      </p:sp>
    </p:spTree>
    <p:extLst>
      <p:ext uri="{BB962C8B-B14F-4D97-AF65-F5344CB8AC3E}">
        <p14:creationId xmlns:p14="http://schemas.microsoft.com/office/powerpoint/2010/main" val="7182824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506D8-12A7-80B9-4580-E8681FE76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2081-EAEB-CF98-E121-58CA67A49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432C7-826B-0CCD-CE1A-C4B7C87C7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3.6.3. Đánh giá hiệu quả phân tách từ trên một mẫu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(nhận xét bảng kết quả tokenization trên mẫu dữ liệu đặc biệt)</a:t>
            </a:r>
          </a:p>
        </p:txBody>
      </p:sp>
    </p:spTree>
    <p:extLst>
      <p:ext uri="{BB962C8B-B14F-4D97-AF65-F5344CB8AC3E}">
        <p14:creationId xmlns:p14="http://schemas.microsoft.com/office/powerpoint/2010/main" val="13114736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46313-0D2E-6CBB-D691-AD340309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0640D0E-4305-0D41-B0A5-0C7E567E7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819937"/>
              </p:ext>
            </p:extLst>
          </p:nvPr>
        </p:nvGraphicFramePr>
        <p:xfrm>
          <a:off x="619625" y="1254533"/>
          <a:ext cx="10952748" cy="5329156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2625367">
                  <a:extLst>
                    <a:ext uri="{9D8B030D-6E8A-4147-A177-3AD203B41FA5}">
                      <a16:colId xmlns:a16="http://schemas.microsoft.com/office/drawing/2014/main" val="33511137"/>
                    </a:ext>
                  </a:extLst>
                </a:gridCol>
                <a:gridCol w="1456188">
                  <a:extLst>
                    <a:ext uri="{9D8B030D-6E8A-4147-A177-3AD203B41FA5}">
                      <a16:colId xmlns:a16="http://schemas.microsoft.com/office/drawing/2014/main" val="1454479095"/>
                    </a:ext>
                  </a:extLst>
                </a:gridCol>
                <a:gridCol w="1483778">
                  <a:extLst>
                    <a:ext uri="{9D8B030D-6E8A-4147-A177-3AD203B41FA5}">
                      <a16:colId xmlns:a16="http://schemas.microsoft.com/office/drawing/2014/main" val="881516949"/>
                    </a:ext>
                  </a:extLst>
                </a:gridCol>
                <a:gridCol w="1812859">
                  <a:extLst>
                    <a:ext uri="{9D8B030D-6E8A-4147-A177-3AD203B41FA5}">
                      <a16:colId xmlns:a16="http://schemas.microsoft.com/office/drawing/2014/main" val="3675780894"/>
                    </a:ext>
                  </a:extLst>
                </a:gridCol>
                <a:gridCol w="2108709">
                  <a:extLst>
                    <a:ext uri="{9D8B030D-6E8A-4147-A177-3AD203B41FA5}">
                      <a16:colId xmlns:a16="http://schemas.microsoft.com/office/drawing/2014/main" val="3930906896"/>
                    </a:ext>
                  </a:extLst>
                </a:gridCol>
                <a:gridCol w="1465847">
                  <a:extLst>
                    <a:ext uri="{9D8B030D-6E8A-4147-A177-3AD203B41FA5}">
                      <a16:colId xmlns:a16="http://schemas.microsoft.com/office/drawing/2014/main" val="344327779"/>
                    </a:ext>
                  </a:extLst>
                </a:gridCol>
              </a:tblGrid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Tên mô hình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avg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std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tokens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subword rate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OOV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5257820"/>
                  </a:ext>
                </a:extLst>
              </a:tr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vi-VN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all-MiniLM-L6-v2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332.72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195.55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3520446"/>
                  </a:ext>
                </a:extLst>
              </a:tr>
              <a:tr h="834044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bert-base-vietnamese-uncased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402.99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354.15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2240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0.17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8755686"/>
                  </a:ext>
                </a:extLst>
              </a:tr>
              <a:tr h="834044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distiluse-base-multilingual-cased-v2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295.42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188.49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3300722"/>
                  </a:ext>
                </a:extLst>
              </a:tr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multilingual-e5-small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293.46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185.51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0.78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1936575"/>
                  </a:ext>
                </a:extLst>
              </a:tr>
              <a:tr h="834044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sup-SimCSE-VietNamese-phobert-base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188.19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823945"/>
                  </a:ext>
                </a:extLst>
              </a:tr>
              <a:tr h="706756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 b="0" i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vietnamese-bi-encoder</a:t>
                      </a:r>
                      <a:endParaRPr lang="en-US" sz="1600" b="0" i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368.92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313.05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1932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0.21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6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  <a:endParaRPr lang="en-US" sz="16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60030" marR="6003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8132519"/>
                  </a:ext>
                </a:extLst>
              </a:tr>
            </a:tbl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E7C48419-7D86-F25F-5DAB-532E2428B255}"/>
              </a:ext>
            </a:extLst>
          </p:cNvPr>
          <p:cNvSpPr txBox="1">
            <a:spLocks/>
          </p:cNvSpPr>
          <p:nvPr/>
        </p:nvSpPr>
        <p:spPr>
          <a:xfrm>
            <a:off x="838199" y="274311"/>
            <a:ext cx="10515600" cy="659634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phân tách trên tập dữ liệu</a:t>
            </a:r>
          </a:p>
        </p:txBody>
      </p:sp>
    </p:spTree>
    <p:extLst>
      <p:ext uri="{BB962C8B-B14F-4D97-AF65-F5344CB8AC3E}">
        <p14:creationId xmlns:p14="http://schemas.microsoft.com/office/powerpoint/2010/main" val="20216427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6D6D8-580E-A715-E73C-1DC1D6D41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50CE9-4A1A-1DDA-9A71-A55757A43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65618-7B86-8D88-784B-73AC66DE7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3.6.4. Đánh giá hiệu quả phân tách từ trên tập dữ liệu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(nhận xét bảng kết quả tokenization trên tập dữ liệu)</a:t>
            </a:r>
          </a:p>
        </p:txBody>
      </p:sp>
    </p:spTree>
    <p:extLst>
      <p:ext uri="{BB962C8B-B14F-4D97-AF65-F5344CB8AC3E}">
        <p14:creationId xmlns:p14="http://schemas.microsoft.com/office/powerpoint/2010/main" val="2888129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1023D-F75B-7B92-1BAD-FBBB203FE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97D335CB-5480-39C8-2510-982CB54D3E7E}"/>
              </a:ext>
            </a:extLst>
          </p:cNvPr>
          <p:cNvSpPr txBox="1">
            <a:spLocks/>
          </p:cNvSpPr>
          <p:nvPr/>
        </p:nvSpPr>
        <p:spPr>
          <a:xfrm>
            <a:off x="838199" y="274311"/>
            <a:ext cx="10515600" cy="659634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Hiệu quả embedding trên tập dữ liệu</a:t>
            </a:r>
          </a:p>
        </p:txBody>
      </p:sp>
    </p:spTree>
    <p:extLst>
      <p:ext uri="{BB962C8B-B14F-4D97-AF65-F5344CB8AC3E}">
        <p14:creationId xmlns:p14="http://schemas.microsoft.com/office/powerpoint/2010/main" val="28508435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DC1EB-57D0-CE2E-F804-8293C37DA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2534C-1A65-AC6B-ED8F-119B4E144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1E2DD-8D26-B351-3EFE-0290E5C24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3.6. Mô hình embedding đề xuất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3.6.5. Đánh giá hiệu quả embedding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(nhận xét bảng đánh giá hiệu quả embedding)</a:t>
            </a:r>
          </a:p>
        </p:txBody>
      </p:sp>
    </p:spTree>
    <p:extLst>
      <p:ext uri="{BB962C8B-B14F-4D97-AF65-F5344CB8AC3E}">
        <p14:creationId xmlns:p14="http://schemas.microsoft.com/office/powerpoint/2010/main" val="39320750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199D51-CA24-5815-C87D-A2906DEA0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841A5-4779-46E8-E065-806F5D403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3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6E4B9-CE77-EC58-7A4D-845BA2DBD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3.7. Các LLM đề xuất</a:t>
            </a:r>
          </a:p>
          <a:p>
            <a:pPr marL="0" indent="0"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3.7.1. Thông số các LLM đề xuất</a:t>
            </a:r>
            <a:endParaRPr lang="en-US" sz="24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0D228BD-FE8D-0B5D-352E-7A1C2E9638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62897"/>
              </p:ext>
            </p:extLst>
          </p:nvPr>
        </p:nvGraphicFramePr>
        <p:xfrm>
          <a:off x="630936" y="2333907"/>
          <a:ext cx="10917937" cy="387341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451642">
                  <a:extLst>
                    <a:ext uri="{9D8B030D-6E8A-4147-A177-3AD203B41FA5}">
                      <a16:colId xmlns:a16="http://schemas.microsoft.com/office/drawing/2014/main" val="693161458"/>
                    </a:ext>
                  </a:extLst>
                </a:gridCol>
                <a:gridCol w="2038175">
                  <a:extLst>
                    <a:ext uri="{9D8B030D-6E8A-4147-A177-3AD203B41FA5}">
                      <a16:colId xmlns:a16="http://schemas.microsoft.com/office/drawing/2014/main" val="3518794994"/>
                    </a:ext>
                  </a:extLst>
                </a:gridCol>
                <a:gridCol w="2603446">
                  <a:extLst>
                    <a:ext uri="{9D8B030D-6E8A-4147-A177-3AD203B41FA5}">
                      <a16:colId xmlns:a16="http://schemas.microsoft.com/office/drawing/2014/main" val="1480643193"/>
                    </a:ext>
                  </a:extLst>
                </a:gridCol>
                <a:gridCol w="1684631">
                  <a:extLst>
                    <a:ext uri="{9D8B030D-6E8A-4147-A177-3AD203B41FA5}">
                      <a16:colId xmlns:a16="http://schemas.microsoft.com/office/drawing/2014/main" val="4262199494"/>
                    </a:ext>
                  </a:extLst>
                </a:gridCol>
                <a:gridCol w="2140043">
                  <a:extLst>
                    <a:ext uri="{9D8B030D-6E8A-4147-A177-3AD203B41FA5}">
                      <a16:colId xmlns:a16="http://schemas.microsoft.com/office/drawing/2014/main" val="2223393053"/>
                    </a:ext>
                  </a:extLst>
                </a:gridCol>
              </a:tblGrid>
              <a:tr h="544579"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Mô hình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8073651"/>
                  </a:ext>
                </a:extLst>
              </a:tr>
              <a:tr h="544579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144492"/>
                  </a:ext>
                </a:extLst>
              </a:tr>
              <a:tr h="928085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</a:t>
                      </a:r>
                    </a:p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tham số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 tỷ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Không rõ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 tỷ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 tỷ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4914303"/>
                  </a:ext>
                </a:extLst>
              </a:tr>
              <a:tr h="928085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vào tối đa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256 nghìn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1.048.576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128.000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32.768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760618"/>
                  </a:ext>
                </a:extLst>
              </a:tr>
              <a:tr h="928085">
                <a:tc>
                  <a:txBody>
                    <a:bodyPr/>
                    <a:lstStyle/>
                    <a:p>
                      <a:pPr algn="ctr"/>
                      <a:r>
                        <a:rPr lang="en-US" sz="2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lượng token đầu ra tối đa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8 nghìn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8.192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2.048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4.096</a:t>
                      </a:r>
                    </a:p>
                  </a:txBody>
                  <a:tcPr marL="115052" marR="115052" marT="57526" marB="5752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8413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89743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84F37D-2534-56DD-E6E5-8B84B1B6F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C3DB59-254B-2016-9FC0-FD7E177C2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34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EF084-6CE4-6BFE-CDB7-4337C13BC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3.7. Các LLM đề xuất</a:t>
            </a:r>
          </a:p>
          <a:p>
            <a:pPr marL="0" indent="0"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3.7.2. Kết quả benchmark các LLM đề xuất</a:t>
            </a:r>
            <a:endParaRPr lang="en-US" sz="24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8F379E2-5387-C230-8A7F-E665DA84EB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719091"/>
              </p:ext>
            </p:extLst>
          </p:nvPr>
        </p:nvGraphicFramePr>
        <p:xfrm>
          <a:off x="630936" y="2466037"/>
          <a:ext cx="10917939" cy="360915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401022">
                  <a:extLst>
                    <a:ext uri="{9D8B030D-6E8A-4147-A177-3AD203B41FA5}">
                      <a16:colId xmlns:a16="http://schemas.microsoft.com/office/drawing/2014/main" val="295268228"/>
                    </a:ext>
                  </a:extLst>
                </a:gridCol>
                <a:gridCol w="2261937">
                  <a:extLst>
                    <a:ext uri="{9D8B030D-6E8A-4147-A177-3AD203B41FA5}">
                      <a16:colId xmlns:a16="http://schemas.microsoft.com/office/drawing/2014/main" val="3669753581"/>
                    </a:ext>
                  </a:extLst>
                </a:gridCol>
                <a:gridCol w="1971637">
                  <a:extLst>
                    <a:ext uri="{9D8B030D-6E8A-4147-A177-3AD203B41FA5}">
                      <a16:colId xmlns:a16="http://schemas.microsoft.com/office/drawing/2014/main" val="3550204363"/>
                    </a:ext>
                  </a:extLst>
                </a:gridCol>
                <a:gridCol w="2071811">
                  <a:extLst>
                    <a:ext uri="{9D8B030D-6E8A-4147-A177-3AD203B41FA5}">
                      <a16:colId xmlns:a16="http://schemas.microsoft.com/office/drawing/2014/main" val="3573652473"/>
                    </a:ext>
                  </a:extLst>
                </a:gridCol>
                <a:gridCol w="2211532">
                  <a:extLst>
                    <a:ext uri="{9D8B030D-6E8A-4147-A177-3AD203B41FA5}">
                      <a16:colId xmlns:a16="http://schemas.microsoft.com/office/drawing/2014/main" val="1885265825"/>
                    </a:ext>
                  </a:extLst>
                </a:gridCol>
              </a:tblGrid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Tiêu chí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Gemini 2.0 Flash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Command A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LLaMA 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i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Large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1146620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Nhà cung cấp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Deepmind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Cohere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Mistral AI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9030216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 bình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60.05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52.32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46.42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50.25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301820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Suy luận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44.25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32.46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30.90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33.83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2965621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Lập trình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64.74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40.70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49.23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62.89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101981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Toán học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63.19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34.23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39.33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42.20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238244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Phân tích dữ liệu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59.92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73.85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38.75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54.20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5126792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Ngôn ngữ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42.39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46.29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41.77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40.45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109131"/>
                  </a:ext>
                </a:extLst>
              </a:tr>
              <a:tr h="401017"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Tuân thủ mệnh lệnh</a:t>
                      </a:r>
                      <a:endParaRPr lang="en-US" sz="2000" b="1" i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85.79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86.42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78.54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67.93</a:t>
                      </a:r>
                    </a:p>
                  </a:txBody>
                  <a:tcPr marL="84722" marR="84722" marT="42361" marB="423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6208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81523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251D1-CC74-7F7A-BD9E-B224329F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08208A-BDFC-5FB0-0BD5-55A478AC0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en-US" sz="46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D4D45-C149-0C95-D73E-E8B565FC7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664886"/>
            <a:ext cx="4818888" cy="3550789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sz="2200" b="1">
                <a:latin typeface="Times New Roman" panose="02020603050405020304" pitchFamily="18" charset="0"/>
                <a:cs typeface="Times New Roman" panose="02020603050405020304" pitchFamily="18" charset="0"/>
              </a:rPr>
              <a:t>.8. Tinh chỉnh Whisper</a:t>
            </a:r>
          </a:p>
          <a:p>
            <a:pPr marL="0" indent="0">
              <a:buNone/>
            </a:pP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3.8.1. Giới thiệu Whisper</a:t>
            </a:r>
          </a:p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Do OpenAI phát triển cho tác vụ 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chuyển đổi âm thanh thành văn bản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200" b="1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22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 phiên bản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 đã huấn luyện trước.</a:t>
            </a:r>
            <a:endParaRPr lang="en-US" sz="2200" b="1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E50CD49-46CA-892C-C808-D36CB0FF8A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788653"/>
              </p:ext>
            </p:extLst>
          </p:nvPr>
        </p:nvGraphicFramePr>
        <p:xfrm>
          <a:off x="630936" y="1477102"/>
          <a:ext cx="5458970" cy="3903799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810316">
                  <a:extLst>
                    <a:ext uri="{9D8B030D-6E8A-4147-A177-3AD203B41FA5}">
                      <a16:colId xmlns:a16="http://schemas.microsoft.com/office/drawing/2014/main" val="2573840047"/>
                    </a:ext>
                  </a:extLst>
                </a:gridCol>
                <a:gridCol w="780561">
                  <a:extLst>
                    <a:ext uri="{9D8B030D-6E8A-4147-A177-3AD203B41FA5}">
                      <a16:colId xmlns:a16="http://schemas.microsoft.com/office/drawing/2014/main" val="3962929762"/>
                    </a:ext>
                  </a:extLst>
                </a:gridCol>
                <a:gridCol w="592116">
                  <a:extLst>
                    <a:ext uri="{9D8B030D-6E8A-4147-A177-3AD203B41FA5}">
                      <a16:colId xmlns:a16="http://schemas.microsoft.com/office/drawing/2014/main" val="1973781713"/>
                    </a:ext>
                  </a:extLst>
                </a:gridCol>
                <a:gridCol w="879743">
                  <a:extLst>
                    <a:ext uri="{9D8B030D-6E8A-4147-A177-3AD203B41FA5}">
                      <a16:colId xmlns:a16="http://schemas.microsoft.com/office/drawing/2014/main" val="596668744"/>
                    </a:ext>
                  </a:extLst>
                </a:gridCol>
                <a:gridCol w="765684">
                  <a:extLst>
                    <a:ext uri="{9D8B030D-6E8A-4147-A177-3AD203B41FA5}">
                      <a16:colId xmlns:a16="http://schemas.microsoft.com/office/drawing/2014/main" val="1895498694"/>
                    </a:ext>
                  </a:extLst>
                </a:gridCol>
                <a:gridCol w="706175">
                  <a:extLst>
                    <a:ext uri="{9D8B030D-6E8A-4147-A177-3AD203B41FA5}">
                      <a16:colId xmlns:a16="http://schemas.microsoft.com/office/drawing/2014/main" val="2725914928"/>
                    </a:ext>
                  </a:extLst>
                </a:gridCol>
                <a:gridCol w="924375">
                  <a:extLst>
                    <a:ext uri="{9D8B030D-6E8A-4147-A177-3AD203B41FA5}">
                      <a16:colId xmlns:a16="http://schemas.microsoft.com/office/drawing/2014/main" val="4003335631"/>
                    </a:ext>
                  </a:extLst>
                </a:gridCol>
              </a:tblGrid>
              <a:tr h="1114804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Phiên bản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lớp mã hóa/giải mã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chiều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Attention head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Số tham số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Tốc độ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Độ chính xác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8342617"/>
                  </a:ext>
                </a:extLst>
              </a:tr>
              <a:tr h="557799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Tiny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39 triệu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Nhanh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 nhất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2179885"/>
                  </a:ext>
                </a:extLst>
              </a:tr>
              <a:tr h="557799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74 triệu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Rất nhanh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Tốt hơn tiny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1162558"/>
                  </a:ext>
                </a:extLst>
              </a:tr>
              <a:tr h="557799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Small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768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244 triệu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Vừa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Ổn định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196221"/>
                  </a:ext>
                </a:extLst>
              </a:tr>
              <a:tr h="557799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Medium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1024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769 triệu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Chậm hơn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1414307"/>
                  </a:ext>
                </a:extLst>
              </a:tr>
              <a:tr h="557799"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Large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1280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 1550 triệu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Chậm nhất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3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4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 nhất</a:t>
                      </a:r>
                      <a:endParaRPr lang="en-US" sz="14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53558" marR="5355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52545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281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43AD13-9C52-3AA6-5C20-D6F45AE88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9D47016-023F-44BD-981C-50E7A10A6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09EE42-DDDC-E595-60D7-7053A9925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7200"/>
            <a:ext cx="4343400" cy="1929384"/>
          </a:xfrm>
        </p:spPr>
        <p:txBody>
          <a:bodyPr anchor="ctr">
            <a:normAutofit/>
          </a:bodyPr>
          <a:lstStyle/>
          <a:p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6D8B37B0-0682-433E-BC8D-498C04ABD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471415" y="1412748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93129-9393-70F8-61A0-2BEF79929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1263" y="457200"/>
            <a:ext cx="6007608" cy="192938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b="1" i="1">
                <a:latin typeface="Times New Roman" panose="02020603050405020304" pitchFamily="18" charset="0"/>
                <a:cs typeface="Times New Roman" panose="02020603050405020304" pitchFamily="18" charset="0"/>
              </a:rPr>
              <a:t>3.8.1. Giới thiệu Whisper</a:t>
            </a:r>
          </a:p>
          <a:p>
            <a:pPr marL="0" indent="0">
              <a:buNone/>
            </a:pPr>
            <a:r>
              <a:rPr lang="en-US" sz="2200" i="1" u="sng">
                <a:latin typeface="Times New Roman" panose="02020603050405020304" pitchFamily="18" charset="0"/>
                <a:cs typeface="Times New Roman" panose="02020603050405020304" pitchFamily="18" charset="0"/>
              </a:rPr>
              <a:t>Dữ liệu huấn luyện trước Whisper:</a:t>
            </a:r>
          </a:p>
        </p:txBody>
      </p:sp>
      <p:pic>
        <p:nvPicPr>
          <p:cNvPr id="5" name="Picture 4" descr="A blue pie chart with green and blue text&#10;&#10;AI-generated content may be incorrect.">
            <a:extLst>
              <a:ext uri="{FF2B5EF4-FFF2-40B4-BE49-F238E27FC236}">
                <a16:creationId xmlns:a16="http://schemas.microsoft.com/office/drawing/2014/main" id="{8F84A54D-FAFA-5FA0-02BF-29DBAC800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919" y="2569464"/>
            <a:ext cx="3586961" cy="3678936"/>
          </a:xfrm>
          <a:prstGeom prst="rect">
            <a:avLst/>
          </a:prstGeom>
        </p:spPr>
      </p:pic>
      <p:pic>
        <p:nvPicPr>
          <p:cNvPr id="4" name="Picture 3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57F4C595-A815-C5CE-EEBB-50B4C2EB4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726" y="2569464"/>
            <a:ext cx="4921652" cy="3678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0794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A8DC1-D966-7E09-F727-4BC217D54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3300-52B0-CBDF-8170-B72DB0B41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F1B2C-FF00-BA44-899A-4DA91CB5D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3.8.2. Kiến trúc của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E48088A-2782-C6E7-4E1E-A6FCD7248B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922" t="9618" r="18858" b="8876"/>
          <a:stretch>
            <a:fillRect/>
          </a:stretch>
        </p:blipFill>
        <p:spPr bwMode="auto">
          <a:xfrm>
            <a:off x="5410200" y="1395662"/>
            <a:ext cx="5943600" cy="493204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3965891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DBC1E-5CD2-7A9E-DD1D-5A10306C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83D26-F692-94C8-0DD1-0897BBD72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753D4-D8D5-965C-A346-B95F91446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3.8.2. Kiến trúc của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(mô tả 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1357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E89836-4D95-297E-FCC5-032B1C08E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174281-D0B7-38B0-490D-1DF323F6D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749A7-4E64-CB90-85C4-303831836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2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phương pháp đề xuất)</a:t>
            </a:r>
          </a:p>
        </p:txBody>
      </p:sp>
      <p:pic>
        <p:nvPicPr>
          <p:cNvPr id="4" name="Picture 3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8C974DDE-764C-494F-06D5-BB0FB54B7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875663"/>
            <a:ext cx="6903720" cy="310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3000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DEF6C-3A64-6AEC-98BC-BE9382234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98E91-EB56-DD18-0075-0162885AF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075FB-E797-B50C-621C-1394D2998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(thu thập dữ liệu: mục tiêu thu thập, yêu cầu về dữ liệu)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9228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E1224-7BF9-C745-EBBE-F61B826C3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7D385-BA61-F762-2829-7F0792017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167E2-C8FA-60E0-B09A-7B2A1B22C9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(thu thập dữ liệu: bảng thông số các tập dữ liệu)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1005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D4E49-9539-DEAA-88B8-9DDB25CE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6B515-688B-5152-9649-ABD133A27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42E39-B269-EE8B-2F50-10A8CC7A9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(tiền xử lý dữ liệu: mục tiêu tiền xử lý; mô tả các bước, có thể thêm 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92659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0CA35-CD0E-14C0-54EA-664C86244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66B68-E7B1-2CF3-8373-D5DCB8921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FAA7-3A5E-C48D-58D7-CD48C4B71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(huấn luyện mô hình: mục tiêu của việc huấn luyện này; giải thích là chọn phiên bản nào và vì sao)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8422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CA812-BB7B-F5E6-865D-08D28128C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F7293-1D36-1734-8466-5F7E096B0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79466-57FB-248F-8F4C-6D3C795CC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(huấn luyện mô hình: các bước trong pipeline tinh chỉnh mô hình)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595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56A41-C96D-73E2-3C7D-6B89F7A36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AE392-A8B7-33B5-1D59-B95F2FF9B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7D7C7-3CEA-235C-0396-9FE50629F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(đánh giá sau huấn luyện: mục tiêu đánh giá; mô tả công thức tính và ý nghĩa của các chỉ số dùng để đánh giá các mô hình ASR như Whisper)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3320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AF5EE-7102-3123-9BC5-C3A21D084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EA807-9D84-ADAB-3F59-2F396A096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ĐỀ XUẤT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CE6FA-3E42-984D-059A-C6B81E3F8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3.8. Tinh chỉnh Whisper</a:t>
            </a:r>
          </a:p>
          <a:p>
            <a:pPr marL="0" indent="0">
              <a:buNone/>
            </a:pPr>
            <a:r>
              <a:rPr lang="en-US" sz="2400" i="1">
                <a:latin typeface="Times New Roman" panose="02020603050405020304" pitchFamily="18" charset="0"/>
                <a:cs typeface="Times New Roman" panose="02020603050405020304" pitchFamily="18" charset="0"/>
              </a:rPr>
              <a:t>3.8.3. Phương pháp đề xuất tinh chỉnh Whisper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(kết quả đánh giá: bảng biểu hoặc hình minh họa)</a:t>
            </a:r>
            <a:endParaRPr lang="en-US" sz="18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52455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AEB6-77F9-06FD-0DF3-319FA22EA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040AC-A611-B302-48CB-792EAD872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5D15E-0152-2C33-51AB-941B51F88AD3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3082297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C402B-6BEE-F7E4-2543-9E66F4C71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51DDD-6498-CDBD-C1ED-7B2C69398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E6EF6-E176-0345-B881-7F1A9C731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4.1. Phân tích thiết kế hệ thống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(các yêu cầu chức năng và phi chức năng của hệ thống)</a:t>
            </a:r>
          </a:p>
        </p:txBody>
      </p:sp>
    </p:spTree>
    <p:extLst>
      <p:ext uri="{BB962C8B-B14F-4D97-AF65-F5344CB8AC3E}">
        <p14:creationId xmlns:p14="http://schemas.microsoft.com/office/powerpoint/2010/main" val="30054467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27E30-325D-EBDB-B099-EE372FA5C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D8EDD-BAC9-2683-7DEE-A4AD587B4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043F-0B2E-DA0E-91F0-B39A4CCA3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4.1. Phân tích thiết kế hệ thống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(các chức năng của hệ thống)</a:t>
            </a:r>
          </a:p>
        </p:txBody>
      </p:sp>
    </p:spTree>
    <p:extLst>
      <p:ext uri="{BB962C8B-B14F-4D97-AF65-F5344CB8AC3E}">
        <p14:creationId xmlns:p14="http://schemas.microsoft.com/office/powerpoint/2010/main" val="25867744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DFD8-7446-46BD-0BB8-B1ECC6ED8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7FDF7-6435-4FC5-D038-7FBDBC4B1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A6021-BD73-AB08-B14C-5A58B0DD30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4.2. Biểu đồ usecase tổng quan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+ mô tả)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C9AB83A7-DE27-4785-C21F-674527DEE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9500" y="1649980"/>
            <a:ext cx="3412247" cy="4272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7719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603E7-09D3-1A2A-9D32-95754CBB0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067E-F186-499B-FA50-1DF36857B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1C08-1AB7-C541-9947-A95627AB2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4.3. Chức năng trò chuyện văn bản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(biểu đồ DFD + giải thích)</a:t>
            </a:r>
          </a:p>
        </p:txBody>
      </p:sp>
      <p:pic>
        <p:nvPicPr>
          <p:cNvPr id="5" name="Picture 4" descr="A group of white ovals with black text&#10;&#10;AI-generated content may be incorrect.">
            <a:extLst>
              <a:ext uri="{FF2B5EF4-FFF2-40B4-BE49-F238E27FC236}">
                <a16:creationId xmlns:a16="http://schemas.microsoft.com/office/drawing/2014/main" id="{5BC8B0F1-39C4-13FA-EF91-8EA88BA3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1716" y="4143022"/>
            <a:ext cx="7652084" cy="234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2003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E1AC0-A253-B353-B353-F77A7D76B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9023D-6B43-C98F-B157-B9876600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E0F91-BA6A-DA5A-2F4E-19C71D170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4.4. Chức năng trò chuyện thời gian thực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(biểu đồ DFD + giải thích)</a:t>
            </a:r>
          </a:p>
          <a:p>
            <a:pPr marL="0" indent="0">
              <a:buNone/>
            </a:pPr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A black and white oval with black text&#10;&#10;AI-generated content may be incorrect.">
            <a:extLst>
              <a:ext uri="{FF2B5EF4-FFF2-40B4-BE49-F238E27FC236}">
                <a16:creationId xmlns:a16="http://schemas.microsoft.com/office/drawing/2014/main" id="{400F4674-0E3F-118C-3473-4A0307914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242" y="3428331"/>
            <a:ext cx="8213558" cy="2748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2109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0B946-FBA5-024F-5FCC-365FD5D23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F6959-1F5F-001D-8F5E-919EBE303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TRIỂN KHAI CHỨC NĂNG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7D31B-8A07-4BAA-36AB-6D18D941E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4.5. Quy trình sinh phản hồi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(hình)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588A76-3B65-E831-E6CE-A29FE68295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1526" y="1989831"/>
            <a:ext cx="6322274" cy="450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4927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7F132-A3C1-65E2-CA1F-70B273CD6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79612-B223-DF9E-5901-FF63F3840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A6E3DC-DAEA-7161-D4F6-5C8D88839E03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1727146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83ED0-392B-BF43-E7A9-6059AC84C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727FE-5156-8EF1-5E69-5E7614EB4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26C19-B5EE-E427-0162-8BC77C2BCA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5.1. Chức năng trò chuyện văn bản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(kết quả triển khai)</a:t>
            </a:r>
          </a:p>
        </p:txBody>
      </p:sp>
    </p:spTree>
    <p:extLst>
      <p:ext uri="{BB962C8B-B14F-4D97-AF65-F5344CB8AC3E}">
        <p14:creationId xmlns:p14="http://schemas.microsoft.com/office/powerpoint/2010/main" val="33909300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90CEF-83B3-1CF0-1410-0F4519C0F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05896-42DE-F018-7039-AC1A85A3C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67696-2F5C-9148-CDDC-CCEC70FF4C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5.2. Chức năng trò chuyện thời gian thực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(kết quả triển khai)</a:t>
            </a:r>
          </a:p>
          <a:p>
            <a:pPr marL="0" indent="0">
              <a:buNone/>
            </a:pPr>
            <a:endParaRPr lang="en-US" sz="2000" i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328682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4AAB5-90B9-7A23-8DED-196FDFDCB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B52F4-6A8F-B716-A8F5-476854D8E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TRIỂN KHAI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A3C589-0514-D7C4-677D-0A603C0F2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5.3. Chức năng sinh câu hỏi trắc nghiệm (thử nghiệm)</a:t>
            </a:r>
          </a:p>
          <a:p>
            <a:pPr marL="0" indent="0">
              <a:buNone/>
            </a:pPr>
            <a:r>
              <a:rPr lang="en-US" sz="2000" i="1">
                <a:latin typeface="Times New Roman" panose="02020603050405020304" pitchFamily="18" charset="0"/>
                <a:cs typeface="Times New Roman" panose="02020603050405020304" pitchFamily="18" charset="0"/>
              </a:rPr>
              <a:t>(hình kết quả)</a:t>
            </a:r>
          </a:p>
        </p:txBody>
      </p:sp>
    </p:spTree>
    <p:extLst>
      <p:ext uri="{BB962C8B-B14F-4D97-AF65-F5344CB8AC3E}">
        <p14:creationId xmlns:p14="http://schemas.microsoft.com/office/powerpoint/2010/main" val="14323880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7F811-DB4B-F6E5-C121-2E92DE1A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5193A-EBBD-0405-8C3B-5B52CC2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12ECE4-3D70-4400-727A-E601F6A4C614}"/>
              </a:ext>
            </a:extLst>
          </p:cNvPr>
          <p:cNvSpPr txBox="1"/>
          <p:nvPr/>
        </p:nvSpPr>
        <p:spPr>
          <a:xfrm>
            <a:off x="1844842" y="2935705"/>
            <a:ext cx="33201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Minh họa nội dung</a:t>
            </a:r>
          </a:p>
        </p:txBody>
      </p:sp>
    </p:spTree>
    <p:extLst>
      <p:ext uri="{BB962C8B-B14F-4D97-AF65-F5344CB8AC3E}">
        <p14:creationId xmlns:p14="http://schemas.microsoft.com/office/powerpoint/2010/main" val="5744912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F9071-73D0-748C-5FB0-CF55679C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28F9-6185-71BF-6F8A-6C160812F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66B5-8E7B-3214-7C21-0EB860841B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5.1. Kết luận</a:t>
            </a:r>
          </a:p>
        </p:txBody>
      </p:sp>
    </p:spTree>
    <p:extLst>
      <p:ext uri="{BB962C8B-B14F-4D97-AF65-F5344CB8AC3E}">
        <p14:creationId xmlns:p14="http://schemas.microsoft.com/office/powerpoint/2010/main" val="28737391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5138-0C9D-EE29-EB6F-4446D5AD3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79F4A-E53E-F4B9-8479-700A69043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0537"/>
          </a:xfrm>
        </p:spPr>
        <p:txBody>
          <a:bodyPr>
            <a:normAutofit/>
          </a:bodyPr>
          <a:lstStyle/>
          <a:p>
            <a:r>
              <a:rPr lang="en-US" sz="40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&amp; HƯỚNG PHÁT TRIỂN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F902B-1608-BE6C-1830-8013F8B43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662"/>
            <a:ext cx="10515600" cy="4781301"/>
          </a:xfrm>
        </p:spPr>
        <p:txBody>
          <a:bodyPr/>
          <a:lstStyle/>
          <a:p>
            <a:pPr marL="0" indent="0">
              <a:buNone/>
            </a:pP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5.2. Hướng phát triển</a:t>
            </a:r>
          </a:p>
        </p:txBody>
      </p:sp>
    </p:spTree>
    <p:extLst>
      <p:ext uri="{BB962C8B-B14F-4D97-AF65-F5344CB8AC3E}">
        <p14:creationId xmlns:p14="http://schemas.microsoft.com/office/powerpoint/2010/main" val="382816782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639C2-78D4-052C-F110-058927629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FIN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0F16E-72EC-9F37-D19E-65A20E57A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082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1947</TotalTime>
  <Words>2582</Words>
  <Application>Microsoft Office PowerPoint</Application>
  <PresentationFormat>Widescreen</PresentationFormat>
  <Paragraphs>461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9" baseType="lpstr">
      <vt:lpstr>Aptos</vt:lpstr>
      <vt:lpstr>Aptos Display</vt:lpstr>
      <vt:lpstr>Arial</vt:lpstr>
      <vt:lpstr>Times New Roman</vt:lpstr>
      <vt:lpstr>Office Theme</vt:lpstr>
      <vt:lpstr>HỆ THỐNG CHATBOT HỖ TRỢ HỌC LỊCH SỬ VIỆT NAM</vt:lpstr>
      <vt:lpstr>NỘI DUNG BÁO CÁO</vt:lpstr>
      <vt:lpstr>GIỚI THIỆU ĐỀ TÀI</vt:lpstr>
      <vt:lpstr>GIỚI THIỆU ĐỀ TÀI</vt:lpstr>
      <vt:lpstr>GIỚI THIỆU ĐỀ TÀI</vt:lpstr>
      <vt:lpstr>GIỚI THIỆU ĐỀ TÀI</vt:lpstr>
      <vt:lpstr>GIỚI THIỆU ĐỀ TÀI</vt:lpstr>
      <vt:lpstr>CƠ SỞ LÝ THUYẾT</vt:lpstr>
      <vt:lpstr>CƠ SỞ LÝ THUYẾT</vt:lpstr>
      <vt:lpstr>CƠ SỞ  LÝ THUYẾT</vt:lpstr>
      <vt:lpstr>CƠ SỞ  LÝ THUYẾT</vt:lpstr>
      <vt:lpstr>CƠ SỞ  LÝ THUYẾT</vt:lpstr>
      <vt:lpstr>PHƯƠNG PHÁP ĐỀ XUẤT</vt:lpstr>
      <vt:lpstr>PHƯƠNG PHÁP ĐỀ XUẤT</vt:lpstr>
      <vt:lpstr>PHƯƠNG PHÁP ĐỀ XUẤT 3.2. Tổng quan phương pháp đề xuất</vt:lpstr>
      <vt:lpstr>PHƯƠNG PHÁP ĐỀ XUẤT</vt:lpstr>
      <vt:lpstr>PHƯƠNG PHÁP ĐỀ XUẤT</vt:lpstr>
      <vt:lpstr>PHƯƠNG PHÁP ĐỀ XUẤT 3.3. Hệ thống RAG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PowerPoint Presentation</vt:lpstr>
      <vt:lpstr>PHƯƠNG PHÁP ĐỀ XUẤT</vt:lpstr>
      <vt:lpstr>PHƯƠNG PHÁP ĐỀ XUẤT</vt:lpstr>
      <vt:lpstr>PowerPoint Presentation</vt:lpstr>
      <vt:lpstr>PHƯƠNG PHÁP ĐỀ XUẤT</vt:lpstr>
      <vt:lpstr>Hiệu quả phân tách trên chuỗi mẫu</vt:lpstr>
      <vt:lpstr>PHƯƠNG PHÁP ĐỀ XUẤT</vt:lpstr>
      <vt:lpstr>PowerPoint Presentation</vt:lpstr>
      <vt:lpstr>PHƯƠNG PHÁP ĐỀ XUẤT</vt:lpstr>
      <vt:lpstr>PowerPoint Presentation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PHƯƠNG PHÁP ĐỀ XUẤT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TRIỂN KHAI CHỨC NĂNG HỆ THỐNG</vt:lpstr>
      <vt:lpstr>KẾT QUẢ TRIỂN KHAI</vt:lpstr>
      <vt:lpstr>KẾT QUẢ TRIỂN KHAI</vt:lpstr>
      <vt:lpstr>KẾT QUẢ TRIỂN KHAI</vt:lpstr>
      <vt:lpstr>KẾT QUẢ TRIỂN KHAI</vt:lpstr>
      <vt:lpstr>KẾT LUẬN &amp; HƯỚNG PHÁT TRIỂN</vt:lpstr>
      <vt:lpstr>KẾT LUẬN &amp; HƯỚNG PHÁT TRIỂN</vt:lpstr>
      <vt:lpstr>KẾT LUẬN &amp; HƯỚNG PHÁT TRIỂN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trung lee vieet</dc:creator>
  <cp:lastModifiedBy>trung lee vieet</cp:lastModifiedBy>
  <cp:revision>77</cp:revision>
  <dcterms:created xsi:type="dcterms:W3CDTF">2025-06-09T12:09:11Z</dcterms:created>
  <dcterms:modified xsi:type="dcterms:W3CDTF">2025-06-19T14:04:01Z</dcterms:modified>
</cp:coreProperties>
</file>