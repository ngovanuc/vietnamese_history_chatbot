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62" r:id="rId4"/>
    <p:sldId id="258" r:id="rId5"/>
    <p:sldId id="259" r:id="rId6"/>
    <p:sldId id="263" r:id="rId7"/>
    <p:sldId id="285" r:id="rId8"/>
    <p:sldId id="286" r:id="rId9"/>
    <p:sldId id="281" r:id="rId10"/>
    <p:sldId id="268" r:id="rId11"/>
    <p:sldId id="269" r:id="rId12"/>
    <p:sldId id="318" r:id="rId13"/>
    <p:sldId id="292" r:id="rId14"/>
    <p:sldId id="319" r:id="rId15"/>
    <p:sldId id="325" r:id="rId16"/>
    <p:sldId id="326" r:id="rId17"/>
    <p:sldId id="327" r:id="rId18"/>
    <p:sldId id="302" r:id="rId19"/>
    <p:sldId id="328" r:id="rId20"/>
    <p:sldId id="312" r:id="rId21"/>
    <p:sldId id="265" r:id="rId22"/>
    <p:sldId id="313" r:id="rId23"/>
    <p:sldId id="277" r:id="rId24"/>
    <p:sldId id="278" r:id="rId25"/>
    <p:sldId id="279" r:id="rId26"/>
    <p:sldId id="266" r:id="rId27"/>
    <p:sldId id="316" r:id="rId28"/>
    <p:sldId id="317" r:id="rId29"/>
    <p:sldId id="321" r:id="rId30"/>
    <p:sldId id="283" r:id="rId31"/>
    <p:sldId id="329" r:id="rId32"/>
    <p:sldId id="33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9B11291-C0C4-40EB-9831-7A4D69CD6236}">
          <p14:sldIdLst>
            <p14:sldId id="256"/>
            <p14:sldId id="257"/>
            <p14:sldId id="262"/>
            <p14:sldId id="258"/>
            <p14:sldId id="259"/>
            <p14:sldId id="263"/>
            <p14:sldId id="285"/>
            <p14:sldId id="286"/>
            <p14:sldId id="281"/>
            <p14:sldId id="268"/>
            <p14:sldId id="269"/>
            <p14:sldId id="318"/>
            <p14:sldId id="292"/>
            <p14:sldId id="319"/>
            <p14:sldId id="325"/>
            <p14:sldId id="326"/>
            <p14:sldId id="327"/>
            <p14:sldId id="302"/>
            <p14:sldId id="328"/>
            <p14:sldId id="312"/>
            <p14:sldId id="265"/>
            <p14:sldId id="313"/>
            <p14:sldId id="277"/>
            <p14:sldId id="278"/>
            <p14:sldId id="279"/>
            <p14:sldId id="266"/>
            <p14:sldId id="316"/>
            <p14:sldId id="317"/>
            <p14:sldId id="321"/>
            <p14:sldId id="283"/>
            <p14:sldId id="329"/>
            <p14:sldId id="33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12" autoAdjust="0"/>
    <p:restoredTop sz="86015" autoAdjust="0"/>
  </p:normalViewPr>
  <p:slideViewPr>
    <p:cSldViewPr snapToGrid="0">
      <p:cViewPr varScale="1">
        <p:scale>
          <a:sx n="43" d="100"/>
          <a:sy n="43" d="100"/>
        </p:scale>
        <p:origin x="42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781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BE15F-3D48-FED2-9293-40CA55594E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3016918"/>
            <a:ext cx="9448800" cy="2244308"/>
          </a:xfrm>
        </p:spPr>
        <p:txBody>
          <a:bodyPr anchor="ctr">
            <a:normAutofit/>
          </a:bodyPr>
          <a:lstStyle/>
          <a:p>
            <a:r>
              <a:rPr lang="en-US" sz="4800" b="1">
                <a:latin typeface="Times New Roman" panose="02020603050405020304" pitchFamily="18" charset="0"/>
              </a:rPr>
              <a:t>HỆ THỐNG CHATBOT HỖ TRỢ HỌC LỊCH SỬ VIỆT NAM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50EE6C-37B6-A4AC-4C11-2E5A08C66C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61226"/>
            <a:ext cx="9144000" cy="1120565"/>
          </a:xfrm>
        </p:spPr>
        <p:txBody>
          <a:bodyPr anchor="ctr"/>
          <a:lstStyle/>
          <a:p>
            <a:r>
              <a:rPr lang="en-US">
                <a:latin typeface="Times New Roman" panose="02020603050405020304" pitchFamily="18" charset="0"/>
              </a:rPr>
              <a:t>GVHD: </a:t>
            </a:r>
            <a:r>
              <a:rPr lang="en-US" b="1">
                <a:latin typeface="Times New Roman" panose="02020603050405020304" pitchFamily="18" charset="0"/>
              </a:rPr>
              <a:t>TS. NGUYỄN NĂNG HÙNG VÂN</a:t>
            </a:r>
          </a:p>
          <a:p>
            <a:r>
              <a:rPr lang="en-US">
                <a:latin typeface="Times New Roman" panose="02020603050405020304" pitchFamily="18" charset="0"/>
              </a:rPr>
              <a:t>SINH VIÊN THỰC HIỆN: </a:t>
            </a:r>
            <a:r>
              <a:rPr lang="en-US" b="1">
                <a:latin typeface="Times New Roman" panose="02020603050405020304" pitchFamily="18" charset="0"/>
              </a:rPr>
              <a:t>LÊ VIỆT TRUNG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067AD6E-B2FE-103A-F385-B0BCE3B39C2A}"/>
              </a:ext>
            </a:extLst>
          </p:cNvPr>
          <p:cNvSpPr txBox="1">
            <a:spLocks/>
          </p:cNvSpPr>
          <p:nvPr/>
        </p:nvSpPr>
        <p:spPr>
          <a:xfrm>
            <a:off x="1524000" y="342314"/>
            <a:ext cx="9144000" cy="1071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>
                <a:latin typeface="Times New Roman" panose="02020603050405020304" pitchFamily="18" charset="0"/>
              </a:rPr>
              <a:t>TRƯỜNG ĐẠI HỌC BÁCH KHOA</a:t>
            </a:r>
          </a:p>
          <a:p>
            <a:r>
              <a:rPr lang="en-US" b="1">
                <a:latin typeface="Times New Roman" panose="02020603050405020304" pitchFamily="18" charset="0"/>
              </a:rPr>
              <a:t>KHOA CÔNG NGHỆ THÔNG TIN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DFF9081-97ED-6106-1082-CBA4AF6343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5928" y="1596774"/>
            <a:ext cx="1420144" cy="1420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233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84719D-DA31-265B-399F-E5A4980EE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NỘI DUNG BÁO CÁO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55BBE-2C7A-179F-1170-6AB59E37D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6895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D1EF-E53B-5A9F-9692-52F285066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PHẦN 1</a:t>
            </a:r>
            <a:b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08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3B475F8-50AE-46A0-9943-B2B63183D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9E429C-446C-5C3D-E9F3-E05438AF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65125"/>
            <a:ext cx="6986015" cy="1776484"/>
          </a:xfrm>
        </p:spPr>
        <p:txBody>
          <a:bodyPr anchor="b"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pic>
        <p:nvPicPr>
          <p:cNvPr id="7" name="Picture 6" descr="A group of logos in a circle&#10;&#10;AI-generated content may be incorrect.">
            <a:extLst>
              <a:ext uri="{FF2B5EF4-FFF2-40B4-BE49-F238E27FC236}">
                <a16:creationId xmlns:a16="http://schemas.microsoft.com/office/drawing/2014/main" id="{C1C2440E-83D8-6DF3-21CD-2DE339B7F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5231" y="261991"/>
            <a:ext cx="3360391" cy="1890220"/>
          </a:xfrm>
          <a:prstGeom prst="rect">
            <a:avLst/>
          </a:prstGeom>
        </p:spPr>
      </p:pic>
      <p:sp>
        <p:nvSpPr>
          <p:cNvPr id="16" name="sketch line">
            <a:extLst>
              <a:ext uri="{FF2B5EF4-FFF2-40B4-BE49-F238E27FC236}">
                <a16:creationId xmlns:a16="http://schemas.microsoft.com/office/drawing/2014/main" id="{75F6FDB4-2351-48C2-A863-2364A0234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315691"/>
            <a:ext cx="4343400" cy="18288"/>
          </a:xfrm>
          <a:custGeom>
            <a:avLst/>
            <a:gdLst>
              <a:gd name="connsiteX0" fmla="*/ 0 w 4343400"/>
              <a:gd name="connsiteY0" fmla="*/ 0 h 18288"/>
              <a:gd name="connsiteX1" fmla="*/ 577052 w 4343400"/>
              <a:gd name="connsiteY1" fmla="*/ 0 h 18288"/>
              <a:gd name="connsiteX2" fmla="*/ 1067235 w 4343400"/>
              <a:gd name="connsiteY2" fmla="*/ 0 h 18288"/>
              <a:gd name="connsiteX3" fmla="*/ 1600853 w 4343400"/>
              <a:gd name="connsiteY3" fmla="*/ 0 h 18288"/>
              <a:gd name="connsiteX4" fmla="*/ 2264773 w 4343400"/>
              <a:gd name="connsiteY4" fmla="*/ 0 h 18288"/>
              <a:gd name="connsiteX5" fmla="*/ 2841825 w 4343400"/>
              <a:gd name="connsiteY5" fmla="*/ 0 h 18288"/>
              <a:gd name="connsiteX6" fmla="*/ 3375442 w 4343400"/>
              <a:gd name="connsiteY6" fmla="*/ 0 h 18288"/>
              <a:gd name="connsiteX7" fmla="*/ 4343400 w 4343400"/>
              <a:gd name="connsiteY7" fmla="*/ 0 h 18288"/>
              <a:gd name="connsiteX8" fmla="*/ 4343400 w 4343400"/>
              <a:gd name="connsiteY8" fmla="*/ 18288 h 18288"/>
              <a:gd name="connsiteX9" fmla="*/ 3722914 w 4343400"/>
              <a:gd name="connsiteY9" fmla="*/ 18288 h 18288"/>
              <a:gd name="connsiteX10" fmla="*/ 3189297 w 4343400"/>
              <a:gd name="connsiteY10" fmla="*/ 18288 h 18288"/>
              <a:gd name="connsiteX11" fmla="*/ 2481943 w 4343400"/>
              <a:gd name="connsiteY11" fmla="*/ 18288 h 18288"/>
              <a:gd name="connsiteX12" fmla="*/ 1904891 w 4343400"/>
              <a:gd name="connsiteY12" fmla="*/ 18288 h 18288"/>
              <a:gd name="connsiteX13" fmla="*/ 1414707 w 4343400"/>
              <a:gd name="connsiteY13" fmla="*/ 18288 h 18288"/>
              <a:gd name="connsiteX14" fmla="*/ 750788 w 4343400"/>
              <a:gd name="connsiteY14" fmla="*/ 18288 h 18288"/>
              <a:gd name="connsiteX15" fmla="*/ 0 w 4343400"/>
              <a:gd name="connsiteY15" fmla="*/ 18288 h 18288"/>
              <a:gd name="connsiteX16" fmla="*/ 0 w 43434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A3D1D-5A35-3D5F-7447-81194895E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04819"/>
            <a:ext cx="6986016" cy="3672144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1.1. Lý do chọn đề tài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Nhu cầu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đổi mới phương pháp giáo dục.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Tiềm năng từ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AI và LLM.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Lịch sử là một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môn học đặc thù.</a:t>
            </a:r>
          </a:p>
        </p:txBody>
      </p:sp>
      <p:pic>
        <p:nvPicPr>
          <p:cNvPr id="5" name="Picture 4" descr="A classroom with students in front of a blackboard&#10;&#10;AI-generated content may be incorrect.">
            <a:extLst>
              <a:ext uri="{FF2B5EF4-FFF2-40B4-BE49-F238E27FC236}">
                <a16:creationId xmlns:a16="http://schemas.microsoft.com/office/drawing/2014/main" id="{F383968B-DDBB-0538-D632-57CBE19A01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6144" y="2310086"/>
            <a:ext cx="2520293" cy="1890220"/>
          </a:xfrm>
          <a:prstGeom prst="rect">
            <a:avLst/>
          </a:prstGeom>
        </p:spPr>
      </p:pic>
      <p:pic>
        <p:nvPicPr>
          <p:cNvPr id="9" name="Picture 8" descr="A book on a map&#10;&#10;AI-generated content may be incorrect.">
            <a:extLst>
              <a:ext uri="{FF2B5EF4-FFF2-40B4-BE49-F238E27FC236}">
                <a16:creationId xmlns:a16="http://schemas.microsoft.com/office/drawing/2014/main" id="{B1F2BB6C-6A97-7B72-A60E-2FBCC066E6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0718" y="4358181"/>
            <a:ext cx="3231145" cy="1890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577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ACC9AE-4282-9F1E-1993-C94D1F1C7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EAC56F-4530-0099-1FEB-FF6A38C16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CE7BF-29EB-0616-CC76-43011646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1.2. Mục tiêu của đề tài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Xây dựng hệ thống chatbot hỗ trợ học Lịch sử Việt Nam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bằng cách ứng dụng LLM và các công nghệ NLP tiên tiến.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Gia tăng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tính tự động hóa, hiệu quả và trải nghiệm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của việc học Lịch sử.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Bổ trợ và hiện đại hóa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giáo dục truyền thống.</a:t>
            </a: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A teacher teaching a class&#10;&#10;AI-generated content may be incorrect.">
            <a:extLst>
              <a:ext uri="{FF2B5EF4-FFF2-40B4-BE49-F238E27FC236}">
                <a16:creationId xmlns:a16="http://schemas.microsoft.com/office/drawing/2014/main" id="{1511805F-94FA-3749-A5B0-C25E681A6F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3840" y="704423"/>
            <a:ext cx="4014216" cy="2679489"/>
          </a:xfrm>
          <a:prstGeom prst="rect">
            <a:avLst/>
          </a:prstGeom>
        </p:spPr>
      </p:pic>
      <p:pic>
        <p:nvPicPr>
          <p:cNvPr id="5" name="Picture 4" descr="A chatbot with a headset&#10;&#10;AI-generated content may be incorrect.">
            <a:extLst>
              <a:ext uri="{FF2B5EF4-FFF2-40B4-BE49-F238E27FC236}">
                <a16:creationId xmlns:a16="http://schemas.microsoft.com/office/drawing/2014/main" id="{73751C16-9EAF-37E9-87A1-B09347ACC7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204" y="4079193"/>
            <a:ext cx="3427200" cy="2176272"/>
          </a:xfrm>
          <a:prstGeom prst="rect">
            <a:avLst/>
          </a:prstGeom>
        </p:spPr>
      </p:pic>
      <p:sp>
        <p:nvSpPr>
          <p:cNvPr id="9" name="Arrow: Up 8">
            <a:extLst>
              <a:ext uri="{FF2B5EF4-FFF2-40B4-BE49-F238E27FC236}">
                <a16:creationId xmlns:a16="http://schemas.microsoft.com/office/drawing/2014/main" id="{6CE18BF5-C5F9-D784-FA15-E641D51DCB74}"/>
              </a:ext>
            </a:extLst>
          </p:cNvPr>
          <p:cNvSpPr/>
          <p:nvPr/>
        </p:nvSpPr>
        <p:spPr>
          <a:xfrm>
            <a:off x="9734590" y="3561347"/>
            <a:ext cx="272715" cy="368969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A64011-730D-C95C-DF94-B39101006B8E}"/>
              </a:ext>
            </a:extLst>
          </p:cNvPr>
          <p:cNvSpPr txBox="1"/>
          <p:nvPr/>
        </p:nvSpPr>
        <p:spPr>
          <a:xfrm>
            <a:off x="10007305" y="3564873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Bổ trợ</a:t>
            </a:r>
          </a:p>
        </p:txBody>
      </p:sp>
    </p:spTree>
    <p:extLst>
      <p:ext uri="{BB962C8B-B14F-4D97-AF65-F5344CB8AC3E}">
        <p14:creationId xmlns:p14="http://schemas.microsoft.com/office/powerpoint/2010/main" val="3036869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D41905-87A2-41AF-1129-86442AE80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67299-79A1-4EF6-83A3-A771D257B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PHẦN 2</a:t>
            </a:r>
            <a:b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50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327226-3F43-80C0-4171-3D2B3FF83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6D27E4-D1CC-7449-5835-509B35BF4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</a:t>
            </a:r>
            <a:b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7B23E-8310-5899-E43E-DAE762286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135880" cy="3547872"/>
          </a:xfrm>
        </p:spPr>
        <p:txBody>
          <a:bodyPr anchor="t">
            <a:normAutofit fontScale="92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2.1. Mô hình </a:t>
            </a:r>
            <a:r>
              <a:rPr lang="en-US" sz="3000" b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 ngữ lớn - LLM</a:t>
            </a:r>
          </a:p>
          <a:p>
            <a:pPr>
              <a:lnSpc>
                <a:spcPct val="110000"/>
              </a:lnSpc>
            </a:pP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Xử lý và sinh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văn bản tự nhiên.</a:t>
            </a:r>
          </a:p>
          <a:p>
            <a:pPr>
              <a:lnSpc>
                <a:spcPct val="11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Huấn luyện trên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dữ liệu quy mô lớn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10000"/>
              </a:lnSpc>
            </a:pP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phức tạp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với hàng tỉ tham số dựa trên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nền Transformer</a:t>
            </a:r>
            <a:r>
              <a:rPr lang="en-US" sz="2200" b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1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Có thể trích xuất, phân tích, gán nhãn, sinh văn bản.</a:t>
            </a:r>
          </a:p>
          <a:p>
            <a:pPr>
              <a:lnSpc>
                <a:spcPct val="11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trong chatbot, giáo dục, pháp lý, y tế…</a:t>
            </a: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0E2A17-FB78-A897-D260-C9C252227D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6816" y="1610795"/>
            <a:ext cx="6108192" cy="366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661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B0F448-5FE2-3765-2626-2BF7EE14F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2D5F9A-9397-BD22-F4BB-DCDF55965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</a:t>
            </a:r>
            <a:b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CBD0B-87E8-0B2A-8825-72D6A9F50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2.2. Hệ thống RAG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Sự kết hợp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giữa tìm kiếm thông tin (retrieval) và sinh văn bản (generation).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Gồm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bộ truy xuất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bộ tạo sinh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Cải thiện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độ chinh xác, khả năng mở rộng và khả năng tùy biến lĩnh vực.</a:t>
            </a:r>
          </a:p>
        </p:txBody>
      </p:sp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1AA1C02A-01CC-8118-BE66-A0E66E8B5F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7482" y="1878273"/>
            <a:ext cx="6111240" cy="310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655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4A7409-7ECF-F86F-F77D-6A0F7B05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BA0FCC-8B8D-D846-39CB-5E8E3387C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PHẦN 3</a:t>
            </a:r>
            <a:b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0245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8EBBBE-DF49-BBAA-A74C-124D89514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175B74-5CE3-6F61-F092-CEFD46C2E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8F291-9F9C-7F17-EE02-9E221BB71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3.1. Phát biểu và phân tích bài toán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Tiếp nhận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đầu vào văn bản và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phản hồi chính xác, phù hợp.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Kết hợp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việc truy xuất tài liệu với các mô hình sinh ngôn ngữ.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Duy trì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mạch hội thoại liên tục.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Nhận diện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câu hỏi ngoài phạm vi kiến thức.</a:t>
            </a:r>
          </a:p>
        </p:txBody>
      </p:sp>
    </p:spTree>
    <p:extLst>
      <p:ext uri="{BB962C8B-B14F-4D97-AF65-F5344CB8AC3E}">
        <p14:creationId xmlns:p14="http://schemas.microsoft.com/office/powerpoint/2010/main" val="1420802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C4C8A0-A7AB-2DC9-2101-E2865FE6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61362B-C055-854C-DA7B-0A54BC88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213039"/>
            <a:ext cx="10909640" cy="145393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en-US" sz="40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  <a:br>
              <a:rPr lang="en-US" sz="28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EDDCF43-B889-D0B9-E9F1-1B2FF967F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0985" y="1818226"/>
            <a:ext cx="7245432" cy="440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952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29206B-2DF5-06CD-B140-9FA5D277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47DA0F-DFD7-605B-1978-2ECE55BFA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180955"/>
            <a:ext cx="10909640" cy="148601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  <a:b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3.3. Hệ thống RAG đề xuất</a:t>
            </a:r>
            <a:endParaRPr lang="en-US" sz="4100" b="1" kern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6F8FCA-E996-1FC6-6FF5-E917E277A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580" y="1847925"/>
            <a:ext cx="7070840" cy="440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549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507503-FAAF-2934-626E-F3619FB07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318B0F-F164-D94D-7A04-2DDFA28B8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BC489-EA73-CEFB-BFFB-8D3BABA50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660904"/>
            <a:ext cx="5272559" cy="354787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3.4. Thống kê kho tài liệu Lịch sử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Có tổng cộng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1121 tài liệu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loại.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có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 loại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chapter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(chương),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lesson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(bài học) và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(câu hỏi hoặc tiêu đề).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chiếm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phần lớn số lượng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 liệu thu thập được.</a:t>
            </a:r>
          </a:p>
        </p:txBody>
      </p:sp>
      <p:pic>
        <p:nvPicPr>
          <p:cNvPr id="4" name="Picture 3" descr="A green graph with white text&#10;&#10;AI-generated content may be incorrect.">
            <a:extLst>
              <a:ext uri="{FF2B5EF4-FFF2-40B4-BE49-F238E27FC236}">
                <a16:creationId xmlns:a16="http://schemas.microsoft.com/office/drawing/2014/main" id="{5E9C202C-3520-3FA0-68AD-F02B840B6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4" y="2011680"/>
            <a:ext cx="5782858" cy="286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656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3FCDFC-79DB-40CC-2BA1-C22B70543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9A9051A-8510-B97B-FCC3-88FA6E6015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A6A097-795E-150D-A0F7-19244E93A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CC773537-1363-BB47-78B1-2C9E2DF41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85546-EAF9-A79D-480C-C6A4EEF5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3.5. Mô hình embedding đề xuất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Các tiêu chí đánh giá và lựa chọn mô hình:</a:t>
            </a:r>
          </a:p>
          <a:p>
            <a:pPr>
              <a:lnSpc>
                <a:spcPct val="100000"/>
              </a:lnSpc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phân tách từ trên chuỗi mẫu.</a:t>
            </a:r>
          </a:p>
          <a:p>
            <a:pPr>
              <a:lnSpc>
                <a:spcPct val="100000"/>
              </a:lnSpc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phân tách từ trên tập dữ liệu.</a:t>
            </a:r>
          </a:p>
          <a:p>
            <a:pPr>
              <a:lnSpc>
                <a:spcPct val="100000"/>
              </a:lnSpc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embedding tập dữ liệu.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32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2077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87E0ACF-349E-0BF7-EF6C-7597D8A62E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338952"/>
              </p:ext>
            </p:extLst>
          </p:nvPr>
        </p:nvGraphicFramePr>
        <p:xfrm>
          <a:off x="207579" y="1923394"/>
          <a:ext cx="11776841" cy="4675458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2760210">
                  <a:extLst>
                    <a:ext uri="{9D8B030D-6E8A-4147-A177-3AD203B41FA5}">
                      <a16:colId xmlns:a16="http://schemas.microsoft.com/office/drawing/2014/main" val="3401729846"/>
                    </a:ext>
                  </a:extLst>
                </a:gridCol>
                <a:gridCol w="9016631">
                  <a:extLst>
                    <a:ext uri="{9D8B030D-6E8A-4147-A177-3AD203B41FA5}">
                      <a16:colId xmlns:a16="http://schemas.microsoft.com/office/drawing/2014/main" val="1479469748"/>
                    </a:ext>
                  </a:extLst>
                </a:gridCol>
              </a:tblGrid>
              <a:tr h="163987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Kết quả tokenization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999059"/>
                  </a:ext>
                </a:extLst>
              </a:tr>
              <a:tr h="528343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'chu', '##ong', ':', 'bu', '##oi', 'đ', '##au', 'li', '##ch', 'su', 'nu', '##oc', 'ta', '[UNK]', '[UNK]', '(', '[UNK]', ')',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390032"/>
                  </a:ext>
                </a:extLst>
              </a:tr>
              <a:tr h="63614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'chuong', '[UNK]', 'bu', '##o', '##i', 'đau', 'lich', 'su', 'nu', '##oc', 'ta', '[UNK]', '[UNK]', '[UNK]', '[UNK]', '[UNK]',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2113233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'Chương', ':', '[UNK]', '[UNK]', '[UNK]', '[UNK]', '[UNK]', 'TA', '[UNK]', '[UNK]', '(', '[UNK]', ')', 'ʃ', '##♪',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5829504"/>
                  </a:ext>
                </a:extLst>
              </a:tr>
              <a:tr h="710521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'▁Chương', ':', '▁BU', 'Ổ', 'I', '▁Đ', 'Ầ', 'U', '▁L', 'Ị', 'CH', '▁S', 'Ử', '▁N', 'ƯỚC', '▁TA', '▁', '❉', '▁', '♡', '&lt;unk&gt;', '(', 'ˆ', '◡', 'ˆ', ')', 'ʃ', '♪', '▁',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'▁',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6756113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388337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6204143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4A095392-C4EE-B911-E83F-6C32886D405E}"/>
              </a:ext>
            </a:extLst>
          </p:cNvPr>
          <p:cNvSpPr txBox="1">
            <a:spLocks/>
          </p:cNvSpPr>
          <p:nvPr/>
        </p:nvSpPr>
        <p:spPr>
          <a:xfrm>
            <a:off x="838199" y="1263761"/>
            <a:ext cx="10515600" cy="6596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Chuỗi mẫu</a:t>
            </a: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/>
              <a:t>Chương: BUỔI ĐẦU LỊCH SỬ NƯỚC TA❉ ♡ƪ(ˆ◡ˆ)ʃ♪ </a:t>
            </a:r>
            <a:r>
              <a:rPr lang="en-US"/>
              <a:t>卍</a:t>
            </a:r>
            <a:r>
              <a:rPr lang="vi-VN"/>
              <a:t> ₯</a:t>
            </a:r>
            <a:endParaRPr lang="en-US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2062D12-AEFD-707C-293E-C11A28C1B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963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3.5.2. Hiệu quả phân tách trên chuỗi mẫu</a:t>
            </a:r>
          </a:p>
        </p:txBody>
      </p:sp>
    </p:spTree>
    <p:extLst>
      <p:ext uri="{BB962C8B-B14F-4D97-AF65-F5344CB8AC3E}">
        <p14:creationId xmlns:p14="http://schemas.microsoft.com/office/powerpoint/2010/main" val="718282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46313-0D2E-6CBB-D691-AD340309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0640D0E-4305-0D41-B0A5-0C7E567E7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166159"/>
              </p:ext>
            </p:extLst>
          </p:nvPr>
        </p:nvGraphicFramePr>
        <p:xfrm>
          <a:off x="619625" y="1254533"/>
          <a:ext cx="10952748" cy="5329156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2625367">
                  <a:extLst>
                    <a:ext uri="{9D8B030D-6E8A-4147-A177-3AD203B41FA5}">
                      <a16:colId xmlns:a16="http://schemas.microsoft.com/office/drawing/2014/main" val="33511137"/>
                    </a:ext>
                  </a:extLst>
                </a:gridCol>
                <a:gridCol w="1456188">
                  <a:extLst>
                    <a:ext uri="{9D8B030D-6E8A-4147-A177-3AD203B41FA5}">
                      <a16:colId xmlns:a16="http://schemas.microsoft.com/office/drawing/2014/main" val="1454479095"/>
                    </a:ext>
                  </a:extLst>
                </a:gridCol>
                <a:gridCol w="1483778">
                  <a:extLst>
                    <a:ext uri="{9D8B030D-6E8A-4147-A177-3AD203B41FA5}">
                      <a16:colId xmlns:a16="http://schemas.microsoft.com/office/drawing/2014/main" val="881516949"/>
                    </a:ext>
                  </a:extLst>
                </a:gridCol>
                <a:gridCol w="1812859">
                  <a:extLst>
                    <a:ext uri="{9D8B030D-6E8A-4147-A177-3AD203B41FA5}">
                      <a16:colId xmlns:a16="http://schemas.microsoft.com/office/drawing/2014/main" val="3675780894"/>
                    </a:ext>
                  </a:extLst>
                </a:gridCol>
                <a:gridCol w="2108709">
                  <a:extLst>
                    <a:ext uri="{9D8B030D-6E8A-4147-A177-3AD203B41FA5}">
                      <a16:colId xmlns:a16="http://schemas.microsoft.com/office/drawing/2014/main" val="3930906896"/>
                    </a:ext>
                  </a:extLst>
                </a:gridCol>
                <a:gridCol w="1465847">
                  <a:extLst>
                    <a:ext uri="{9D8B030D-6E8A-4147-A177-3AD203B41FA5}">
                      <a16:colId xmlns:a16="http://schemas.microsoft.com/office/drawing/2014/main" val="344327779"/>
                    </a:ext>
                  </a:extLst>
                </a:gridCol>
              </a:tblGrid>
              <a:tr h="706756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20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</a:t>
                      </a:r>
                      <a:endParaRPr lang="en-US" sz="20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std</a:t>
                      </a:r>
                      <a:endParaRPr lang="en-US" sz="20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tokens</a:t>
                      </a:r>
                      <a:endParaRPr lang="en-US" sz="20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subword rate</a:t>
                      </a:r>
                      <a:endParaRPr lang="en-US" sz="20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OOV</a:t>
                      </a:r>
                      <a:endParaRPr lang="en-US" sz="20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5257820"/>
                  </a:ext>
                </a:extLst>
              </a:tr>
              <a:tr h="706756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332.72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195.55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3520446"/>
                  </a:ext>
                </a:extLst>
              </a:tr>
              <a:tr h="834044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402.99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354.15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8755686"/>
                  </a:ext>
                </a:extLst>
              </a:tr>
              <a:tr h="834044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295.42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188.49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3300722"/>
                  </a:ext>
                </a:extLst>
              </a:tr>
              <a:tr h="706756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293.46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185.51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1936575"/>
                  </a:ext>
                </a:extLst>
              </a:tr>
              <a:tr h="834044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188.19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823945"/>
                  </a:ext>
                </a:extLst>
              </a:tr>
              <a:tr h="706756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800" b="1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368.92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313.05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8132519"/>
                  </a:ext>
                </a:extLst>
              </a:tr>
            </a:tbl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E7C48419-7D86-F25F-5DAB-532E2428B255}"/>
              </a:ext>
            </a:extLst>
          </p:cNvPr>
          <p:cNvSpPr txBox="1">
            <a:spLocks/>
          </p:cNvSpPr>
          <p:nvPr/>
        </p:nvSpPr>
        <p:spPr>
          <a:xfrm>
            <a:off x="838199" y="274311"/>
            <a:ext cx="10515600" cy="659634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3.5.3. Hiệu quả phân tách trên tập dữ liệu</a:t>
            </a:r>
          </a:p>
        </p:txBody>
      </p:sp>
    </p:spTree>
    <p:extLst>
      <p:ext uri="{BB962C8B-B14F-4D97-AF65-F5344CB8AC3E}">
        <p14:creationId xmlns:p14="http://schemas.microsoft.com/office/powerpoint/2010/main" val="20216427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1023D-F75B-7B92-1BAD-FBBB203FE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97D335CB-5480-39C8-2510-982CB54D3E7E}"/>
              </a:ext>
            </a:extLst>
          </p:cNvPr>
          <p:cNvSpPr txBox="1">
            <a:spLocks/>
          </p:cNvSpPr>
          <p:nvPr/>
        </p:nvSpPr>
        <p:spPr>
          <a:xfrm>
            <a:off x="838199" y="274311"/>
            <a:ext cx="10515600" cy="659634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3.5.4. Hiệu quả embedding trên tập dữ liệu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81844F0-4192-1B73-0FB2-7F5B3E96A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7831995"/>
              </p:ext>
            </p:extLst>
          </p:nvPr>
        </p:nvGraphicFramePr>
        <p:xfrm>
          <a:off x="838197" y="1497764"/>
          <a:ext cx="10515602" cy="4439987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2455838">
                  <a:extLst>
                    <a:ext uri="{9D8B030D-6E8A-4147-A177-3AD203B41FA5}">
                      <a16:colId xmlns:a16="http://schemas.microsoft.com/office/drawing/2014/main" val="3731982391"/>
                    </a:ext>
                  </a:extLst>
                </a:gridCol>
                <a:gridCol w="1236160">
                  <a:extLst>
                    <a:ext uri="{9D8B030D-6E8A-4147-A177-3AD203B41FA5}">
                      <a16:colId xmlns:a16="http://schemas.microsoft.com/office/drawing/2014/main" val="3601305736"/>
                    </a:ext>
                  </a:extLst>
                </a:gridCol>
                <a:gridCol w="1182318">
                  <a:extLst>
                    <a:ext uri="{9D8B030D-6E8A-4147-A177-3AD203B41FA5}">
                      <a16:colId xmlns:a16="http://schemas.microsoft.com/office/drawing/2014/main" val="3526498500"/>
                    </a:ext>
                  </a:extLst>
                </a:gridCol>
                <a:gridCol w="1182318">
                  <a:extLst>
                    <a:ext uri="{9D8B030D-6E8A-4147-A177-3AD203B41FA5}">
                      <a16:colId xmlns:a16="http://schemas.microsoft.com/office/drawing/2014/main" val="3509953471"/>
                    </a:ext>
                  </a:extLst>
                </a:gridCol>
                <a:gridCol w="829601">
                  <a:extLst>
                    <a:ext uri="{9D8B030D-6E8A-4147-A177-3AD203B41FA5}">
                      <a16:colId xmlns:a16="http://schemas.microsoft.com/office/drawing/2014/main" val="2417731697"/>
                    </a:ext>
                  </a:extLst>
                </a:gridCol>
                <a:gridCol w="829601">
                  <a:extLst>
                    <a:ext uri="{9D8B030D-6E8A-4147-A177-3AD203B41FA5}">
                      <a16:colId xmlns:a16="http://schemas.microsoft.com/office/drawing/2014/main" val="4053085599"/>
                    </a:ext>
                  </a:extLst>
                </a:gridCol>
                <a:gridCol w="1208690">
                  <a:extLst>
                    <a:ext uri="{9D8B030D-6E8A-4147-A177-3AD203B41FA5}">
                      <a16:colId xmlns:a16="http://schemas.microsoft.com/office/drawing/2014/main" val="3711343085"/>
                    </a:ext>
                  </a:extLst>
                </a:gridCol>
                <a:gridCol w="714226">
                  <a:extLst>
                    <a:ext uri="{9D8B030D-6E8A-4147-A177-3AD203B41FA5}">
                      <a16:colId xmlns:a16="http://schemas.microsoft.com/office/drawing/2014/main" val="2612641176"/>
                    </a:ext>
                  </a:extLst>
                </a:gridCol>
                <a:gridCol w="876850">
                  <a:extLst>
                    <a:ext uri="{9D8B030D-6E8A-4147-A177-3AD203B41FA5}">
                      <a16:colId xmlns:a16="http://schemas.microsoft.com/office/drawing/2014/main" val="2674705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 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Precision@1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Precision@3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Precision@5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Min tokens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Max tokens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Dimension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Total time (s)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On a sample (s)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751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+mj-lt"/>
                        </a:rPr>
                        <a:t>all-MiniLM-L6-v2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0.57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0.28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0.17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74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2828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384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95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0.11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240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+mj-lt"/>
                        </a:rPr>
                        <a:t>bert-base-vietnamese-uncased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0.47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0.47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0.48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53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2267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768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643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0.75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9020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+mj-lt"/>
                        </a:rPr>
                        <a:t>distiluse-base-multilingual-cased-v2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0.57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0.57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0.54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44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2031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512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159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0.18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7118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+mj-lt"/>
                        </a:rPr>
                        <a:t>multilingual-e5-small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1.00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0.90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0.88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45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1967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384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210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0.24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5100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+mj-lt"/>
                        </a:rPr>
                        <a:t>sup-SimCSE-VietNamese-phobert-base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0.57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0.62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0.57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50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1967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768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363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0.42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49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+mj-lt"/>
                        </a:rPr>
                        <a:t>vietnamese-bi-encoder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1">
                          <a:effectLst/>
                          <a:latin typeface="+mj-lt"/>
                        </a:rPr>
                        <a:t>1.00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1">
                          <a:effectLst/>
                          <a:latin typeface="+mj-lt"/>
                        </a:rPr>
                        <a:t>1.00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1">
                          <a:effectLst/>
                          <a:latin typeface="+mj-lt"/>
                        </a:rPr>
                        <a:t>0.88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1">
                          <a:effectLst/>
                          <a:latin typeface="+mj-lt"/>
                        </a:rPr>
                        <a:t>50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1">
                          <a:effectLst/>
                          <a:latin typeface="+mj-lt"/>
                        </a:rPr>
                        <a:t>1967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1">
                          <a:effectLst/>
                          <a:latin typeface="+mj-lt"/>
                        </a:rPr>
                        <a:t>768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1">
                          <a:effectLst/>
                          <a:latin typeface="+mj-lt"/>
                        </a:rPr>
                        <a:t>269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1">
                          <a:effectLst/>
                          <a:latin typeface="+mj-lt"/>
                        </a:rPr>
                        <a:t>0.31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42367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08435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E89836-4D95-297E-FCC5-032B1C08E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174281-D0B7-38B0-490D-1DF323F6D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685030" cy="1508760"/>
          </a:xfrm>
        </p:spPr>
        <p:txBody>
          <a:bodyPr anchor="ctr">
            <a:normAutofit fontScale="90000"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749A7-4E64-CB90-85C4-303831836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3.6. Tinh chỉnh Whisper</a:t>
            </a:r>
          </a:p>
          <a:p>
            <a:pPr marL="0" indent="0"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3.6.1. Phương pháp đề xuất tinh chỉnh Whisper</a:t>
            </a:r>
          </a:p>
        </p:txBody>
      </p:sp>
      <p:pic>
        <p:nvPicPr>
          <p:cNvPr id="4" name="Picture 3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8C974DDE-764C-494F-06D5-BB0FB54B7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623" y="2290936"/>
            <a:ext cx="8798562" cy="39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300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1265D9-B5ED-CFEE-220C-08A17B4F5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959C6B72-F8E6-4281-8F3E-93FC0DC98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A53EF5-A882-645F-D00D-9B6FDC49C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65125"/>
            <a:ext cx="5295015" cy="2063808"/>
          </a:xfrm>
        </p:spPr>
        <p:txBody>
          <a:bodyPr anchor="b"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 XUẤT</a:t>
            </a:r>
          </a:p>
        </p:txBody>
      </p:sp>
      <p:pic>
        <p:nvPicPr>
          <p:cNvPr id="6" name="Picture 5" descr="A graph of a distribution of audio duration&#10;&#10;AI-generated content may be incorrect.">
            <a:extLst>
              <a:ext uri="{FF2B5EF4-FFF2-40B4-BE49-F238E27FC236}">
                <a16:creationId xmlns:a16="http://schemas.microsoft.com/office/drawing/2014/main" id="{4DD06560-C03D-05FF-BDE1-CC00E3027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338" y="553935"/>
            <a:ext cx="6039348" cy="36085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4487F1-57E4-B9BA-F8C8-C262C6FAB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4716379"/>
            <a:ext cx="5271690" cy="1700119"/>
          </a:xfrm>
          <a:prstGeom prst="rect">
            <a:avLst/>
          </a:prstGeom>
        </p:spPr>
      </p:pic>
      <p:sp>
        <p:nvSpPr>
          <p:cNvPr id="31" name="sketch line">
            <a:extLst>
              <a:ext uri="{FF2B5EF4-FFF2-40B4-BE49-F238E27FC236}">
                <a16:creationId xmlns:a16="http://schemas.microsoft.com/office/drawing/2014/main" id="{490234EE-E0D8-4805-9227-CCEAC60169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650181"/>
            <a:ext cx="4343400" cy="18288"/>
          </a:xfrm>
          <a:custGeom>
            <a:avLst/>
            <a:gdLst>
              <a:gd name="connsiteX0" fmla="*/ 0 w 4343400"/>
              <a:gd name="connsiteY0" fmla="*/ 0 h 18288"/>
              <a:gd name="connsiteX1" fmla="*/ 577052 w 4343400"/>
              <a:gd name="connsiteY1" fmla="*/ 0 h 18288"/>
              <a:gd name="connsiteX2" fmla="*/ 1067235 w 4343400"/>
              <a:gd name="connsiteY2" fmla="*/ 0 h 18288"/>
              <a:gd name="connsiteX3" fmla="*/ 1600853 w 4343400"/>
              <a:gd name="connsiteY3" fmla="*/ 0 h 18288"/>
              <a:gd name="connsiteX4" fmla="*/ 2264773 w 4343400"/>
              <a:gd name="connsiteY4" fmla="*/ 0 h 18288"/>
              <a:gd name="connsiteX5" fmla="*/ 2841825 w 4343400"/>
              <a:gd name="connsiteY5" fmla="*/ 0 h 18288"/>
              <a:gd name="connsiteX6" fmla="*/ 3375442 w 4343400"/>
              <a:gd name="connsiteY6" fmla="*/ 0 h 18288"/>
              <a:gd name="connsiteX7" fmla="*/ 4343400 w 4343400"/>
              <a:gd name="connsiteY7" fmla="*/ 0 h 18288"/>
              <a:gd name="connsiteX8" fmla="*/ 4343400 w 4343400"/>
              <a:gd name="connsiteY8" fmla="*/ 18288 h 18288"/>
              <a:gd name="connsiteX9" fmla="*/ 3722914 w 4343400"/>
              <a:gd name="connsiteY9" fmla="*/ 18288 h 18288"/>
              <a:gd name="connsiteX10" fmla="*/ 3189297 w 4343400"/>
              <a:gd name="connsiteY10" fmla="*/ 18288 h 18288"/>
              <a:gd name="connsiteX11" fmla="*/ 2481943 w 4343400"/>
              <a:gd name="connsiteY11" fmla="*/ 18288 h 18288"/>
              <a:gd name="connsiteX12" fmla="*/ 1904891 w 4343400"/>
              <a:gd name="connsiteY12" fmla="*/ 18288 h 18288"/>
              <a:gd name="connsiteX13" fmla="*/ 1414707 w 4343400"/>
              <a:gd name="connsiteY13" fmla="*/ 18288 h 18288"/>
              <a:gd name="connsiteX14" fmla="*/ 750788 w 4343400"/>
              <a:gd name="connsiteY14" fmla="*/ 18288 h 18288"/>
              <a:gd name="connsiteX15" fmla="*/ 0 w 4343400"/>
              <a:gd name="connsiteY15" fmla="*/ 18288 h 18288"/>
              <a:gd name="connsiteX16" fmla="*/ 0 w 43434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B9116-8FA6-824B-902C-E5737C6236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908005"/>
            <a:ext cx="4071647" cy="17717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3.6. Tinh chỉnh Whisper</a:t>
            </a:r>
          </a:p>
          <a:p>
            <a:pPr marL="0" indent="0"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3.6.2. Thống kê dữ liệu tinh chỉnh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4C75148-6963-68C8-32B1-01D05562DE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884430"/>
              </p:ext>
            </p:extLst>
          </p:nvPr>
        </p:nvGraphicFramePr>
        <p:xfrm>
          <a:off x="6096000" y="4716379"/>
          <a:ext cx="5696003" cy="1700119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436045">
                  <a:extLst>
                    <a:ext uri="{9D8B030D-6E8A-4147-A177-3AD203B41FA5}">
                      <a16:colId xmlns:a16="http://schemas.microsoft.com/office/drawing/2014/main" val="864166715"/>
                    </a:ext>
                  </a:extLst>
                </a:gridCol>
                <a:gridCol w="1269273">
                  <a:extLst>
                    <a:ext uri="{9D8B030D-6E8A-4147-A177-3AD203B41FA5}">
                      <a16:colId xmlns:a16="http://schemas.microsoft.com/office/drawing/2014/main" val="980520751"/>
                    </a:ext>
                  </a:extLst>
                </a:gridCol>
                <a:gridCol w="1172915">
                  <a:extLst>
                    <a:ext uri="{9D8B030D-6E8A-4147-A177-3AD203B41FA5}">
                      <a16:colId xmlns:a16="http://schemas.microsoft.com/office/drawing/2014/main" val="1283738973"/>
                    </a:ext>
                  </a:extLst>
                </a:gridCol>
                <a:gridCol w="1817770">
                  <a:extLst>
                    <a:ext uri="{9D8B030D-6E8A-4147-A177-3AD203B41FA5}">
                      <a16:colId xmlns:a16="http://schemas.microsoft.com/office/drawing/2014/main" val="2616268004"/>
                    </a:ext>
                  </a:extLst>
                </a:gridCol>
              </a:tblGrid>
              <a:tr h="650008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Subset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Validation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521545"/>
                  </a:ext>
                </a:extLst>
              </a:tr>
              <a:tr h="1050111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634 nghìn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7500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7500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309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98937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9AF5EE-7102-3123-9BC5-C3A21D084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7EA807-9D84-ADAB-3F59-2F396A096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989188" cy="1719072"/>
          </a:xfrm>
        </p:spPr>
        <p:txBody>
          <a:bodyPr anchor="b"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 XUẤT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CE6FA-3E42-984D-059A-C6B81E3F8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807208"/>
            <a:ext cx="3989191" cy="341071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3.6. Tinh chỉnh Whisper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3.6.3. Kết quả tinh chỉnh Whisper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Tổng hợp đánh giá WER và CER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của các phiên bản Whisper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trên tập dữ liệu tinh chỉnh kiểm thử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6" name="Picture 5" descr="A graph with blue and orange bars&#10;&#10;AI-generated content may be incorrect.">
            <a:extLst>
              <a:ext uri="{FF2B5EF4-FFF2-40B4-BE49-F238E27FC236}">
                <a16:creationId xmlns:a16="http://schemas.microsoft.com/office/drawing/2014/main" id="{2AC387B1-3EF7-6205-4E0C-D8C5EA70B9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125" y="1188715"/>
            <a:ext cx="7032375" cy="4480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245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03AEB6-77F9-06FD-0DF3-319FA22EA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7040AC-A611-B302-48CB-792EAD872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PHẦN 4</a:t>
            </a:r>
            <a:b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297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F27E30-325D-EBDB-B099-EE372FA5C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BD8EDD-BAC9-2683-7DEE-A4AD587B4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043F-0B2E-DA0E-91F0-B39A4CCA3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4.1. Phân tích thiết kế hệ thống</a:t>
            </a:r>
          </a:p>
          <a:p>
            <a:pPr marL="0" indent="0"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chính của hệ thống: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</a:t>
            </a:r>
          </a:p>
          <a:p>
            <a:pPr marL="0" indent="0"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khác: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chat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Quản lý luồng chat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Kiểm tra trắc nghiệm (thử nghiệm)</a:t>
            </a: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7744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EBDFD8-7446-46BD-0BB8-B1ECC6ED8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7FDF7-6435-4FC5-D038-7FBDBC4B1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01053"/>
            <a:ext cx="3267438" cy="1957539"/>
          </a:xfrm>
        </p:spPr>
        <p:txBody>
          <a:bodyPr anchor="b"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A6021-BD73-AB08-B14C-5A58B0DD3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4.2. Biểu đồ usecase tổng quan</a:t>
            </a:r>
          </a:p>
          <a:p>
            <a:pPr marL="0" indent="0">
              <a:buNone/>
            </a:pPr>
            <a:r>
              <a:rPr lang="en-US" sz="2000" u="sng">
                <a:latin typeface="Times New Roman" panose="02020603050405020304" pitchFamily="18" charset="0"/>
                <a:cs typeface="Times New Roman" panose="02020603050405020304" pitchFamily="18" charset="0"/>
              </a:rPr>
              <a:t>Các tác nhân: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khách: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nhập, đăng ký.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đã xác thực: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Tất cả các chức năng chính của hệ thống.</a:t>
            </a: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C9AB83A7-DE27-4785-C21F-674527DEE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990" y="640080"/>
            <a:ext cx="4448331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7719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603E7-09D3-1A2A-9D32-95754CBB0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A7067E-F186-499B-FA50-1DF36857B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 THỐNG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1C08-1AB7-C541-9947-A95627AB2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200" b="1">
                <a:latin typeface="Times New Roman" panose="02020603050405020304" pitchFamily="18" charset="0"/>
                <a:cs typeface="Times New Roman" panose="02020603050405020304" pitchFamily="18" charset="0"/>
              </a:rPr>
              <a:t>4.3. Chức năng trò chuyện văn bản</a:t>
            </a:r>
          </a:p>
        </p:txBody>
      </p:sp>
      <p:pic>
        <p:nvPicPr>
          <p:cNvPr id="5" name="Picture 4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5BC8B0F1-39C4-13FA-EF91-8EA88BA3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36" y="2591979"/>
            <a:ext cx="10917936" cy="335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2003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4E1AC0-A253-B353-B353-F77A7D76B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E9023D-6B43-C98F-B157-B9876600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11480"/>
            <a:ext cx="3666742" cy="1554480"/>
          </a:xfrm>
        </p:spPr>
        <p:txBody>
          <a:bodyPr anchor="ctr">
            <a:normAutofit fontScale="90000"/>
          </a:bodyPr>
          <a:lstStyle/>
          <a:p>
            <a:r>
              <a:rPr lang="en-US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 THỐNG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E0F91-BA6A-DA5A-2F4E-19C71D170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200" b="1">
                <a:latin typeface="Times New Roman" panose="02020603050405020304" pitchFamily="18" charset="0"/>
                <a:cs typeface="Times New Roman" panose="02020603050405020304" pitchFamily="18" charset="0"/>
              </a:rPr>
              <a:t>4.4. Chức năng trò chuyện thời gian thực</a:t>
            </a: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black and white oval with black text&#10;&#10;AI-generated content may be incorrect.">
            <a:extLst>
              <a:ext uri="{FF2B5EF4-FFF2-40B4-BE49-F238E27FC236}">
                <a16:creationId xmlns:a16="http://schemas.microsoft.com/office/drawing/2014/main" id="{400F4674-0E3F-118C-3473-4A0307914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36" y="2441859"/>
            <a:ext cx="10917936" cy="3657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2109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C7F132-A3C1-65E2-CA1F-70B273CD6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B79612-B223-DF9E-5901-FF63F3840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PHẦN 5</a:t>
            </a:r>
            <a:b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46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83ED0-392B-BF43-E7A9-6059AC84C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6727FE-5156-8EF1-5E69-5E7614EB4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26C19-B5EE-E427-0162-8BC77C2BCA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5.1. Chức năng trò chuyện văn bản</a:t>
            </a:r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56980801-ADF8-A725-46B8-485E757B3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012698"/>
            <a:ext cx="6903720" cy="4832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9300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290CEF-83B3-1CF0-1410-0F4519C0F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705896-42DE-F018-7039-AC1A85A3C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57200"/>
            <a:ext cx="3569850" cy="1508760"/>
          </a:xfrm>
        </p:spPr>
        <p:txBody>
          <a:bodyPr anchor="ctr"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67696-2F5C-9148-CDDC-CCEC70FF4C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5.2. Chức năng trò chuyện thời gian thực</a:t>
            </a:r>
            <a:endParaRPr lang="en-US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A screenshot of a chat&#10;&#10;AI-generated content may be incorrect.">
            <a:extLst>
              <a:ext uri="{FF2B5EF4-FFF2-40B4-BE49-F238E27FC236}">
                <a16:creationId xmlns:a16="http://schemas.microsoft.com/office/drawing/2014/main" id="{D62D7D95-7184-430E-6A13-BCDAADCC4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66" y="2290936"/>
            <a:ext cx="10023676" cy="39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2868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E7F811-DB4B-F6E5-C121-2E92DE1A9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65193A-EBBD-0405-8C3B-5B52CC240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PHẦN 6</a:t>
            </a:r>
            <a:b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</a:t>
            </a:r>
            <a:r>
              <a:rPr lang="en-US" sz="6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6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 T</a:t>
            </a: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RIỂN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491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3E5138-0C9D-EE29-EB6F-4446D5AD3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79F4A-E53E-F4B9-8479-700A69043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F902B-1608-BE6C-1830-8013F8B43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6.1. Kết quả đạt được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thuyết:</a:t>
            </a:r>
          </a:p>
          <a:p>
            <a:pPr>
              <a:lnSpc>
                <a:spcPct val="100000"/>
              </a:lnSpc>
            </a:pPr>
            <a:r>
              <a:rPr lang="en-US" alt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Nghiên cứu và áp dụng hiệu quả 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LLM, hệ thống RAG, kỹ thuật prompt vào hệ thống.</a:t>
            </a:r>
          </a:p>
          <a:p>
            <a:pPr>
              <a:lnSpc>
                <a:spcPct val="100000"/>
              </a:lnSpc>
            </a:pPr>
            <a:r>
              <a:rPr lang="en-US" alt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Xây dựng nền tảng cơ sở lý thuyết 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vững chắc cho hệ thống truy xuất tài liệu tiếng Việt.</a:t>
            </a:r>
          </a:p>
          <a:p>
            <a:pPr>
              <a:lnSpc>
                <a:spcPct val="100000"/>
              </a:lnSpc>
            </a:pPr>
            <a:r>
              <a:rPr lang="en-US" alt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Phạm vi nội dung chuyên biệt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giúp dễ dàng kiểm thử và tinh chỉnh hệ thống.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khai:</a:t>
            </a:r>
          </a:p>
          <a:p>
            <a:pPr>
              <a:lnSpc>
                <a:spcPct val="100000"/>
              </a:lnSpc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hoạt động tốt với câu hỏi văn bản và âm thanh</a:t>
            </a:r>
          </a:p>
          <a:p>
            <a:pPr>
              <a:lnSpc>
                <a:spcPct val="100000"/>
              </a:lnSpc>
            </a:pPr>
            <a:r>
              <a:rPr lang="en-US" alt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Hỗ trợ tìm kiếm 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kiến thức và </a:t>
            </a:r>
            <a:r>
              <a:rPr lang="en-US" alt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ôn tập 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kiến thức thông qua các câu hỏi trắc nghiệm</a:t>
            </a:r>
          </a:p>
          <a:p>
            <a:pPr>
              <a:lnSpc>
                <a:spcPct val="100000"/>
              </a:lnSpc>
            </a:pPr>
            <a:r>
              <a:rPr lang="en-US" alt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Xử lý được 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câu hỏi ngoài phạm vi kiến thức một cách phù hợp.</a:t>
            </a:r>
            <a:endParaRPr lang="en-US" alt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8167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20B137-F9D8-B29F-5073-8EED1C407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BDD14A6-7894-5F19-63BD-55958E71D7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91D3F6-F261-78AC-D5E2-CA4C2E5A1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E4283A5D-8E7F-1702-126F-AC0D3D213F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30E14-4021-FBE0-97BA-D617840990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6.2. Hướng phát triển</a:t>
            </a:r>
          </a:p>
          <a:p>
            <a:pPr>
              <a:lnSpc>
                <a:spcPct val="100000"/>
              </a:lnSpc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Mở rộng nội dung học tập: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Bổ sung thêm các nội dung lịch sử địa phương, các chuyên đề văn hóa, các bộ câu hỏi ôn tập và luyện thi,…</a:t>
            </a:r>
            <a:endParaRPr lang="en-US" sz="2000" i="1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Nâng cấp kỹ thuật: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Tối ưu phản hồi, cải thiện tốc độ và độ chính xác, cải thiện prompt,…</a:t>
            </a:r>
            <a:endParaRPr lang="en-US" sz="2000" i="1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Tăng khả năng tích hợp và tiếp cận: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Triển khai hệ thống lên website, ứng dụng học tập; mở rộng phạm vi sử dụng trong môi trường giáo dục thực tế.</a:t>
            </a:r>
            <a:endParaRPr lang="en-US" sz="2000" i="1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Cải thiện cá nhân hóa và phân tích người dùng: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Gợi ý nội dung học tập theo người dùng, xây dựng công cụ phân tích điểm mạnh – yếu của người dùng.</a:t>
            </a:r>
            <a:endParaRPr lang="en-US" sz="2000" i="1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Đảm bảo bảo mật: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Tăng cường bảo mật và kiểm soát sự an toàn của các truy cập đến hệ thống.</a:t>
            </a:r>
            <a:endParaRPr lang="en-US" sz="2000" i="1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4154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ACA2EA0-FFD3-42EC-9406-B595015ED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5288BCE-665C-472A-8C43-664BCFA31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8762" y="1247775"/>
            <a:ext cx="9144000" cy="3007447"/>
          </a:xfrm>
          <a:prstGeom prst="rect">
            <a:avLst/>
          </a:prstGeom>
          <a:solidFill>
            <a:schemeClr val="bg1"/>
          </a:solidFill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7F4C39-E3A3-D5AA-FD9B-573B4CC1D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4988" y="1442172"/>
            <a:ext cx="8582025" cy="217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6000" b="1" i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 ƠN QUÝ THẦY CÔ ĐÃ LẮNG NGHE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6C57131-53A7-4C1A-BEA8-25F06A06A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7872" y="3912322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75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2475</TotalTime>
  <Words>1659</Words>
  <Application>Microsoft Office PowerPoint</Application>
  <PresentationFormat>Widescreen</PresentationFormat>
  <Paragraphs>243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Times New Roman</vt:lpstr>
      <vt:lpstr>Office Theme</vt:lpstr>
      <vt:lpstr>HỆ THỐNG CHATBOT HỖ TRỢ HỌC LỊCH SỬ VIỆT NAM</vt:lpstr>
      <vt:lpstr>NỘI DUNG BÁO CÁO</vt:lpstr>
      <vt:lpstr>PHẦN 1 GIỚI THIỆU ĐỀ TÀI</vt:lpstr>
      <vt:lpstr>GIỚI THIỆU ĐỀ TÀI</vt:lpstr>
      <vt:lpstr>GIỚI THIỆU ĐỀ TÀI</vt:lpstr>
      <vt:lpstr>PHẦN 2 CƠ SỞ LÝ THUYẾT</vt:lpstr>
      <vt:lpstr>CƠ SỞ  LÝ THUYẾT</vt:lpstr>
      <vt:lpstr>CƠ SỞ  LÝ THUYẾT</vt:lpstr>
      <vt:lpstr>PHẦN 3 PHƯƠNG PHÁP ĐỀ XUẤT</vt:lpstr>
      <vt:lpstr>PHƯƠNG PHÁP ĐỀ XUẤT</vt:lpstr>
      <vt:lpstr>PHƯƠNG PHÁP ĐỀ XUẤT 3.2. Tổng quan phương pháp đề xuất</vt:lpstr>
      <vt:lpstr>PHƯƠNG PHÁP ĐỀ XUẤT 3.3. Hệ thống RAG đề xuất</vt:lpstr>
      <vt:lpstr>PHƯƠNG PHÁP ĐỀ XUẤT</vt:lpstr>
      <vt:lpstr>PHƯƠNG PHÁP ĐỀ XUẤT</vt:lpstr>
      <vt:lpstr>3.5.2. Hiệu quả phân tách trên chuỗi mẫu</vt:lpstr>
      <vt:lpstr>PowerPoint Presentation</vt:lpstr>
      <vt:lpstr>PowerPoint Presentation</vt:lpstr>
      <vt:lpstr>PHƯƠNG PHÁP ĐỀ XUẤT</vt:lpstr>
      <vt:lpstr>PHƯƠNG PHÁP ĐỀ XUẤT</vt:lpstr>
      <vt:lpstr>PHƯƠNG PHÁP ĐỀ XUẤT</vt:lpstr>
      <vt:lpstr>PHẦN 4  TRIỂN KHAI CHỨC NĂNG HỆ THỐNG</vt:lpstr>
      <vt:lpstr>TRIỂN KHAI CHỨC NĂNG HỆ THỐNG</vt:lpstr>
      <vt:lpstr>TRIỂN KHAI CHỨC NĂNG HỆ THỐNG</vt:lpstr>
      <vt:lpstr>TRIỂN KHAI CHỨC NĂNG HỆ THỐNG</vt:lpstr>
      <vt:lpstr>TRIỂN KHAI CHỨC NĂNG HỆ THỐNG</vt:lpstr>
      <vt:lpstr>PHẦN 5 KẾT QUẢ TRIỂN KHAI</vt:lpstr>
      <vt:lpstr>KẾT QUẢ TRIỂN KHAI</vt:lpstr>
      <vt:lpstr>KẾT QUẢ TRIỂN KHAI</vt:lpstr>
      <vt:lpstr>PHẦN 6  KẾT LUẬN &amp; HƯỚNG PHÁT TRIỂN</vt:lpstr>
      <vt:lpstr>KẾT LUẬN &amp; HƯỚNG PHÁT TRIỂN</vt:lpstr>
      <vt:lpstr>KẾT LUẬN &amp; HƯỚNG PHÁT TRIỂN</vt:lpstr>
      <vt:lpstr>CẢM ƠN QUÝ THẦY CÔ ĐÃ LẮNG NGHE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93</cp:revision>
  <dcterms:created xsi:type="dcterms:W3CDTF">2025-06-09T12:09:11Z</dcterms:created>
  <dcterms:modified xsi:type="dcterms:W3CDTF">2025-06-24T09:07:00Z</dcterms:modified>
</cp:coreProperties>
</file>