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62" r:id="rId4"/>
    <p:sldId id="258" r:id="rId5"/>
    <p:sldId id="259" r:id="rId6"/>
    <p:sldId id="263" r:id="rId7"/>
    <p:sldId id="285" r:id="rId8"/>
    <p:sldId id="286" r:id="rId9"/>
    <p:sldId id="281" r:id="rId10"/>
    <p:sldId id="268" r:id="rId11"/>
    <p:sldId id="269" r:id="rId12"/>
    <p:sldId id="318" r:id="rId13"/>
    <p:sldId id="292" r:id="rId14"/>
    <p:sldId id="319" r:id="rId15"/>
    <p:sldId id="325" r:id="rId16"/>
    <p:sldId id="326" r:id="rId17"/>
    <p:sldId id="327" r:id="rId18"/>
    <p:sldId id="302" r:id="rId19"/>
    <p:sldId id="328" r:id="rId20"/>
    <p:sldId id="312" r:id="rId21"/>
    <p:sldId id="265" r:id="rId22"/>
    <p:sldId id="313" r:id="rId23"/>
    <p:sldId id="277" r:id="rId24"/>
    <p:sldId id="278" r:id="rId25"/>
    <p:sldId id="279" r:id="rId26"/>
    <p:sldId id="266" r:id="rId27"/>
    <p:sldId id="316" r:id="rId28"/>
    <p:sldId id="317" r:id="rId29"/>
    <p:sldId id="321" r:id="rId30"/>
    <p:sldId id="283" r:id="rId31"/>
    <p:sldId id="329" r:id="rId32"/>
    <p:sldId id="33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9B11291-C0C4-40EB-9831-7A4D69CD6236}">
          <p14:sldIdLst>
            <p14:sldId id="256"/>
            <p14:sldId id="257"/>
            <p14:sldId id="262"/>
            <p14:sldId id="258"/>
            <p14:sldId id="259"/>
            <p14:sldId id="263"/>
            <p14:sldId id="285"/>
            <p14:sldId id="286"/>
            <p14:sldId id="281"/>
            <p14:sldId id="268"/>
            <p14:sldId id="269"/>
            <p14:sldId id="318"/>
            <p14:sldId id="292"/>
            <p14:sldId id="319"/>
            <p14:sldId id="325"/>
            <p14:sldId id="326"/>
            <p14:sldId id="327"/>
            <p14:sldId id="302"/>
            <p14:sldId id="328"/>
            <p14:sldId id="312"/>
            <p14:sldId id="265"/>
            <p14:sldId id="313"/>
            <p14:sldId id="277"/>
            <p14:sldId id="278"/>
            <p14:sldId id="279"/>
            <p14:sldId id="266"/>
            <p14:sldId id="316"/>
            <p14:sldId id="317"/>
            <p14:sldId id="321"/>
            <p14:sldId id="283"/>
            <p14:sldId id="329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2" autoAdjust="0"/>
    <p:restoredTop sz="86015" autoAdjust="0"/>
  </p:normalViewPr>
  <p:slideViewPr>
    <p:cSldViewPr snapToGrid="0">
      <p:cViewPr varScale="1">
        <p:scale>
          <a:sx n="60" d="100"/>
          <a:sy n="60" d="100"/>
        </p:scale>
        <p:origin x="11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B1C5C1-54CE-4892-A53C-9115FF4B63AE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AE1F8-3712-49A6-BC7C-273E12ADC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3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AE1F8-3712-49A6-BC7C-273E12ADCF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81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29AF-B355-D1E8-9B2D-B8269525B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7E63C-8FF0-97E4-B4F0-33843DF8C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9F2BF-AA70-F54C-B731-3D861AB98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5B464-2024-A8ED-9C7C-A41DA166F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9A9B8-1EFD-5192-7DEB-46777E76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4409B-8C38-1A8F-29F7-B3B18D129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F2842-D70F-50B1-4B1C-D1B015C01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16A48-E558-E35D-8FC6-00F7621C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8BF35-E979-8F2E-1BDB-57BAF9AC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28570-8D79-A971-B32C-4032154AA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1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18E3-A4FB-1672-078A-DBEFE342F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A2838-D279-21C8-2B1E-036EC5DF0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E73C9-9CB4-A847-9FD2-AC9E2FAE7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44A77-FC0F-06FC-6A12-3276BCAE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0003C-90A9-EA1C-D7ED-504494AC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60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ABA76-ED91-7EE0-7E8C-E9F29DAD0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285B7-563E-E1FD-3978-F25D88637E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7E7BB-0E71-5989-1231-F070DE9A8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33FCD-493A-7EE4-F542-189CC670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F390C-B99E-3CE7-631E-DBA1E2DED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B861D-E93F-EE54-EB47-C65B5B9C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9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5041-915D-1B57-6585-E46D8F03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897D1-315D-6F7F-6641-E07C60B26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216A7-44AA-621D-CAF6-5D5C83B7A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25DA8-420D-BB30-4DE8-99CEB403CB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C9977-D0CD-C314-F299-66D26BF6D2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B8C945-B118-A49B-4EFD-6F5BAA33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7DDD7F-0432-89CD-B540-D031806EE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3C6C9F-7DC5-80BB-B555-881A6BD2E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5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08FA-B87A-A158-7C30-0140BA3B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09ABB-F651-41F9-52CA-A367A596B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0CD08-030F-CEE8-9986-E879A72D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57DE-7934-DA4A-925E-3CA9B957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84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E45D9-8CEB-7175-77D2-FD2E956EB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EACD59-99D2-8B6B-F05D-120CD303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8994E-693D-EA8A-B9B3-0BDEECB9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50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153DD-120D-7FE1-8213-1F75220C0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1D198-FB63-C5FF-3B4D-BE5129CF2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FA32C8-5ED0-57AE-7B20-6A14B6940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87C8D-98E3-450C-F2BE-D7C3A59DF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831C5-FC80-9F39-EC63-8FA36704A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A1AA8-A581-B978-BC1C-F2EEF05BA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88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AE862-AEF1-8A07-360B-04C521CCC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5F83F-A5F3-6969-1539-9B9CF2F32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20172-6BD6-DAC4-947C-B7AC2905B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C2EAE-1317-1E3C-5167-BECD90244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72C58-D327-543A-6915-24726869B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34148-7F51-2855-5EFB-D9B60FF6F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0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0A707-8C7C-3DF2-50FA-D99B169D4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FAC39-5B78-9364-F32D-066FC405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63DED-A28B-E216-59C6-C6C67E9BB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A498F-6E05-C40A-8CCF-FA4D8AF1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38E0B-6E2A-8566-2999-056785A5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2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DD25BC-7B38-FF50-F800-FA1833A84F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EDB33-95B1-B4B7-D428-ED30E9C52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BD337-9F18-3111-99FA-19369376F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C343-037B-4BB6-A079-7472CF8881D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5D57B-FB7A-723B-8362-E65B3F7D1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E1B01-BE7F-FFCC-9094-7723BE49B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94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65575-5DF7-CE07-B27E-D0D694C4C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06DA5-2478-C139-C50B-F75C3F885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59DF3-996C-AAC9-862D-5DBE644FDE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6C343-037B-4BB6-A079-7472CF8881D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08EB3-0CA6-B077-D700-62B640671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DD6CA-B4DC-3EB9-5C97-BAFAFF693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D6CA4-79FB-4FD5-9065-54A4B7DE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7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BE15F-3D48-FED2-9293-40CA55594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3016918"/>
            <a:ext cx="9448800" cy="2244308"/>
          </a:xfrm>
        </p:spPr>
        <p:txBody>
          <a:bodyPr anchor="ctr">
            <a:normAutofit/>
          </a:bodyPr>
          <a:lstStyle/>
          <a:p>
            <a:r>
              <a:rPr lang="en-US" sz="4800" b="1">
                <a:latin typeface="Times New Roman" panose="02020603050405020304" pitchFamily="18" charset="0"/>
              </a:rPr>
              <a:t>HỆ THỐNG CHATBOT HỖ TRỢ HỌC LỊCH SỬ VIỆT NAM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50EE6C-37B6-A4AC-4C11-2E5A08C66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61226"/>
            <a:ext cx="9144000" cy="1120565"/>
          </a:xfrm>
        </p:spPr>
        <p:txBody>
          <a:bodyPr anchor="ctr"/>
          <a:lstStyle/>
          <a:p>
            <a:r>
              <a:rPr lang="en-US">
                <a:latin typeface="Times New Roman" panose="02020603050405020304" pitchFamily="18" charset="0"/>
              </a:rPr>
              <a:t>GVHD: </a:t>
            </a:r>
            <a:r>
              <a:rPr lang="en-US" b="1">
                <a:latin typeface="Times New Roman" panose="02020603050405020304" pitchFamily="18" charset="0"/>
              </a:rPr>
              <a:t>TS. NGUYỄN NĂNG HÙNG VÂN</a:t>
            </a:r>
          </a:p>
          <a:p>
            <a:r>
              <a:rPr lang="en-US">
                <a:latin typeface="Times New Roman" panose="02020603050405020304" pitchFamily="18" charset="0"/>
              </a:rPr>
              <a:t>SINH VIÊN THỰC HIỆN: </a:t>
            </a:r>
            <a:r>
              <a:rPr lang="en-US" b="1">
                <a:latin typeface="Times New Roman" panose="02020603050405020304" pitchFamily="18" charset="0"/>
              </a:rPr>
              <a:t>LÊ VIỆT TRUNG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067AD6E-B2FE-103A-F385-B0BCE3B39C2A}"/>
              </a:ext>
            </a:extLst>
          </p:cNvPr>
          <p:cNvSpPr txBox="1">
            <a:spLocks/>
          </p:cNvSpPr>
          <p:nvPr/>
        </p:nvSpPr>
        <p:spPr>
          <a:xfrm>
            <a:off x="1524000" y="342314"/>
            <a:ext cx="9144000" cy="1071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Times New Roman" panose="02020603050405020304" pitchFamily="18" charset="0"/>
              </a:rPr>
              <a:t>TRƯỜNG ĐẠI HỌC BÁCH KHOA</a:t>
            </a:r>
          </a:p>
          <a:p>
            <a:r>
              <a:rPr lang="en-US" b="1">
                <a:latin typeface="Times New Roman" panose="02020603050405020304" pitchFamily="18" charset="0"/>
              </a:rPr>
              <a:t>KHOA CÔNG NGHỆ THÔNG TIN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DFF9081-97ED-6106-1082-CBA4AF634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5928" y="1596774"/>
            <a:ext cx="1420144" cy="142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33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4719D-DA31-265B-399F-E5A4980EE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NỘI DUNG BÁO CÁO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55BBE-2C7A-179F-1170-6AB59E37D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ĐỀ TÀI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CƠ SỞ LÝ THUYẾT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ĐỀ XUẤT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CHỨC NĂNG HỆ THỐNG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TRIỂN KHAI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&amp; HƯỚNG PHÁT TRIỂN</a:t>
            </a:r>
          </a:p>
          <a:p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89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D1EF-E53B-5A9F-9692-52F28506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 1</a:t>
            </a:r>
            <a:b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ĐỀ TÀI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0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E429C-446C-5C3D-E9F3-E05438AFB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ĐỀ TÀI</a:t>
            </a:r>
          </a:p>
        </p:txBody>
      </p:sp>
      <p:pic>
        <p:nvPicPr>
          <p:cNvPr id="7" name="Picture 6" descr="A group of logos in a circle&#10;&#10;AI-generated content may be incorrect.">
            <a:extLst>
              <a:ext uri="{FF2B5EF4-FFF2-40B4-BE49-F238E27FC236}">
                <a16:creationId xmlns:a16="http://schemas.microsoft.com/office/drawing/2014/main" id="{C1C2440E-83D8-6DF3-21CD-2DE339B7F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231" y="261991"/>
            <a:ext cx="3360391" cy="1890220"/>
          </a:xfrm>
          <a:prstGeom prst="rect">
            <a:avLst/>
          </a:prstGeom>
        </p:spPr>
      </p:pic>
      <p:sp>
        <p:nvSpPr>
          <p:cNvPr id="16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A3D1D-5A35-3D5F-7447-81194895E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04819"/>
            <a:ext cx="6986016" cy="367214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1.1. Lý do chọn đề tài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Nhu cầu </a:t>
            </a:r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đổi mới phương pháp giáo dục.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Tiềm năng từ </a:t>
            </a:r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AI và LLM.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Lịch sử là một </a:t>
            </a:r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môn học đặc thù.</a:t>
            </a:r>
          </a:p>
        </p:txBody>
      </p:sp>
      <p:pic>
        <p:nvPicPr>
          <p:cNvPr id="5" name="Picture 4" descr="A classroom with students in front of a blackboard&#10;&#10;AI-generated content may be incorrect.">
            <a:extLst>
              <a:ext uri="{FF2B5EF4-FFF2-40B4-BE49-F238E27FC236}">
                <a16:creationId xmlns:a16="http://schemas.microsoft.com/office/drawing/2014/main" id="{F383968B-DDBB-0538-D632-57CBE19A0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144" y="2310086"/>
            <a:ext cx="2520293" cy="1890220"/>
          </a:xfrm>
          <a:prstGeom prst="rect">
            <a:avLst/>
          </a:prstGeom>
        </p:spPr>
      </p:pic>
      <p:pic>
        <p:nvPicPr>
          <p:cNvPr id="9" name="Picture 8" descr="A book on a map&#10;&#10;AI-generated content may be incorrect.">
            <a:extLst>
              <a:ext uri="{FF2B5EF4-FFF2-40B4-BE49-F238E27FC236}">
                <a16:creationId xmlns:a16="http://schemas.microsoft.com/office/drawing/2014/main" id="{B1F2BB6C-6A97-7B72-A60E-2FBCC066E6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718" y="4358181"/>
            <a:ext cx="3231145" cy="189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577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CC9AE-4282-9F1E-1993-C94D1F1C7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EAC56F-4530-0099-1FEB-FF6A38C16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ĐỀ TÀI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CE7BF-29EB-0616-CC76-430116469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1.2. Mục tiêu của đề tài</a:t>
            </a:r>
          </a:p>
          <a:p>
            <a:pPr>
              <a:lnSpc>
                <a:spcPct val="100000"/>
              </a:lnSpc>
            </a:pP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hệ thống chatbot hỗ trợ học Lịch sử Việt Nam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bằng cách ứng dụng LLM và các công nghệ NLP tiên tiến.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Gia tăng </a:t>
            </a: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tính tự động hóa, hiệu quả và trải nghiệm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của việc học Lịch sử.</a:t>
            </a:r>
          </a:p>
          <a:p>
            <a:pPr>
              <a:lnSpc>
                <a:spcPct val="100000"/>
              </a:lnSpc>
            </a:pP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Bổ trợ và hiện đại hóa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giáo dục truyền thống.</a:t>
            </a:r>
          </a:p>
          <a:p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teacher teaching a class&#10;&#10;AI-generated content may be incorrect.">
            <a:extLst>
              <a:ext uri="{FF2B5EF4-FFF2-40B4-BE49-F238E27FC236}">
                <a16:creationId xmlns:a16="http://schemas.microsoft.com/office/drawing/2014/main" id="{1511805F-94FA-3749-A5B0-C25E681A6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40" y="704423"/>
            <a:ext cx="4014216" cy="2679489"/>
          </a:xfrm>
          <a:prstGeom prst="rect">
            <a:avLst/>
          </a:prstGeom>
        </p:spPr>
      </p:pic>
      <p:pic>
        <p:nvPicPr>
          <p:cNvPr id="5" name="Picture 4" descr="A chatbot with a headset&#10;&#10;AI-generated content may be incorrect.">
            <a:extLst>
              <a:ext uri="{FF2B5EF4-FFF2-40B4-BE49-F238E27FC236}">
                <a16:creationId xmlns:a16="http://schemas.microsoft.com/office/drawing/2014/main" id="{73751C16-9EAF-37E9-87A1-B09347ACC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204" y="4079193"/>
            <a:ext cx="3427200" cy="2176272"/>
          </a:xfrm>
          <a:prstGeom prst="rect">
            <a:avLst/>
          </a:prstGeom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6CE18BF5-C5F9-D784-FA15-E641D51DCB74}"/>
              </a:ext>
            </a:extLst>
          </p:cNvPr>
          <p:cNvSpPr/>
          <p:nvPr/>
        </p:nvSpPr>
        <p:spPr>
          <a:xfrm>
            <a:off x="9734590" y="3561347"/>
            <a:ext cx="272715" cy="368969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A64011-730D-C95C-DF94-B39101006B8E}"/>
              </a:ext>
            </a:extLst>
          </p:cNvPr>
          <p:cNvSpPr txBox="1"/>
          <p:nvPr/>
        </p:nvSpPr>
        <p:spPr>
          <a:xfrm>
            <a:off x="10007305" y="3564873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Bổ trợ</a:t>
            </a:r>
          </a:p>
        </p:txBody>
      </p:sp>
    </p:spTree>
    <p:extLst>
      <p:ext uri="{BB962C8B-B14F-4D97-AF65-F5344CB8AC3E}">
        <p14:creationId xmlns:p14="http://schemas.microsoft.com/office/powerpoint/2010/main" val="3036869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41905-87A2-41AF-1129-86442AE8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67299-79A1-4EF6-83A3-A771D257B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 2</a:t>
            </a:r>
            <a:b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 SỞ LÝ THUYẾT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0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27226-3F43-80C0-4171-3D2B3FF83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D27E4-D1CC-7449-5835-509B35BF4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b="1">
                <a:latin typeface="Times New Roman" panose="02020603050405020304" pitchFamily="18" charset="0"/>
                <a:cs typeface="Times New Roman" panose="02020603050405020304" pitchFamily="18" charset="0"/>
              </a:rPr>
              <a:t>CƠ SỞ </a:t>
            </a:r>
            <a:br>
              <a:rPr lang="en-US" sz="5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000" b="1">
                <a:latin typeface="Times New Roman" panose="02020603050405020304" pitchFamily="18" charset="0"/>
                <a:cs typeface="Times New Roman" panose="02020603050405020304" pitchFamily="18" charset="0"/>
              </a:rPr>
              <a:t>LÝ THUYẾT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7B23E-8310-5899-E43E-DAE762286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135880" cy="3547872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2.1. Mô hình </a:t>
            </a: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ngữ lớn - LLM</a:t>
            </a:r>
          </a:p>
          <a:p>
            <a:pPr>
              <a:lnSpc>
                <a:spcPct val="110000"/>
              </a:lnSpc>
            </a:pPr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Xử lý và sinh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văn bản tự nhiên.</a:t>
            </a:r>
          </a:p>
          <a:p>
            <a:pPr>
              <a:lnSpc>
                <a:spcPct val="11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Huấn luyện trên </a:t>
            </a:r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quy mô lớn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Kiến trúc phức tạp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với hàng tỉ tham số dựa trên </a:t>
            </a:r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nền Transformer</a:t>
            </a: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Có thể trích xuất, phân tích, gán nhãn, sinh văn bản.</a:t>
            </a:r>
          </a:p>
          <a:p>
            <a:pPr>
              <a:lnSpc>
                <a:spcPct val="110000"/>
              </a:lnSpc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trong chatbot, giáo dục, pháp lý, y tế…</a:t>
            </a:r>
          </a:p>
          <a:p>
            <a:pPr marL="0" indent="0">
              <a:buNone/>
            </a:pPr>
            <a:endParaRPr lang="en-US" sz="2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0E2A17-FB78-A897-D260-C9C252227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816" y="1610795"/>
            <a:ext cx="6108192" cy="366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61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0F448-5FE2-3765-2626-2BF7EE14F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2D5F9A-9397-BD22-F4BB-DCDF55965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b="1">
                <a:latin typeface="Times New Roman" panose="02020603050405020304" pitchFamily="18" charset="0"/>
                <a:cs typeface="Times New Roman" panose="02020603050405020304" pitchFamily="18" charset="0"/>
              </a:rPr>
              <a:t>CƠ SỞ </a:t>
            </a:r>
            <a:br>
              <a:rPr lang="en-US" sz="5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000" b="1">
                <a:latin typeface="Times New Roman" panose="02020603050405020304" pitchFamily="18" charset="0"/>
                <a:cs typeface="Times New Roman" panose="02020603050405020304" pitchFamily="18" charset="0"/>
              </a:rPr>
              <a:t>LÝ THUYẾT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CBD0B-87E8-0B2A-8825-72D6A9F50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2.2. Hệ thống RAG</a:t>
            </a:r>
          </a:p>
          <a:p>
            <a:pPr>
              <a:lnSpc>
                <a:spcPct val="100000"/>
              </a:lnSpc>
            </a:pP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Sự kết hợp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giữa tìm kiếm thông tin (retrieval) và sinh văn bản (generation).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Gồm </a:t>
            </a: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bộ truy xuất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bộ tạo sinh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Cải thiện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độ chinh xác, khả năng mở rộng và khả năng tùy biến lĩnh vực.</a:t>
            </a:r>
          </a:p>
        </p:txBody>
      </p:sp>
      <p:pic>
        <p:nvPicPr>
          <p:cNvPr id="4" name="Picture 3" descr="A diagram of a software model&#10;&#10;AI-generated content may be incorrect.">
            <a:extLst>
              <a:ext uri="{FF2B5EF4-FFF2-40B4-BE49-F238E27FC236}">
                <a16:creationId xmlns:a16="http://schemas.microsoft.com/office/drawing/2014/main" id="{1AA1C02A-01CC-8118-BE66-A0E66E8B5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482" y="1878273"/>
            <a:ext cx="6111240" cy="310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655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A7409-7ECF-F86F-F77D-6A0F7B05B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A0FCC-8B8D-D846-39CB-5E8E3387C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 3</a:t>
            </a:r>
            <a:b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ĐỀ XUẤT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24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EBBBE-DF49-BBAA-A74C-124D89514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75B74-5CE3-6F61-F092-CEFD46C2E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ĐỀ XUẤT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8F291-9F9C-7F17-EE02-9E221BB71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3.1. Phát biểu và phân tích bài toán</a:t>
            </a:r>
          </a:p>
          <a:p>
            <a:pPr>
              <a:lnSpc>
                <a:spcPct val="100000"/>
              </a:lnSpc>
            </a:pP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Tiếp nhận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đầu vào văn bản và </a:t>
            </a: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phản hồi chính xác, phù hợp.</a:t>
            </a:r>
          </a:p>
          <a:p>
            <a:pPr>
              <a:lnSpc>
                <a:spcPct val="100000"/>
              </a:lnSpc>
            </a:pP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Kết hợp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việc truy xuất tài liệu với các mô hình sinh ngôn ngữ.</a:t>
            </a:r>
          </a:p>
          <a:p>
            <a:pPr>
              <a:lnSpc>
                <a:spcPct val="100000"/>
              </a:lnSpc>
            </a:pP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Duy trì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mạch hội thoại liên tục.</a:t>
            </a:r>
          </a:p>
          <a:p>
            <a:pPr>
              <a:lnSpc>
                <a:spcPct val="100000"/>
              </a:lnSpc>
            </a:pP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Nhận diện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câu hỏi ngoài phạm vi kiến thức.</a:t>
            </a:r>
          </a:p>
        </p:txBody>
      </p:sp>
    </p:spTree>
    <p:extLst>
      <p:ext uri="{BB962C8B-B14F-4D97-AF65-F5344CB8AC3E}">
        <p14:creationId xmlns:p14="http://schemas.microsoft.com/office/powerpoint/2010/main" val="1420802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4C8A0-A7AB-2DC9-2101-E2865FE6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61362B-C055-854C-DA7B-0A54BC88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213039"/>
            <a:ext cx="10909640" cy="14539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en-US" sz="4000" b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ĐỀ XUẤT</a:t>
            </a:r>
            <a:br>
              <a:rPr lang="en-US" sz="2800" b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3.2. Tổng quan phương pháp đề xuất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DDCF43-B889-D0B9-E9F1-1B2FF967F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985" y="1818226"/>
            <a:ext cx="7245432" cy="440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95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9206B-2DF5-06CD-B140-9FA5D277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47DA0F-DFD7-605B-1978-2ECE55BF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180955"/>
            <a:ext cx="10909640" cy="14860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ĐỀ XUẤT</a:t>
            </a:r>
            <a:b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3.3. Hệ thống RAG đề xuất</a:t>
            </a:r>
            <a:endParaRPr lang="en-US" sz="41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6F8FCA-E996-1FC6-6FF5-E917E277A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580" y="1847925"/>
            <a:ext cx="7070840" cy="440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54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07503-FAAF-2934-626E-F3619FB0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318B0F-F164-D94D-7A04-2DDFA28B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 b="1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ĐỀ XUẤT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BC489-EA73-CEFB-BFFB-8D3BABA50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660904"/>
            <a:ext cx="5272559" cy="354787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3.4. Thống kê kho tài liệu Lịch sử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Có tổng cộng </a:t>
            </a: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1121 tài liệu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các loại.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Tài liệu có </a:t>
            </a: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3 loại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chapter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(chương),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(bài học) và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(câu hỏi hoặc tiêu đề).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Tài liệu loại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chiếm </a:t>
            </a: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phần lớn số lượng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tài liệu thu thập được.</a:t>
            </a:r>
          </a:p>
        </p:txBody>
      </p:sp>
      <p:pic>
        <p:nvPicPr>
          <p:cNvPr id="4" name="Picture 3" descr="A green graph with white text&#10;&#10;AI-generated content may be incorrect.">
            <a:extLst>
              <a:ext uri="{FF2B5EF4-FFF2-40B4-BE49-F238E27FC236}">
                <a16:creationId xmlns:a16="http://schemas.microsoft.com/office/drawing/2014/main" id="{5E9C202C-3520-3FA0-68AD-F02B840B6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494" y="2011680"/>
            <a:ext cx="5782858" cy="286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656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FCDFC-79DB-40CC-2BA1-C22B70543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A9051A-8510-B97B-FCC3-88FA6E601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6A097-795E-150D-A0F7-19244E93A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600" b="1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ĐỀ XUẤT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CC773537-1363-BB47-78B1-2C9E2DF41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85546-EAF9-A79D-480C-C6A4EEF58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3.5. Mô hình embedding đề xuất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Các tiêu chí đánh giá và lựa chọn mô hình:</a:t>
            </a:r>
          </a:p>
          <a:p>
            <a:pPr>
              <a:lnSpc>
                <a:spcPct val="10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Hiệu quả phân tách từ trên chuỗi mẫu.</a:t>
            </a:r>
          </a:p>
          <a:p>
            <a:pPr>
              <a:lnSpc>
                <a:spcPct val="10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Hiệu quả phân tách từ trên tập dữ liệu.</a:t>
            </a:r>
          </a:p>
          <a:p>
            <a:pPr>
              <a:lnSpc>
                <a:spcPct val="100000"/>
              </a:lnSpc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Hiệu quả embedding tập dữ liệu.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077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7E0ACF-349E-0BF7-EF6C-7597D8A62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338952"/>
              </p:ext>
            </p:extLst>
          </p:nvPr>
        </p:nvGraphicFramePr>
        <p:xfrm>
          <a:off x="207579" y="1923394"/>
          <a:ext cx="11776841" cy="4675458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760210">
                  <a:extLst>
                    <a:ext uri="{9D8B030D-6E8A-4147-A177-3AD203B41FA5}">
                      <a16:colId xmlns:a16="http://schemas.microsoft.com/office/drawing/2014/main" val="3401729846"/>
                    </a:ext>
                  </a:extLst>
                </a:gridCol>
                <a:gridCol w="9016631">
                  <a:extLst>
                    <a:ext uri="{9D8B030D-6E8A-4147-A177-3AD203B41FA5}">
                      <a16:colId xmlns:a16="http://schemas.microsoft.com/office/drawing/2014/main" val="1479469748"/>
                    </a:ext>
                  </a:extLst>
                </a:gridCol>
              </a:tblGrid>
              <a:tr h="163987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 mô hình</a:t>
                      </a:r>
                      <a:endParaRPr lang="en-US" sz="16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509" marR="485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Kết quả tokenization</a:t>
                      </a:r>
                      <a:endParaRPr lang="en-US" sz="16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509" marR="485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999059"/>
                  </a:ext>
                </a:extLst>
              </a:tr>
              <a:tr h="528343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6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all-MiniLM-L6-v2</a:t>
                      </a:r>
                      <a:endParaRPr lang="en-US" sz="1600" b="0" i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509" marR="485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['[CLS]', 'chu', '##ong', ':', 'bu', '##oi', 'đ', '##au', 'li', '##ch', 'su', 'nu', '##oc', 'ta', '[UNK]', '[UNK]', '(', '[UNK]', ')', '[UNK]', '[UNK]', '[UNK]', '[SEP]']</a:t>
                      </a:r>
                      <a:endParaRPr lang="en-US" sz="16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509" marR="485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90032"/>
                  </a:ext>
                </a:extLst>
              </a:tr>
              <a:tr h="63614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6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bert-base-vietnamese-uncased</a:t>
                      </a:r>
                      <a:endParaRPr lang="en-US" sz="1600" b="0" i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509" marR="485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['[CLS]', 'chuong', '[UNK]', 'bu', '##o', '##i', 'đau', 'lich', 'su', 'nu', '##oc', 'ta', '[UNK]', '[UNK]', '[UNK]', '[UNK]', '[UNK]', '[UNK]', '[UNK]', '[UNK]', '[SEP]']</a:t>
                      </a:r>
                      <a:endParaRPr lang="en-US" sz="16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509" marR="485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113233"/>
                  </a:ext>
                </a:extLst>
              </a:tr>
              <a:tr h="526950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6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distiluse-base-multilingual-cased-v2</a:t>
                      </a:r>
                      <a:endParaRPr lang="en-US" sz="1600" b="0" i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509" marR="485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['[CLS]', 'Chương', ':', '[UNK]', '[UNK]', '[UNK]', '[UNK]', '[UNK]', 'TA', '[UNK]', '[UNK]', '(', '[UNK]', ')', 'ʃ', '##♪', '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卍</a:t>
                      </a:r>
                      <a:r>
                        <a:rPr lang="vi-V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', '[UNK]', '[SEP]']</a:t>
                      </a:r>
                      <a:endParaRPr lang="en-US" sz="16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509" marR="485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829504"/>
                  </a:ext>
                </a:extLst>
              </a:tr>
              <a:tr h="710521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6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multilingual-e5-small</a:t>
                      </a:r>
                      <a:endParaRPr lang="en-US" sz="1600" b="0" i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509" marR="485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['&lt;s&gt;', '▁Chương', ':', '▁BU', 'Ổ', 'I', '▁Đ', 'Ầ', 'U', '▁L', 'Ị', 'CH', '▁S', 'Ử', '▁N', 'ƯỚC', '▁TA', '▁', '❉', '▁', '♡', '&lt;unk&gt;', '(', 'ˆ', '◡', 'ˆ', ')', 'ʃ', '♪', '▁', '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卍</a:t>
                      </a:r>
                      <a:r>
                        <a:rPr lang="vi-V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', '▁', '&lt;unk&gt;', '&lt;/s&gt;']</a:t>
                      </a:r>
                      <a:endParaRPr lang="en-US" sz="16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509" marR="485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756113"/>
                  </a:ext>
                </a:extLst>
              </a:tr>
              <a:tr h="892698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6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sup-SimCSE-VietNamese-phobert-base</a:t>
                      </a:r>
                      <a:endParaRPr lang="en-US" sz="1600" b="0" i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509" marR="485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['&lt;s&gt;', 'Ch@@', 'ương@@', ':', 'B@@', 'U@@', 'ỔI', 'Đ@@', 'Ầ@@', 'U', 'L@@', 'Ị@@', 'CH', 'S@@', 'Ử', 'N@@', 'ƯỚC', 'TA', '&lt;unk&gt;', '&lt;unk&gt;', '&lt;unk&gt;', '(@@', '&lt;unk&gt;', '&lt;unk&gt;', '&lt;unk&gt;', ')@@', 'ʃ@@', '&lt;unk&gt;', '&lt;unk&gt;', '&lt;unk&gt;', '&lt;/s&gt;']</a:t>
                      </a:r>
                      <a:endParaRPr lang="en-US" sz="16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509" marR="485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388337"/>
                  </a:ext>
                </a:extLst>
              </a:tr>
              <a:tr h="892698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6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vietnamese-bi-encoder</a:t>
                      </a:r>
                      <a:endParaRPr lang="en-US" sz="1600" b="0" i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509" marR="485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['&lt;s&gt;', 'Ch@@', 'ương@@', ':', 'B@@', 'U@@', 'ỔI', 'Đ@@', 'Ầ@@', 'U', 'L@@', 'Ị@@', 'CH', 'S@@', 'Ử', 'N@@', 'ƯỚC', 'TA', '&lt;unk&gt;', '&lt;unk&gt;', '&lt;unk&gt;', '(@@', '&lt;unk&gt;', '&lt;unk&gt;', '&lt;unk&gt;', ')@@', 'ʃ@@', '&lt;unk&gt;', '&lt;unk&gt;', '&lt;unk&gt;', '&lt;/s&gt;']</a:t>
                      </a:r>
                      <a:endParaRPr lang="en-US" sz="16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509" marR="485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204143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A095392-C4EE-B911-E83F-6C32886D405E}"/>
              </a:ext>
            </a:extLst>
          </p:cNvPr>
          <p:cNvSpPr txBox="1">
            <a:spLocks/>
          </p:cNvSpPr>
          <p:nvPr/>
        </p:nvSpPr>
        <p:spPr>
          <a:xfrm>
            <a:off x="838199" y="1263761"/>
            <a:ext cx="10515600" cy="65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Chuỗi mẫu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/>
              <a:t>Chương: BUỔI ĐẦU LỊCH SỬ NƯỚC TA❉ ♡ƪ(ˆ◡ˆ)ʃ♪ </a:t>
            </a:r>
            <a:r>
              <a:rPr lang="en-US"/>
              <a:t>卍</a:t>
            </a:r>
            <a:r>
              <a:rPr lang="vi-VN"/>
              <a:t> ₯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2062D12-AEFD-707C-293E-C11A28C1B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63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3.5.2. Hiệu quả phân tách trên chuỗi mẫu</a:t>
            </a:r>
          </a:p>
        </p:txBody>
      </p:sp>
    </p:spTree>
    <p:extLst>
      <p:ext uri="{BB962C8B-B14F-4D97-AF65-F5344CB8AC3E}">
        <p14:creationId xmlns:p14="http://schemas.microsoft.com/office/powerpoint/2010/main" val="718282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46313-0D2E-6CBB-D691-AD340309E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0640D0E-4305-0D41-B0A5-0C7E567E7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166159"/>
              </p:ext>
            </p:extLst>
          </p:nvPr>
        </p:nvGraphicFramePr>
        <p:xfrm>
          <a:off x="619625" y="1254533"/>
          <a:ext cx="10952748" cy="5329156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625367">
                  <a:extLst>
                    <a:ext uri="{9D8B030D-6E8A-4147-A177-3AD203B41FA5}">
                      <a16:colId xmlns:a16="http://schemas.microsoft.com/office/drawing/2014/main" val="33511137"/>
                    </a:ext>
                  </a:extLst>
                </a:gridCol>
                <a:gridCol w="1456188">
                  <a:extLst>
                    <a:ext uri="{9D8B030D-6E8A-4147-A177-3AD203B41FA5}">
                      <a16:colId xmlns:a16="http://schemas.microsoft.com/office/drawing/2014/main" val="1454479095"/>
                    </a:ext>
                  </a:extLst>
                </a:gridCol>
                <a:gridCol w="1483778">
                  <a:extLst>
                    <a:ext uri="{9D8B030D-6E8A-4147-A177-3AD203B41FA5}">
                      <a16:colId xmlns:a16="http://schemas.microsoft.com/office/drawing/2014/main" val="881516949"/>
                    </a:ext>
                  </a:extLst>
                </a:gridCol>
                <a:gridCol w="1812859">
                  <a:extLst>
                    <a:ext uri="{9D8B030D-6E8A-4147-A177-3AD203B41FA5}">
                      <a16:colId xmlns:a16="http://schemas.microsoft.com/office/drawing/2014/main" val="3675780894"/>
                    </a:ext>
                  </a:extLst>
                </a:gridCol>
                <a:gridCol w="2108709">
                  <a:extLst>
                    <a:ext uri="{9D8B030D-6E8A-4147-A177-3AD203B41FA5}">
                      <a16:colId xmlns:a16="http://schemas.microsoft.com/office/drawing/2014/main" val="3930906896"/>
                    </a:ext>
                  </a:extLst>
                </a:gridCol>
                <a:gridCol w="1465847">
                  <a:extLst>
                    <a:ext uri="{9D8B030D-6E8A-4147-A177-3AD203B41FA5}">
                      <a16:colId xmlns:a16="http://schemas.microsoft.com/office/drawing/2014/main" val="344327779"/>
                    </a:ext>
                  </a:extLst>
                </a:gridCol>
              </a:tblGrid>
              <a:tr h="706756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 mô hình</a:t>
                      </a:r>
                      <a:endParaRPr lang="en-US" sz="20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</a:t>
                      </a:r>
                      <a:endParaRPr lang="en-US" sz="20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</a:t>
                      </a:r>
                      <a:endParaRPr lang="en-US" sz="20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tokens</a:t>
                      </a:r>
                      <a:endParaRPr lang="en-US" sz="20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subword rate</a:t>
                      </a:r>
                      <a:endParaRPr lang="en-US" sz="20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OOV</a:t>
                      </a:r>
                      <a:endParaRPr lang="en-US" sz="20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257820"/>
                  </a:ext>
                </a:extLst>
              </a:tr>
              <a:tr h="706756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all-MiniLM-L6-v2</a:t>
                      </a:r>
                      <a:endParaRPr lang="en-US" sz="1800" b="0" i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332.72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195.55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520446"/>
                  </a:ext>
                </a:extLst>
              </a:tr>
              <a:tr h="834044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bert-base-vietnamese-uncased</a:t>
                      </a:r>
                      <a:endParaRPr lang="en-US" sz="1800" b="0" i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402.99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354.15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2240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755686"/>
                  </a:ext>
                </a:extLst>
              </a:tr>
              <a:tr h="834044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distiluse-base-multilingual-cased-v2</a:t>
                      </a:r>
                      <a:endParaRPr lang="en-US" sz="1800" b="0" i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295.42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188.49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300722"/>
                  </a:ext>
                </a:extLst>
              </a:tr>
              <a:tr h="706756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multilingual-e5-small</a:t>
                      </a:r>
                      <a:endParaRPr lang="en-US" sz="1800" b="0" i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293.46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185.51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936575"/>
                  </a:ext>
                </a:extLst>
              </a:tr>
              <a:tr h="834044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sup-SimCSE-VietNamese-phobert-base</a:t>
                      </a:r>
                      <a:endParaRPr lang="en-US" sz="1800" b="0" i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188.19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86.92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823945"/>
                  </a:ext>
                </a:extLst>
              </a:tr>
              <a:tr h="706756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vietnamese-bi-encoder</a:t>
                      </a:r>
                      <a:endParaRPr lang="en-US" sz="1800" b="1" i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368.92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313.05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1932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0030" marR="6003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132519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E7C48419-7D86-F25F-5DAB-532E2428B255}"/>
              </a:ext>
            </a:extLst>
          </p:cNvPr>
          <p:cNvSpPr txBox="1">
            <a:spLocks/>
          </p:cNvSpPr>
          <p:nvPr/>
        </p:nvSpPr>
        <p:spPr>
          <a:xfrm>
            <a:off x="838199" y="274311"/>
            <a:ext cx="10515600" cy="65963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3.5.3. Hiệu quả phân tách trên tập dữ liệu</a:t>
            </a:r>
          </a:p>
        </p:txBody>
      </p:sp>
    </p:spTree>
    <p:extLst>
      <p:ext uri="{BB962C8B-B14F-4D97-AF65-F5344CB8AC3E}">
        <p14:creationId xmlns:p14="http://schemas.microsoft.com/office/powerpoint/2010/main" val="2021642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1023D-F75B-7B92-1BAD-FBBB203FE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97D335CB-5480-39C8-2510-982CB54D3E7E}"/>
              </a:ext>
            </a:extLst>
          </p:cNvPr>
          <p:cNvSpPr txBox="1">
            <a:spLocks/>
          </p:cNvSpPr>
          <p:nvPr/>
        </p:nvSpPr>
        <p:spPr>
          <a:xfrm>
            <a:off x="838199" y="274311"/>
            <a:ext cx="10515600" cy="65963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3.5.4. Hiệu quả embedding trên tập dữ liệu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1844F0-4192-1B73-0FB2-7F5B3E96A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831995"/>
              </p:ext>
            </p:extLst>
          </p:nvPr>
        </p:nvGraphicFramePr>
        <p:xfrm>
          <a:off x="838197" y="1497764"/>
          <a:ext cx="10515602" cy="4439987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455838">
                  <a:extLst>
                    <a:ext uri="{9D8B030D-6E8A-4147-A177-3AD203B41FA5}">
                      <a16:colId xmlns:a16="http://schemas.microsoft.com/office/drawing/2014/main" val="3731982391"/>
                    </a:ext>
                  </a:extLst>
                </a:gridCol>
                <a:gridCol w="1236160">
                  <a:extLst>
                    <a:ext uri="{9D8B030D-6E8A-4147-A177-3AD203B41FA5}">
                      <a16:colId xmlns:a16="http://schemas.microsoft.com/office/drawing/2014/main" val="3601305736"/>
                    </a:ext>
                  </a:extLst>
                </a:gridCol>
                <a:gridCol w="1182318">
                  <a:extLst>
                    <a:ext uri="{9D8B030D-6E8A-4147-A177-3AD203B41FA5}">
                      <a16:colId xmlns:a16="http://schemas.microsoft.com/office/drawing/2014/main" val="3526498500"/>
                    </a:ext>
                  </a:extLst>
                </a:gridCol>
                <a:gridCol w="1182318">
                  <a:extLst>
                    <a:ext uri="{9D8B030D-6E8A-4147-A177-3AD203B41FA5}">
                      <a16:colId xmlns:a16="http://schemas.microsoft.com/office/drawing/2014/main" val="3509953471"/>
                    </a:ext>
                  </a:extLst>
                </a:gridCol>
                <a:gridCol w="829601">
                  <a:extLst>
                    <a:ext uri="{9D8B030D-6E8A-4147-A177-3AD203B41FA5}">
                      <a16:colId xmlns:a16="http://schemas.microsoft.com/office/drawing/2014/main" val="2417731697"/>
                    </a:ext>
                  </a:extLst>
                </a:gridCol>
                <a:gridCol w="829601">
                  <a:extLst>
                    <a:ext uri="{9D8B030D-6E8A-4147-A177-3AD203B41FA5}">
                      <a16:colId xmlns:a16="http://schemas.microsoft.com/office/drawing/2014/main" val="4053085599"/>
                    </a:ext>
                  </a:extLst>
                </a:gridCol>
                <a:gridCol w="1208690">
                  <a:extLst>
                    <a:ext uri="{9D8B030D-6E8A-4147-A177-3AD203B41FA5}">
                      <a16:colId xmlns:a16="http://schemas.microsoft.com/office/drawing/2014/main" val="3711343085"/>
                    </a:ext>
                  </a:extLst>
                </a:gridCol>
                <a:gridCol w="714226">
                  <a:extLst>
                    <a:ext uri="{9D8B030D-6E8A-4147-A177-3AD203B41FA5}">
                      <a16:colId xmlns:a16="http://schemas.microsoft.com/office/drawing/2014/main" val="2612641176"/>
                    </a:ext>
                  </a:extLst>
                </a:gridCol>
                <a:gridCol w="876850">
                  <a:extLst>
                    <a:ext uri="{9D8B030D-6E8A-4147-A177-3AD203B41FA5}">
                      <a16:colId xmlns:a16="http://schemas.microsoft.com/office/drawing/2014/main" val="267470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 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Precision@1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Precision@3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Precision@5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Min tokens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Max tokens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Dimension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Total time (s)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On a sample (s)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51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0" i="1">
                          <a:effectLst/>
                          <a:latin typeface="+mj-lt"/>
                        </a:rPr>
                        <a:t>all-MiniLM-L6-v2</a:t>
                      </a:r>
                      <a:endParaRPr lang="en-US" sz="1800" b="0" i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0.57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0.28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0.17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74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2828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384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95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0.11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240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0" i="1">
                          <a:effectLst/>
                          <a:latin typeface="+mj-lt"/>
                        </a:rPr>
                        <a:t>bert-base-vietnamese-uncased</a:t>
                      </a:r>
                      <a:endParaRPr lang="en-US" sz="1800" b="0" i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0.47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0.47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0.48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53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2267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768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643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0.75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9020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0" i="1">
                          <a:effectLst/>
                          <a:latin typeface="+mj-lt"/>
                        </a:rPr>
                        <a:t>distiluse-base-multilingual-cased-v2</a:t>
                      </a:r>
                      <a:endParaRPr lang="en-US" sz="1800" b="0" i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0.57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0.57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0.54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44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2031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512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159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0.18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711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0" i="1">
                          <a:effectLst/>
                          <a:latin typeface="+mj-lt"/>
                        </a:rPr>
                        <a:t>multilingual-e5-small</a:t>
                      </a:r>
                      <a:endParaRPr lang="en-US" sz="1800" b="0" i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1.00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0.90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0.88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45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1967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384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210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0.24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5100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0" i="1">
                          <a:effectLst/>
                          <a:latin typeface="+mj-lt"/>
                        </a:rPr>
                        <a:t>sup-SimCSE-VietNamese-phobert-base</a:t>
                      </a:r>
                      <a:endParaRPr lang="en-US" sz="1800" b="0" i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0.57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0.62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0.57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50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1967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768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363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>
                          <a:effectLst/>
                          <a:latin typeface="+mj-lt"/>
                        </a:rPr>
                        <a:t>0.42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349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0" i="1">
                          <a:effectLst/>
                          <a:latin typeface="+mj-lt"/>
                        </a:rPr>
                        <a:t>vietnamese-bi-encoder</a:t>
                      </a:r>
                      <a:endParaRPr lang="en-US" sz="1800" b="0" i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+mj-lt"/>
                        </a:rPr>
                        <a:t>1.00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+mj-lt"/>
                        </a:rPr>
                        <a:t>1.00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+mj-lt"/>
                        </a:rPr>
                        <a:t>0.88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+mj-lt"/>
                        </a:rPr>
                        <a:t>50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+mj-lt"/>
                        </a:rPr>
                        <a:t>1967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+mj-lt"/>
                        </a:rPr>
                        <a:t>768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+mj-lt"/>
                        </a:rPr>
                        <a:t>269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+mj-lt"/>
                        </a:rPr>
                        <a:t>0.31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4236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843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89836-4D95-297E-FCC5-032B1C08E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174281-D0B7-38B0-490D-1DF323F6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685030" cy="1508760"/>
          </a:xfrm>
        </p:spPr>
        <p:txBody>
          <a:bodyPr anchor="ctr">
            <a:normAutofit fontScale="90000"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ĐỀ XUẤT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749A7-4E64-CB90-85C4-303831836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3.6. Tinh chỉnh Whisper</a:t>
            </a:r>
          </a:p>
          <a:p>
            <a:pPr marL="0" indent="0">
              <a:buNone/>
            </a:pP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3.6.1. Phương pháp đề xuất tinh chỉnh Whisper</a:t>
            </a:r>
          </a:p>
        </p:txBody>
      </p:sp>
      <p:pic>
        <p:nvPicPr>
          <p:cNvPr id="4" name="Picture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C974DDE-764C-494F-06D5-BB0FB54B7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23" y="2290936"/>
            <a:ext cx="8798562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300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1265D9-B5ED-CFEE-220C-08A17B4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59C6B72-F8E6-4281-8F3E-93FC0DC98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A53EF5-A882-645F-D00D-9B6FDC49C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</p:spPr>
        <p:txBody>
          <a:bodyPr anchor="b">
            <a:norm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ĐỀ XUẤT</a:t>
            </a:r>
          </a:p>
        </p:txBody>
      </p:sp>
      <p:pic>
        <p:nvPicPr>
          <p:cNvPr id="6" name="Picture 5" descr="A graph of a distribution of audio duration&#10;&#10;AI-generated content may be incorrect.">
            <a:extLst>
              <a:ext uri="{FF2B5EF4-FFF2-40B4-BE49-F238E27FC236}">
                <a16:creationId xmlns:a16="http://schemas.microsoft.com/office/drawing/2014/main" id="{4DD06560-C03D-05FF-BDE1-CC00E3027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338" y="553935"/>
            <a:ext cx="6039348" cy="36085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4487F1-57E4-B9BA-F8C8-C262C6FAB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716379"/>
            <a:ext cx="5271690" cy="1700119"/>
          </a:xfrm>
          <a:prstGeom prst="rect">
            <a:avLst/>
          </a:prstGeom>
        </p:spPr>
      </p:pic>
      <p:sp>
        <p:nvSpPr>
          <p:cNvPr id="31" name="sketch line">
            <a:extLst>
              <a:ext uri="{FF2B5EF4-FFF2-40B4-BE49-F238E27FC236}">
                <a16:creationId xmlns:a16="http://schemas.microsoft.com/office/drawing/2014/main" id="{490234EE-E0D8-4805-9227-CCEAC6016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B9116-8FA6-824B-902C-E5737C623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4071647" cy="1771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3.6. Tinh chỉnh Whisper</a:t>
            </a:r>
          </a:p>
          <a:p>
            <a:pPr marL="0" indent="0">
              <a:buNone/>
            </a:pP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3.6.2. Thống kê dữ liệu tinh chỉnh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C75148-6963-68C8-32B1-01D05562D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884430"/>
              </p:ext>
            </p:extLst>
          </p:nvPr>
        </p:nvGraphicFramePr>
        <p:xfrm>
          <a:off x="6096000" y="4716379"/>
          <a:ext cx="5696003" cy="170011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36045">
                  <a:extLst>
                    <a:ext uri="{9D8B030D-6E8A-4147-A177-3AD203B41FA5}">
                      <a16:colId xmlns:a16="http://schemas.microsoft.com/office/drawing/2014/main" val="864166715"/>
                    </a:ext>
                  </a:extLst>
                </a:gridCol>
                <a:gridCol w="1269273">
                  <a:extLst>
                    <a:ext uri="{9D8B030D-6E8A-4147-A177-3AD203B41FA5}">
                      <a16:colId xmlns:a16="http://schemas.microsoft.com/office/drawing/2014/main" val="980520751"/>
                    </a:ext>
                  </a:extLst>
                </a:gridCol>
                <a:gridCol w="1172915">
                  <a:extLst>
                    <a:ext uri="{9D8B030D-6E8A-4147-A177-3AD203B41FA5}">
                      <a16:colId xmlns:a16="http://schemas.microsoft.com/office/drawing/2014/main" val="1283738973"/>
                    </a:ext>
                  </a:extLst>
                </a:gridCol>
                <a:gridCol w="1817770">
                  <a:extLst>
                    <a:ext uri="{9D8B030D-6E8A-4147-A177-3AD203B41FA5}">
                      <a16:colId xmlns:a16="http://schemas.microsoft.com/office/drawing/2014/main" val="2616268004"/>
                    </a:ext>
                  </a:extLst>
                </a:gridCol>
              </a:tblGrid>
              <a:tr h="650008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Subset</a:t>
                      </a:r>
                    </a:p>
                  </a:txBody>
                  <a:tcPr marL="166893" marR="166893" marT="83446" marB="83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</a:t>
                      </a:r>
                    </a:p>
                  </a:txBody>
                  <a:tcPr marL="166893" marR="166893" marT="83446" marB="83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</a:p>
                  </a:txBody>
                  <a:tcPr marL="166893" marR="166893" marT="83446" marB="83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</a:t>
                      </a:r>
                    </a:p>
                  </a:txBody>
                  <a:tcPr marL="166893" marR="166893" marT="83446" marB="83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521545"/>
                  </a:ext>
                </a:extLst>
              </a:tr>
              <a:tr h="1050111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lượng</a:t>
                      </a:r>
                    </a:p>
                  </a:txBody>
                  <a:tcPr marL="166893" marR="166893" marT="83446" marB="83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634 nghìn</a:t>
                      </a:r>
                    </a:p>
                  </a:txBody>
                  <a:tcPr marL="166893" marR="166893" marT="83446" marB="83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7500</a:t>
                      </a:r>
                    </a:p>
                  </a:txBody>
                  <a:tcPr marL="166893" marR="166893" marT="83446" marB="83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7500</a:t>
                      </a:r>
                    </a:p>
                  </a:txBody>
                  <a:tcPr marL="166893" marR="166893" marT="83446" marB="83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096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9893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AF5EE-7102-3123-9BC5-C3A21D084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EA807-9D84-ADAB-3F59-2F396A096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989188" cy="1719072"/>
          </a:xfrm>
        </p:spPr>
        <p:txBody>
          <a:bodyPr anchor="b">
            <a:norm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ĐỀ XUẤT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CE6FA-3E42-984D-059A-C6B81E3F8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3989191" cy="341071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3.6. Tinh chỉnh Whisper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3.6.3. Kết quả tinh chỉnh Whisper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Tổng hợp đánh giá WER và CER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của các phiên bản Whisper 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trên tập dữ liệu tinh chỉnh kiểm thử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2AC387B1-3EF7-6205-4E0C-D8C5EA70B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125" y="1188715"/>
            <a:ext cx="7032375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45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03AEB6-77F9-06FD-0DF3-319FA22E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040AC-A611-B302-48CB-792EAD872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 4</a:t>
            </a:r>
            <a:b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CHỨC NĂNG HỆ THỐNG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9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F27E30-325D-EBDB-B099-EE372FA5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D8EDD-BAC9-2683-7DEE-A4AD587B4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b="1"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CHỨC NĂNG HỆ THỐNG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B043F-0B2E-DA0E-91F0-B39A4CCA3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4.1. Phân tích thiết kế hệ thống</a:t>
            </a:r>
          </a:p>
          <a:p>
            <a:pPr marL="0" indent="0">
              <a:buNone/>
            </a:pPr>
            <a:r>
              <a:rPr lang="en-US" sz="2000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Các chức năng chính của hệ thống: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Trò chuyện văn bản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Trò chuyện thời gian thực</a:t>
            </a:r>
          </a:p>
          <a:p>
            <a:pPr marL="0" indent="0">
              <a:buNone/>
            </a:pPr>
            <a:r>
              <a:rPr lang="en-US" sz="2000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Các chức năng khác: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Cài đặt tùy chọn luồng chat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Đánh giá phản hồi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Quản lý luồng chat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Kiểm tra trắc nghiệm (thử nghiệm)</a:t>
            </a:r>
          </a:p>
          <a:p>
            <a:pPr marL="0" indent="0">
              <a:buNone/>
            </a:pPr>
            <a:endParaRPr lang="en-US" sz="2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774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BDFD8-7446-46BD-0BB8-B1ECC6ED8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7FDF7-6435-4FC5-D038-7FBDBC4B1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053"/>
            <a:ext cx="3267438" cy="1957539"/>
          </a:xfrm>
        </p:spPr>
        <p:txBody>
          <a:bodyPr anchor="b">
            <a:norm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CHỨC NĂNG HỆ THỐNG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A6021-BD73-AB08-B14C-5A58B0DD3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4.2. Biểu đồ usecase tổng quan</a:t>
            </a:r>
          </a:p>
          <a:p>
            <a:pPr marL="0" indent="0">
              <a:buNone/>
            </a:pPr>
            <a:r>
              <a:rPr 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Các tác nhân:</a:t>
            </a:r>
          </a:p>
          <a:p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khách: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Đăng nhập, đăng ký.</a:t>
            </a:r>
          </a:p>
          <a:p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đã xác thực: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Tất cả các chức năng chính của hệ thống.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C9AB83A7-DE27-4785-C21F-674527DEE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990" y="640080"/>
            <a:ext cx="4448331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71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603E7-09D3-1A2A-9D32-95754CBB0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7067E-F186-499B-FA50-1DF36857B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CHỨC NĂNG HỆ THỐNG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E1C08-1AB7-C541-9947-A95627AB2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4.3. Chức năng trò chuyện văn bản</a:t>
            </a:r>
          </a:p>
        </p:txBody>
      </p:sp>
      <p:pic>
        <p:nvPicPr>
          <p:cNvPr id="5" name="Picture 4" descr="A group of white ovals with black text&#10;&#10;AI-generated content may be incorrect.">
            <a:extLst>
              <a:ext uri="{FF2B5EF4-FFF2-40B4-BE49-F238E27FC236}">
                <a16:creationId xmlns:a16="http://schemas.microsoft.com/office/drawing/2014/main" id="{5BC8B0F1-39C4-13FA-EF91-8EA88BA30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2591979"/>
            <a:ext cx="10917936" cy="335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00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E1AC0-A253-B353-B353-F77A7D76B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E9023D-6B43-C98F-B157-B98766001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11480"/>
            <a:ext cx="3666742" cy="1554480"/>
          </a:xfrm>
        </p:spPr>
        <p:txBody>
          <a:bodyPr anchor="ctr">
            <a:normAutofit fontScale="90000"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CHỨC NĂNG HỆ THỐNG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E0F91-BA6A-DA5A-2F4E-19C71D170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4.4. Chức năng trò chuyện thời gian thực</a:t>
            </a:r>
          </a:p>
          <a:p>
            <a:pPr marL="0" indent="0">
              <a:buNone/>
            </a:pPr>
            <a:endParaRPr lang="en-US" sz="2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ack and white oval with black text&#10;&#10;AI-generated content may be incorrect.">
            <a:extLst>
              <a:ext uri="{FF2B5EF4-FFF2-40B4-BE49-F238E27FC236}">
                <a16:creationId xmlns:a16="http://schemas.microsoft.com/office/drawing/2014/main" id="{400F4674-0E3F-118C-3473-4A0307914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2441859"/>
            <a:ext cx="10917936" cy="365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10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7F132-A3C1-65E2-CA1F-70B273CD6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B79612-B223-DF9E-5901-FF63F384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 5</a:t>
            </a:r>
            <a:b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TRIỂN KHAI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4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83ED0-392B-BF43-E7A9-6059AC84C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6727FE-5156-8EF1-5E69-5E7614EB4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TRIỂN KHAI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26C19-B5EE-E427-0162-8BC77C2BC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5.1. Chức năng trò chuyện văn bản</a:t>
            </a:r>
          </a:p>
        </p:txBody>
      </p:sp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56980801-ADF8-A725-46B8-485E757B3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012698"/>
            <a:ext cx="6903720" cy="483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30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290CEF-83B3-1CF0-1410-0F4519C0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05896-42DE-F018-7039-AC1A85A3C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3569850" cy="1508760"/>
          </a:xfrm>
        </p:spPr>
        <p:txBody>
          <a:bodyPr anchor="ctr">
            <a:norm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TRIỂN KHAI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67696-2F5C-9148-CDDC-CCEC70FF4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5.2. Chức năng trò chuyện thời gian thực</a:t>
            </a:r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hat&#10;&#10;AI-generated content may be incorrect.">
            <a:extLst>
              <a:ext uri="{FF2B5EF4-FFF2-40B4-BE49-F238E27FC236}">
                <a16:creationId xmlns:a16="http://schemas.microsoft.com/office/drawing/2014/main" id="{D62D7D95-7184-430E-6A13-BCDAADCC4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66" y="2290936"/>
            <a:ext cx="10023676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868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E7F811-DB4B-F6E5-C121-2E92DE1A9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65193A-EBBD-0405-8C3B-5B52CC240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 6</a:t>
            </a:r>
            <a:b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&amp; HƯỚNG</a:t>
            </a:r>
            <a:r>
              <a:rPr lang="en-US" sz="6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6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 T</a:t>
            </a:r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RIỂN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9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3E5138-0C9D-EE29-EB6F-4446D5AD3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79F4A-E53E-F4B9-8479-700A69043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600" b="1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&amp; HƯỚNG PHÁT TRIỂN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F902B-1608-BE6C-1830-8013F8B43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6.1. Kết quả đạt được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Lý thuyết:</a:t>
            </a:r>
          </a:p>
          <a:p>
            <a:pPr>
              <a:lnSpc>
                <a:spcPct val="100000"/>
              </a:lnSpc>
            </a:pPr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Nghiên cứu và áp dụng hiệu quả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LLM, hệ thống RAG và các kỹ thuật NLP khác vào hệ thống.</a:t>
            </a:r>
          </a:p>
          <a:p>
            <a:pPr>
              <a:lnSpc>
                <a:spcPct val="100000"/>
              </a:lnSpc>
            </a:pPr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nền tảng cơ sở lý thuyết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vững chắc cho hệ thống truy xuất tài liệu tiếng Việt.</a:t>
            </a:r>
          </a:p>
          <a:p>
            <a:pPr>
              <a:lnSpc>
                <a:spcPct val="100000"/>
              </a:lnSpc>
            </a:pPr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Giới hạn phạm vi nội dung chuyên biệt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giúp dễ dàng kiểm thử và tinh chỉnh hệ thống.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000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Triển khai:</a:t>
            </a:r>
          </a:p>
          <a:p>
            <a:pPr>
              <a:lnSpc>
                <a:spcPct val="10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hoạt động tốt với câu hỏi văn bản và âm thanh</a:t>
            </a:r>
          </a:p>
          <a:p>
            <a:pPr>
              <a:lnSpc>
                <a:spcPct val="100000"/>
              </a:lnSpc>
            </a:pPr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Hỗ trợ tìm kiếm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kiến thức và </a:t>
            </a:r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ôn tập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kiến thức thông qua các câu hỏi trắc nghiệm</a:t>
            </a:r>
          </a:p>
          <a:p>
            <a:pPr>
              <a:lnSpc>
                <a:spcPct val="100000"/>
              </a:lnSpc>
            </a:pPr>
            <a:r>
              <a:rPr lang="en-US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Xử lý được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các câu hỏi ngoài phạm vi kiến thức một cách phù hợp.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16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0B137-F9D8-B29F-5073-8EED1C407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DD14A6-7894-5F19-63BD-55958E71D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91D3F6-F261-78AC-D5E2-CA4C2E5A1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600" b="1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&amp; HƯỚNG PHÁT TRIỂN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4283A5D-8E7F-1702-126F-AC0D3D213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30E14-4021-FBE0-97BA-D61784099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6.2. Hướng phát triển</a:t>
            </a:r>
          </a:p>
          <a:p>
            <a:pPr>
              <a:lnSpc>
                <a:spcPct val="100000"/>
              </a:lnSpc>
            </a:pP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Mở rộng nội dung học tập: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Bổ sung thêm các nội dung lịch sử địa phương, các chuyên đề văn hóa, các bộ câu hỏi ôn tập và luyện thi,…</a:t>
            </a:r>
            <a:endParaRPr lang="en-US" sz="2000" i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Nâng cấp kỹ thuật: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Tối ưu phản hồi, cải thiện tốc độ và độ chính xác, cải thiện prompt,…</a:t>
            </a:r>
            <a:endParaRPr lang="en-US" sz="2000" i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Tăng khả năng tích hợp và tiếp cận: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Triển khai hệ thống lên website, ứng dụng học tập; mở rộng phạm vi sử dụng trong môi trường giáo dục thực tế.</a:t>
            </a:r>
            <a:endParaRPr lang="en-US" sz="2000" i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Cải thiện cá nhân hóa và phân tích người dùng: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Gợi ý nội dung học tập theo người dùng, xây dựng công cụ phân tích điểm mạnh – yếu của người dùng.</a:t>
            </a:r>
            <a:endParaRPr lang="en-US" sz="2000" i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Đảm bảo bảo mật: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Tăng cường bảo mật và kiểm soát sự an toàn của các truy cập đến hệ thống.</a:t>
            </a:r>
            <a:endParaRPr lang="en-US" sz="2000" i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15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7F4C39-E3A3-D5AA-FD9B-573B4CC1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i="1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 ƠN QUÝ THẦY CÔ ĐÃ LẮNG NGHE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75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2570</TotalTime>
  <Words>1663</Words>
  <Application>Microsoft Office PowerPoint</Application>
  <PresentationFormat>Widescreen</PresentationFormat>
  <Paragraphs>243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Times New Roman</vt:lpstr>
      <vt:lpstr>Office Theme</vt:lpstr>
      <vt:lpstr>HỆ THỐNG CHATBOT HỖ TRỢ HỌC LỊCH SỬ VIỆT NAM</vt:lpstr>
      <vt:lpstr>NỘI DUNG BÁO CÁO</vt:lpstr>
      <vt:lpstr>PHẦN 1 GIỚI THIỆU ĐỀ TÀI</vt:lpstr>
      <vt:lpstr>GIỚI THIỆU ĐỀ TÀI</vt:lpstr>
      <vt:lpstr>GIỚI THIỆU ĐỀ TÀI</vt:lpstr>
      <vt:lpstr>PHẦN 2 CƠ SỞ LÝ THUYẾT</vt:lpstr>
      <vt:lpstr>CƠ SỞ  LÝ THUYẾT</vt:lpstr>
      <vt:lpstr>CƠ SỞ  LÝ THUYẾT</vt:lpstr>
      <vt:lpstr>PHẦN 3 PHƯƠNG PHÁP ĐỀ XUẤT</vt:lpstr>
      <vt:lpstr>PHƯƠNG PHÁP ĐỀ XUẤT</vt:lpstr>
      <vt:lpstr>PHƯƠNG PHÁP ĐỀ XUẤT 3.2. Tổng quan phương pháp đề xuất</vt:lpstr>
      <vt:lpstr>PHƯƠNG PHÁP ĐỀ XUẤT 3.3. Hệ thống RAG đề xuất</vt:lpstr>
      <vt:lpstr>PHƯƠNG PHÁP ĐỀ XUẤT</vt:lpstr>
      <vt:lpstr>PHƯƠNG PHÁP ĐỀ XUẤT</vt:lpstr>
      <vt:lpstr>3.5.2. Hiệu quả phân tách trên chuỗi mẫu</vt:lpstr>
      <vt:lpstr>PowerPoint Presentation</vt:lpstr>
      <vt:lpstr>PowerPoint Presentation</vt:lpstr>
      <vt:lpstr>PHƯƠNG PHÁP ĐỀ XUẤT</vt:lpstr>
      <vt:lpstr>PHƯƠNG PHÁP ĐỀ XUẤT</vt:lpstr>
      <vt:lpstr>PHƯƠNG PHÁP ĐỀ XUẤT</vt:lpstr>
      <vt:lpstr>PHẦN 4  TRIỂN KHAI CHỨC NĂNG HỆ THỐNG</vt:lpstr>
      <vt:lpstr>TRIỂN KHAI CHỨC NĂNG HỆ THỐNG</vt:lpstr>
      <vt:lpstr>TRIỂN KHAI CHỨC NĂNG HỆ THỐNG</vt:lpstr>
      <vt:lpstr>TRIỂN KHAI CHỨC NĂNG HỆ THỐNG</vt:lpstr>
      <vt:lpstr>TRIỂN KHAI CHỨC NĂNG HỆ THỐNG</vt:lpstr>
      <vt:lpstr>PHẦN 5 KẾT QUẢ TRIỂN KHAI</vt:lpstr>
      <vt:lpstr>KẾT QUẢ TRIỂN KHAI</vt:lpstr>
      <vt:lpstr>KẾT QUẢ TRIỂN KHAI</vt:lpstr>
      <vt:lpstr>PHẦN 6  KẾT LUẬN &amp; HƯỚNG PHÁT TRIỂN</vt:lpstr>
      <vt:lpstr>KẾT LUẬN &amp; HƯỚNG PHÁT TRIỂN</vt:lpstr>
      <vt:lpstr>KẾT LUẬN &amp; HƯỚNG PHÁT TRIỂN</vt:lpstr>
      <vt:lpstr>CẢM ƠN QUÝ THẦY CÔ ĐÃ LẮNG NGHE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trung lee vieet</dc:creator>
  <cp:lastModifiedBy>trung lee vieet</cp:lastModifiedBy>
  <cp:revision>94</cp:revision>
  <dcterms:created xsi:type="dcterms:W3CDTF">2025-06-09T12:09:11Z</dcterms:created>
  <dcterms:modified xsi:type="dcterms:W3CDTF">2025-06-24T10:41:56Z</dcterms:modified>
</cp:coreProperties>
</file>