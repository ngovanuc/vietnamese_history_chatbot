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84" r:id="rId10"/>
    <p:sldId id="285" r:id="rId11"/>
    <p:sldId id="286" r:id="rId12"/>
    <p:sldId id="287" r:id="rId13"/>
    <p:sldId id="281" r:id="rId14"/>
    <p:sldId id="268" r:id="rId15"/>
    <p:sldId id="269" r:id="rId16"/>
    <p:sldId id="288" r:id="rId17"/>
    <p:sldId id="289" r:id="rId18"/>
    <p:sldId id="318" r:id="rId19"/>
    <p:sldId id="290" r:id="rId20"/>
    <p:sldId id="271" r:id="rId21"/>
    <p:sldId id="292" r:id="rId22"/>
    <p:sldId id="272" r:id="rId23"/>
    <p:sldId id="319" r:id="rId24"/>
    <p:sldId id="322" r:id="rId25"/>
    <p:sldId id="320" r:id="rId26"/>
    <p:sldId id="293" r:id="rId27"/>
    <p:sldId id="323" r:id="rId28"/>
    <p:sldId id="324" r:id="rId29"/>
    <p:sldId id="325" r:id="rId30"/>
    <p:sldId id="295" r:id="rId31"/>
    <p:sldId id="326" r:id="rId32"/>
    <p:sldId id="299" r:id="rId33"/>
    <p:sldId id="327" r:id="rId34"/>
    <p:sldId id="297" r:id="rId35"/>
    <p:sldId id="274" r:id="rId36"/>
    <p:sldId id="300" r:id="rId37"/>
    <p:sldId id="304" r:id="rId38"/>
    <p:sldId id="305" r:id="rId39"/>
    <p:sldId id="301" r:id="rId40"/>
    <p:sldId id="302" r:id="rId41"/>
    <p:sldId id="311" r:id="rId42"/>
    <p:sldId id="307" r:id="rId43"/>
    <p:sldId id="328" r:id="rId44"/>
    <p:sldId id="308" r:id="rId45"/>
    <p:sldId id="309" r:id="rId46"/>
    <p:sldId id="310" r:id="rId47"/>
    <p:sldId id="312" r:id="rId48"/>
    <p:sldId id="265" r:id="rId49"/>
    <p:sldId id="276" r:id="rId50"/>
    <p:sldId id="313" r:id="rId51"/>
    <p:sldId id="277" r:id="rId52"/>
    <p:sldId id="278" r:id="rId53"/>
    <p:sldId id="279" r:id="rId54"/>
    <p:sldId id="280" r:id="rId55"/>
    <p:sldId id="266" r:id="rId56"/>
    <p:sldId id="316" r:id="rId57"/>
    <p:sldId id="317" r:id="rId58"/>
    <p:sldId id="315" r:id="rId59"/>
    <p:sldId id="321" r:id="rId60"/>
    <p:sldId id="282" r:id="rId61"/>
    <p:sldId id="283" r:id="rId62"/>
    <p:sldId id="329" r:id="rId63"/>
    <p:sldId id="267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257"/>
            <p14:sldId id="262"/>
            <p14:sldId id="258"/>
            <p14:sldId id="259"/>
            <p14:sldId id="260"/>
            <p14:sldId id="261"/>
            <p14:sldId id="263"/>
            <p14:sldId id="284"/>
            <p14:sldId id="285"/>
            <p14:sldId id="286"/>
            <p14:sldId id="287"/>
            <p14:sldId id="281"/>
            <p14:sldId id="268"/>
            <p14:sldId id="269"/>
            <p14:sldId id="288"/>
            <p14:sldId id="289"/>
            <p14:sldId id="318"/>
            <p14:sldId id="290"/>
            <p14:sldId id="271"/>
            <p14:sldId id="292"/>
            <p14:sldId id="272"/>
            <p14:sldId id="319"/>
            <p14:sldId id="322"/>
            <p14:sldId id="320"/>
            <p14:sldId id="293"/>
            <p14:sldId id="323"/>
            <p14:sldId id="324"/>
            <p14:sldId id="325"/>
            <p14:sldId id="295"/>
            <p14:sldId id="326"/>
            <p14:sldId id="299"/>
            <p14:sldId id="327"/>
            <p14:sldId id="297"/>
            <p14:sldId id="274"/>
            <p14:sldId id="300"/>
            <p14:sldId id="304"/>
            <p14:sldId id="305"/>
            <p14:sldId id="301"/>
            <p14:sldId id="302"/>
            <p14:sldId id="311"/>
            <p14:sldId id="307"/>
            <p14:sldId id="328"/>
            <p14:sldId id="308"/>
            <p14:sldId id="309"/>
            <p14:sldId id="310"/>
            <p14:sldId id="312"/>
            <p14:sldId id="265"/>
            <p14:sldId id="276"/>
            <p14:sldId id="313"/>
            <p14:sldId id="277"/>
            <p14:sldId id="278"/>
            <p14:sldId id="279"/>
            <p14:sldId id="280"/>
            <p14:sldId id="266"/>
            <p14:sldId id="316"/>
            <p14:sldId id="317"/>
            <p14:sldId id="315"/>
            <p14:sldId id="321"/>
            <p14:sldId id="282"/>
            <p14:sldId id="283"/>
            <p14:sldId id="329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53" autoAdjust="0"/>
    <p:restoredTop sz="86015" autoAdjust="0"/>
  </p:normalViewPr>
  <p:slideViewPr>
    <p:cSldViewPr snapToGrid="0">
      <p:cViewPr>
        <p:scale>
          <a:sx n="60" d="100"/>
          <a:sy n="60" d="100"/>
        </p:scale>
        <p:origin x="115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4AE1F8-3712-49A6-BC7C-273E12ADCFA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781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BE15F-3D48-FED2-9293-40CA55594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36805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50EE6C-37B6-A4AC-4C11-2E5A08C66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26030"/>
            <a:ext cx="9144000" cy="1655762"/>
          </a:xfrm>
        </p:spPr>
        <p:txBody>
          <a:bodyPr anchor="ctr"/>
          <a:lstStyle/>
          <a:p>
            <a:r>
              <a:rPr lang="en-US">
                <a:latin typeface="Times New Roman" panose="02020603050405020304" pitchFamily="18" charset="0"/>
              </a:rPr>
              <a:t>GVHD: </a:t>
            </a:r>
            <a:r>
              <a:rPr lang="en-US" b="1">
                <a:latin typeface="Times New Roman" panose="02020603050405020304" pitchFamily="18" charset="0"/>
              </a:rPr>
              <a:t>TS. NGUYỄN NĂNG HÙNG VÂN</a:t>
            </a:r>
          </a:p>
          <a:p>
            <a:r>
              <a:rPr lang="en-US">
                <a:latin typeface="Times New Roman" panose="02020603050405020304" pitchFamily="18" charset="0"/>
              </a:rPr>
              <a:t>SINH VIÊN THỰC HIỆN: </a:t>
            </a:r>
            <a:r>
              <a:rPr lang="en-US" b="1">
                <a:latin typeface="Times New Roman" panose="02020603050405020304" pitchFamily="18" charset="0"/>
              </a:rPr>
              <a:t>LÊ VIỆT TRUNG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067AD6E-B2FE-103A-F385-B0BCE3B39C2A}"/>
              </a:ext>
            </a:extLst>
          </p:cNvPr>
          <p:cNvSpPr txBox="1">
            <a:spLocks/>
          </p:cNvSpPr>
          <p:nvPr/>
        </p:nvSpPr>
        <p:spPr>
          <a:xfrm>
            <a:off x="1524000" y="433722"/>
            <a:ext cx="9144000" cy="464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latin typeface="Times New Roman" panose="02020603050405020304" pitchFamily="18" charset="0"/>
              </a:rPr>
              <a:t>TRƯỜNG ĐẠI HỌC BÁCH KHOA – ĐẠI HỌC ĐÀ NẴNG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DFF9081-97ED-6106-1082-CBA4AF6343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5928" y="1199983"/>
            <a:ext cx="1420144" cy="1420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233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84719D-DA31-265B-399F-E5A4980EE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55BBE-2C7A-179F-1170-6AB59E37D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6895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D1EF-E53B-5A9F-9692-52F28506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11DCEB-E4ED-4FCA-9B6A-375B2B3ACA8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468308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E429C-446C-5C3D-E9F3-E05438AF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6986015" cy="1776484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pic>
        <p:nvPicPr>
          <p:cNvPr id="7" name="Picture 6" descr="A group of logos in a circle&#10;&#10;AI-generated content may be incorrect.">
            <a:extLst>
              <a:ext uri="{FF2B5EF4-FFF2-40B4-BE49-F238E27FC236}">
                <a16:creationId xmlns:a16="http://schemas.microsoft.com/office/drawing/2014/main" id="{C1C2440E-83D8-6DF3-21CD-2DE339B7F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231" y="261991"/>
            <a:ext cx="3360391" cy="1890220"/>
          </a:xfrm>
          <a:prstGeom prst="rect">
            <a:avLst/>
          </a:prstGeom>
        </p:spPr>
      </p:pic>
      <p:sp>
        <p:nvSpPr>
          <p:cNvPr id="16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A3D1D-5A35-3D5F-7447-81194895E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04819"/>
            <a:ext cx="6986016" cy="367214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1.1. Lý do chọn đề tài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Nhu cầu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giáo dục.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Tiềm năng từ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AI và LLM.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Lịch sử là một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môn học đặc thù.</a:t>
            </a:r>
          </a:p>
        </p:txBody>
      </p:sp>
      <p:pic>
        <p:nvPicPr>
          <p:cNvPr id="5" name="Picture 4" descr="A classroom with students in front of a blackboard&#10;&#10;AI-generated content may be incorrect.">
            <a:extLst>
              <a:ext uri="{FF2B5EF4-FFF2-40B4-BE49-F238E27FC236}">
                <a16:creationId xmlns:a16="http://schemas.microsoft.com/office/drawing/2014/main" id="{F383968B-DDBB-0538-D632-57CBE19A01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144" y="2310086"/>
            <a:ext cx="2520293" cy="1890220"/>
          </a:xfrm>
          <a:prstGeom prst="rect">
            <a:avLst/>
          </a:prstGeom>
        </p:spPr>
      </p:pic>
      <p:pic>
        <p:nvPicPr>
          <p:cNvPr id="9" name="Picture 8" descr="A book on a map&#10;&#10;AI-generated content may be incorrect.">
            <a:extLst>
              <a:ext uri="{FF2B5EF4-FFF2-40B4-BE49-F238E27FC236}">
                <a16:creationId xmlns:a16="http://schemas.microsoft.com/office/drawing/2014/main" id="{B1F2BB6C-6A97-7B72-A60E-2FBCC066E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0718" y="4358181"/>
            <a:ext cx="3231145" cy="189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57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CC9AE-4282-9F1E-1993-C94D1F1C7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EAC56F-4530-0099-1FEB-FF6A38C16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CE7BF-29EB-0616-CC76-43011646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1.2. Mục tiêu của đề tài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hệ thống chatbot hỗ trợ học Lịch sử Việt Nam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cách ứng dụng LLM và các công nghệ NLP tiên tiến.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Gia tăng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tính tự động hóa, hiệu quả và trải nghiệm của việc học Lịch sử.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Bổ trợ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hiện đại hóa phương pháp giáo dục truyền thống.</a:t>
            </a: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 teacher teaching a class&#10;&#10;AI-generated content may be incorrect.">
            <a:extLst>
              <a:ext uri="{FF2B5EF4-FFF2-40B4-BE49-F238E27FC236}">
                <a16:creationId xmlns:a16="http://schemas.microsoft.com/office/drawing/2014/main" id="{1511805F-94FA-3749-A5B0-C25E681A6F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704423"/>
            <a:ext cx="4014216" cy="2679489"/>
          </a:xfrm>
          <a:prstGeom prst="rect">
            <a:avLst/>
          </a:prstGeom>
        </p:spPr>
      </p:pic>
      <p:pic>
        <p:nvPicPr>
          <p:cNvPr id="5" name="Picture 4" descr="A chatbot with a headset&#10;&#10;AI-generated content may be incorrect.">
            <a:extLst>
              <a:ext uri="{FF2B5EF4-FFF2-40B4-BE49-F238E27FC236}">
                <a16:creationId xmlns:a16="http://schemas.microsoft.com/office/drawing/2014/main" id="{73751C16-9EAF-37E9-87A1-B09347ACC7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204" y="4079193"/>
            <a:ext cx="3427200" cy="2176272"/>
          </a:xfrm>
          <a:prstGeom prst="rect">
            <a:avLst/>
          </a:prstGeom>
        </p:spPr>
      </p:pic>
      <p:sp>
        <p:nvSpPr>
          <p:cNvPr id="9" name="Arrow: Up 8">
            <a:extLst>
              <a:ext uri="{FF2B5EF4-FFF2-40B4-BE49-F238E27FC236}">
                <a16:creationId xmlns:a16="http://schemas.microsoft.com/office/drawing/2014/main" id="{6CE18BF5-C5F9-D784-FA15-E641D51DCB74}"/>
              </a:ext>
            </a:extLst>
          </p:cNvPr>
          <p:cNvSpPr/>
          <p:nvPr/>
        </p:nvSpPr>
        <p:spPr>
          <a:xfrm>
            <a:off x="9734590" y="3561347"/>
            <a:ext cx="272715" cy="368969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64011-730D-C95C-DF94-B39101006B8E}"/>
              </a:ext>
            </a:extLst>
          </p:cNvPr>
          <p:cNvSpPr txBox="1"/>
          <p:nvPr/>
        </p:nvSpPr>
        <p:spPr>
          <a:xfrm>
            <a:off x="10007305" y="3564873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Bổ trợ</a:t>
            </a:r>
          </a:p>
        </p:txBody>
      </p:sp>
    </p:spTree>
    <p:extLst>
      <p:ext uri="{BB962C8B-B14F-4D97-AF65-F5344CB8AC3E}">
        <p14:creationId xmlns:p14="http://schemas.microsoft.com/office/powerpoint/2010/main" val="3036869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9467A-6B36-F138-6409-BB22F619E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6D7A7-A6F2-02BE-01CB-B7957539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059FA-D655-22D4-0BEB-242403E8B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1.3. Đối tượng nghiên cứu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 các LLM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để xây dựng hệ thống chatbot hỗ trợ học Lịch sử Việt Nam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nạp dữ liệu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tối ưu hóa mô hình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trong ngữ cảnh giáo dục Lịch sử.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hiệu suất hệ thống.</a:t>
            </a:r>
          </a:p>
        </p:txBody>
      </p:sp>
    </p:spTree>
    <p:extLst>
      <p:ext uri="{BB962C8B-B14F-4D97-AF65-F5344CB8AC3E}">
        <p14:creationId xmlns:p14="http://schemas.microsoft.com/office/powerpoint/2010/main" val="110471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E34E2-CE2D-9589-7C5C-C261893D2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DCAFB6-133C-8628-69A4-13364D8A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0C182-55D2-A7F6-8A60-BF17B263B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1.4. Nội dung nghiên cứu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cứu, đánh giá và lựa chọn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LLM và embedding phù hợp.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kiến trúc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tổng thể.</a:t>
            </a:r>
          </a:p>
          <a:p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Thiết lập </a:t>
            </a:r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các tiêu chí đánh giá chất lượng chatbot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Thử nghiệm và tối ưu </a:t>
            </a:r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chatbot qua các kịch bản hỏi đáp thực tế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chatbot lên giao diện người dùng (UI)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977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1905-87A2-41AF-1129-86442AE8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67299-79A1-4EF6-83A3-A771D257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16EE07-0C23-B99A-E874-6B1BF571A59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2730506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7BE326-42D9-27A3-AD3F-0ABE4B0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FBDB50-1CF1-909D-D85C-D508E40CF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FF2A4-5B05-6C47-802E-14A242F21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2.1. Lược sử phát triển của NLP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B9C94-A3B5-AD77-34BA-77E776DFF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66141" y="2290936"/>
            <a:ext cx="10847526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732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27226-3F43-80C0-4171-3D2B3FF83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6D27E4-D1CC-7449-5835-509B35BF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7B23E-8310-5899-E43E-DAE762286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35880" cy="3547872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2.2. Mô hình </a:t>
            </a:r>
            <a:r>
              <a:rPr 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 ngữ lớn - LLM</a:t>
            </a:r>
          </a:p>
          <a:p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tạp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với hàng tỉ tham số dựa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</a:t>
            </a: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 tế…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0E2A17-FB78-A897-D260-C9C252227D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816" y="1594753"/>
            <a:ext cx="6108192" cy="366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61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0F448-5FE2-3765-2626-2BF7EE14F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2D5F9A-9397-BD22-F4BB-DCDF5596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CBD0B-87E8-0B2A-8825-72D6A9F50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2.3. Hệ thống RAG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Sự kết hợp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giữa tìm kiếm thông tin (retrieval) và sinh văn bản (generation).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Gồm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độ chinh xác, khả năng mở rộng và khả năng tùy biến lĩnh vực.</a:t>
            </a:r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1AA1C02A-01CC-8118-BE66-A0E66E8B5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2043787"/>
            <a:ext cx="5458968" cy="277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655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CE1FD-5336-C84F-56CE-F0CD03B8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654923-3D76-C0E7-D7B8-36E4D40CA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4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089A2-789B-BD11-19CB-A29F9C861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44222" cy="3547872"/>
          </a:xfrm>
        </p:spPr>
        <p:txBody>
          <a:bodyPr anchor="t"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2.4. Công cụ chuyển đổi văn bản – âm thanh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Sử dụng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các công nghệ chuyển đổi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thành âm thanh hoặc ngược lại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khả năng giao tiếp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giữa con người và máy móc.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Sử dụng trong trợ lý ảo, nhập liệu bằng giọng nói, đọc văn bản tự động… trong nhiều ứng dụng, hệ thống khác nhau.</a:t>
            </a:r>
          </a:p>
        </p:txBody>
      </p:sp>
      <p:pic>
        <p:nvPicPr>
          <p:cNvPr id="5" name="Picture 4" descr="A blue background with text and icons&#10;&#10;AI-generated content may be incorrect.">
            <a:extLst>
              <a:ext uri="{FF2B5EF4-FFF2-40B4-BE49-F238E27FC236}">
                <a16:creationId xmlns:a16="http://schemas.microsoft.com/office/drawing/2014/main" id="{F9BD9FDD-2993-0818-4C18-DC0B116FEB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27" t="26852" r="8709"/>
          <a:stretch>
            <a:fillRect/>
          </a:stretch>
        </p:blipFill>
        <p:spPr>
          <a:xfrm>
            <a:off x="6099048" y="2040166"/>
            <a:ext cx="5458968" cy="277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383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409-7ECF-F86F-F77D-6A0F7B05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0FCC-8B8D-D846-39CB-5E8E3387C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95186-37DA-B7A5-CC28-980C9CD54CB6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00024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EBBBE-DF49-BBAA-A74C-124D8951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175B74-5CE3-6F61-F092-CEFD46C2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8F291-9F9C-7F17-EE02-9E221BB7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3.1. Phát biểu và phân tích bài toán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Tiếp nhận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đầu vào 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phản hồi chinh xác, phù hợp.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Kết hợp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việc truy xuất tài liệu với các mô hình sinh ngôn ngữ.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Duy trì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mạch hội thoại liên tục.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câu hỏi ngoài phạm vi kiến thức.</a:t>
            </a:r>
          </a:p>
        </p:txBody>
      </p:sp>
    </p:spTree>
    <p:extLst>
      <p:ext uri="{BB962C8B-B14F-4D97-AF65-F5344CB8AC3E}">
        <p14:creationId xmlns:p14="http://schemas.microsoft.com/office/powerpoint/2010/main" val="1420802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C4C8A0-A7AB-2DC9-2101-E2865FE6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61362B-C055-854C-DA7B-0A54BC88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213039"/>
            <a:ext cx="10909640" cy="14539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sz="40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DDCF43-B889-D0B9-E9F1-1B2FF967F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985" y="1818226"/>
            <a:ext cx="7245432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5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F171C-8F63-4FB3-79E2-8308033B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ACC718-9D3D-219B-E9D5-990B2ECC8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2C532-A17D-8CC4-4F22-7D99373D2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3.2.1. Giai đoạn một: Chuẩn bị dữ liệu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Thu thập dữ liệu.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Tiền xử lý và phân đoạn.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và lựa chọn mô hình embedding.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Ánh xạ tài liệu thành các embedding vector.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Lưu các embedding vector vào một vector DB.</a:t>
            </a:r>
          </a:p>
        </p:txBody>
      </p:sp>
    </p:spTree>
    <p:extLst>
      <p:ext uri="{BB962C8B-B14F-4D97-AF65-F5344CB8AC3E}">
        <p14:creationId xmlns:p14="http://schemas.microsoft.com/office/powerpoint/2010/main" val="95519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D78DCF-2152-9C55-8B52-D8BB5AC6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A5EF4C-4642-D661-32A1-2E4BFDA37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C5141-C1D6-DFFA-E76D-E43D79C5C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3"/>
            <a:ext cx="10515600" cy="46799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3.2.2. Giai đoạn hai: Phát triển hệ thống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đặc trung từ đầu vào.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Cập nhật thông tin người dùng.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Truy xuất tài liệu liên quan.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Tạo prompt.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Trả phản hồi về người dùng.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Xử lý hậu phản hồi.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khác (xác thực người dùng, quản lý luồng hội thoại,…)</a:t>
            </a:r>
          </a:p>
        </p:txBody>
      </p:sp>
    </p:spTree>
    <p:extLst>
      <p:ext uri="{BB962C8B-B14F-4D97-AF65-F5344CB8AC3E}">
        <p14:creationId xmlns:p14="http://schemas.microsoft.com/office/powerpoint/2010/main" val="103556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9206B-2DF5-06CD-B140-9FA5D277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47DA0F-DFD7-605B-1978-2ECE55BFA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180955"/>
            <a:ext cx="10909640" cy="14860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  <a:endParaRPr lang="en-US" sz="4100" b="1" kern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6F8FCA-E996-1FC6-6FF5-E917E277A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580" y="1847925"/>
            <a:ext cx="7070840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4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D240CE-75C8-FAD3-F11D-D12E50D3E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00910-DBD4-C977-CC19-F8415F4D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F600F-137F-1B18-1D35-C7894E00D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3"/>
            <a:ext cx="10515600" cy="456349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Được triển khai trong </a:t>
            </a: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giai đoạn hai 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của </a:t>
            </a: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đặc trung từ đầu vào.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Cập nhật thông tin người dùng.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Truy xuất tài liệu liên quan.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Tạo prompt.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Trả phản hồi về người dùng.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Xử lý hậu phản hồi.</a:t>
            </a:r>
          </a:p>
          <a:p>
            <a:pPr marL="0" indent="0">
              <a:buNone/>
            </a:pP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5884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E5FB31-9924-5C2E-F7A0-6E99FB53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973459-9CC7-7ED9-05ED-622E0AF56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17BC-26E8-26FB-B8F4-C67280D57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5080053" cy="387978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 bản thô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 thức (chương, bài, đoạn)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0E7045BD-A995-549B-B842-1F75B407D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223" y="2236131"/>
            <a:ext cx="6039841" cy="238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9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07503-FAAF-2934-626E-F3619FB07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318B0F-F164-D94D-7A04-2DDFA28B8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BC489-EA73-CEFB-BFFB-8D3BABA50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44222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 liệu thu thập được.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vượt trội so với các loại tài liệu còn lại.</a:t>
            </a:r>
          </a:p>
        </p:txBody>
      </p:sp>
      <p:pic>
        <p:nvPicPr>
          <p:cNvPr id="4" name="Picture 3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5E9C202C-3520-3FA0-68AD-F02B840B6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158" y="2077905"/>
            <a:ext cx="5782858" cy="286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6561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A26E3-B132-9FAB-2B33-C41440C02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9D932D-3C78-28C1-59AC-5357AB2CE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4614833" cy="1719072"/>
          </a:xfrm>
        </p:spPr>
        <p:txBody>
          <a:bodyPr anchor="b">
            <a:no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1EEE0-6882-2F14-62F2-2B24CF94C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807208"/>
            <a:ext cx="3844812" cy="341071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3.5. Quy trình tiền xử lý dữ liệu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mẫu dữ liệu trùng lặp hoặc không liên quan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định dạng và chính tả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Thống kê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Phân đoạn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</p:txBody>
      </p:sp>
      <p:pic>
        <p:nvPicPr>
          <p:cNvPr id="5" name="Picture 4" descr="A group of rectangular white rectangular objects with black text&#10;&#10;AI-generated content may be incorrect.">
            <a:extLst>
              <a:ext uri="{FF2B5EF4-FFF2-40B4-BE49-F238E27FC236}">
                <a16:creationId xmlns:a16="http://schemas.microsoft.com/office/drawing/2014/main" id="{925A4B38-1289-7386-A77D-C84CF98AC7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2410702"/>
            <a:ext cx="6903720" cy="203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473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3FCDFC-79DB-40CC-2BA1-C22B70543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9A9051A-8510-B97B-FCC3-88FA6E601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A6A097-795E-150D-A0F7-19244E93A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CC773537-1363-BB47-78B1-2C9E2DF41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85546-EAF9-A79D-480C-C6A4EEF5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Word Embedding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Khái niệm:</a:t>
            </a:r>
          </a:p>
          <a:p>
            <a:pPr marL="342900">
              <a:lnSpc>
                <a:spcPct val="100000"/>
              </a:lnSpc>
              <a:spcAft>
                <a:spcPts val="600"/>
              </a:spcAft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>
              <a:lnSpc>
                <a:spcPct val="100000"/>
              </a:lnSpc>
              <a:spcAft>
                <a:spcPts val="600"/>
              </a:spcAft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120774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304C9623-8B1F-5AF3-C6B6-C0B6016609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5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481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6523A-E027-48B8-E88F-EFDFB95DD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3C6C603-E3B0-6D74-07D9-B60590730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9C429D-50C0-F2B9-2D65-DAE6DBF2E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3765B0FD-FAEB-A939-BF4D-6F7F1364D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71CB8-FDE9-C7D1-3047-31450CA3E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Word Embedding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Lợi ích:</a:t>
            </a:r>
          </a:p>
          <a:p>
            <a:pPr marL="342900">
              <a:lnSpc>
                <a:spcPct val="100000"/>
              </a:lnSpc>
              <a:spcAft>
                <a:spcPts val="600"/>
              </a:spcAft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có thể tính toán được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ngôn ngữ tự nhiên.</a:t>
            </a:r>
          </a:p>
          <a:p>
            <a:pPr marL="342900">
              <a:lnSpc>
                <a:spcPct val="100000"/>
              </a:lnSpc>
              <a:spcAft>
                <a:spcPts val="600"/>
              </a:spcAft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và ý nghĩa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văn bản.</a:t>
            </a:r>
          </a:p>
          <a:p>
            <a:pPr marL="11430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=&gt; Quan trọng trong các tác vụ NLP</a:t>
            </a:r>
          </a:p>
        </p:txBody>
      </p:sp>
    </p:spTree>
    <p:extLst>
      <p:ext uri="{BB962C8B-B14F-4D97-AF65-F5344CB8AC3E}">
        <p14:creationId xmlns:p14="http://schemas.microsoft.com/office/powerpoint/2010/main" val="4104795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C11CCA-7AEB-E16D-B0FF-1CCF9C075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DFB31-1C07-2BAB-6957-BD738B9FB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B49CF-75E2-C360-A3A0-62F680E46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3.6.2. Các mô hình embedding đề xuất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all-MiniLM-L6-v2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bert-base-vietnamese-uncased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distiluse-base-multilingual-cased-v2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multilingual-e5-small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sup-SimSCE-VietNamese-phobert-base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vietnamese-bi-encoder</a:t>
            </a:r>
            <a:endParaRPr lang="en-US" sz="24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9785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A820FD-0A4C-C54D-2DFC-72323CFEAB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474362"/>
              </p:ext>
            </p:extLst>
          </p:nvPr>
        </p:nvGraphicFramePr>
        <p:xfrm>
          <a:off x="168165" y="993863"/>
          <a:ext cx="11855669" cy="531046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sz="16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sz="16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sz="160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5" name="Title 2">
            <a:extLst>
              <a:ext uri="{FF2B5EF4-FFF2-40B4-BE49-F238E27FC236}">
                <a16:creationId xmlns:a16="http://schemas.microsoft.com/office/drawing/2014/main" id="{F11C380E-A584-A080-54F1-38C1B5971000}"/>
              </a:ext>
            </a:extLst>
          </p:cNvPr>
          <p:cNvSpPr txBox="1">
            <a:spLocks/>
          </p:cNvSpPr>
          <p:nvPr/>
        </p:nvSpPr>
        <p:spPr>
          <a:xfrm>
            <a:off x="838200" y="191704"/>
            <a:ext cx="10515600" cy="501023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464162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BF554-FD2E-8730-9797-3764FF29E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2F1D20-4453-9FE1-C1BD-6C1ED75FC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BD8C2-9833-F331-6FB5-756CD9B1E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3A76678F-A589-E32F-2E40-A0C481536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5B47B-BB8E-2237-9051-3A138BF2E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(tokenization)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Mục tiêu: </a:t>
            </a:r>
          </a:p>
          <a:p>
            <a:pPr>
              <a:lnSpc>
                <a:spcPct val="114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Kiểm tra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sự chính xác của mô hình embedding khi phân tách từ</a:t>
            </a:r>
          </a:p>
          <a:p>
            <a:pPr>
              <a:lnSpc>
                <a:spcPct val="114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phù hợp nhất với đặc thù ngôn ngữ</a:t>
            </a:r>
          </a:p>
        </p:txBody>
      </p:sp>
    </p:spTree>
    <p:extLst>
      <p:ext uri="{BB962C8B-B14F-4D97-AF65-F5344CB8AC3E}">
        <p14:creationId xmlns:p14="http://schemas.microsoft.com/office/powerpoint/2010/main" val="15014792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7E0ACF-349E-0BF7-EF6C-7597D8A62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338952"/>
              </p:ext>
            </p:extLst>
          </p:nvPr>
        </p:nvGraphicFramePr>
        <p:xfrm>
          <a:off x="207579" y="1923394"/>
          <a:ext cx="11776841" cy="4675458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760210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16631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4A095392-C4EE-B911-E83F-6C32886D405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</a:t>
            </a: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2062D12-AEFD-707C-293E-C11A28C1B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63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phân tách trên chuỗi mẫu</a:t>
            </a:r>
          </a:p>
        </p:txBody>
      </p:sp>
    </p:spTree>
    <p:extLst>
      <p:ext uri="{BB962C8B-B14F-4D97-AF65-F5344CB8AC3E}">
        <p14:creationId xmlns:p14="http://schemas.microsoft.com/office/powerpoint/2010/main" val="718282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1506D8-12A7-80B9-4580-E8681FE7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72081-EAEB-CF98-E121-58CA67A49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432C7-826B-0CCD-CE1A-C4B7C87C7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trên một mẫu dữ liệu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Chiến lược chuẩn hóa của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all-MiniLM-L6-v2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&amp;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bert-base-vietnamese-uncased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 làm mất dấu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tiếng Việt, ảnh hưởng tiêu cực đến ngữ nghĩa.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distiluse-base-multilingual-cased-v2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sinh ra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nhiều token không xác định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trong phần có ngữ nghĩa của mẫu dữ liệu, nên không phù hợp với tiếng Việt.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multilingual-e5-small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cho ra ít token không xác định nhất, nhưng một số từ bị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chia quá nhỏ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làm giảm tính ngữ nghĩa của token.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mô hình s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up-SimCSE-Vietnamese-phobert-base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&amp;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vietnamese-bi-encoder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kết quả rất giống nhau, các token cũng được chia nhỏ ở mức độ vừa phải.</a:t>
            </a:r>
          </a:p>
          <a:p>
            <a:endParaRPr lang="en-US" sz="22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1473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46313-0D2E-6CBB-D691-AD340309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0640D0E-4305-0D41-B0A5-0C7E567E7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965659"/>
              </p:ext>
            </p:extLst>
          </p:nvPr>
        </p:nvGraphicFramePr>
        <p:xfrm>
          <a:off x="619625" y="1254533"/>
          <a:ext cx="10952748" cy="5329156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625367">
                  <a:extLst>
                    <a:ext uri="{9D8B030D-6E8A-4147-A177-3AD203B41FA5}">
                      <a16:colId xmlns:a16="http://schemas.microsoft.com/office/drawing/2014/main" val="33511137"/>
                    </a:ext>
                  </a:extLst>
                </a:gridCol>
                <a:gridCol w="1456188">
                  <a:extLst>
                    <a:ext uri="{9D8B030D-6E8A-4147-A177-3AD203B41FA5}">
                      <a16:colId xmlns:a16="http://schemas.microsoft.com/office/drawing/2014/main" val="1454479095"/>
                    </a:ext>
                  </a:extLst>
                </a:gridCol>
                <a:gridCol w="1483778">
                  <a:extLst>
                    <a:ext uri="{9D8B030D-6E8A-4147-A177-3AD203B41FA5}">
                      <a16:colId xmlns:a16="http://schemas.microsoft.com/office/drawing/2014/main" val="881516949"/>
                    </a:ext>
                  </a:extLst>
                </a:gridCol>
                <a:gridCol w="1812859">
                  <a:extLst>
                    <a:ext uri="{9D8B030D-6E8A-4147-A177-3AD203B41FA5}">
                      <a16:colId xmlns:a16="http://schemas.microsoft.com/office/drawing/2014/main" val="3675780894"/>
                    </a:ext>
                  </a:extLst>
                </a:gridCol>
                <a:gridCol w="2108709">
                  <a:extLst>
                    <a:ext uri="{9D8B030D-6E8A-4147-A177-3AD203B41FA5}">
                      <a16:colId xmlns:a16="http://schemas.microsoft.com/office/drawing/2014/main" val="3930906896"/>
                    </a:ext>
                  </a:extLst>
                </a:gridCol>
                <a:gridCol w="1465847">
                  <a:extLst>
                    <a:ext uri="{9D8B030D-6E8A-4147-A177-3AD203B41FA5}">
                      <a16:colId xmlns:a16="http://schemas.microsoft.com/office/drawing/2014/main" val="344327779"/>
                    </a:ext>
                  </a:extLst>
                </a:gridCol>
              </a:tblGrid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</a:t>
                      </a:r>
                      <a:endParaRPr lang="en-US" sz="20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5257820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3520446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8755686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3300722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1936575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823945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8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8132519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E7C48419-7D86-F25F-5DAB-532E2428B255}"/>
              </a:ext>
            </a:extLst>
          </p:cNvPr>
          <p:cNvSpPr txBox="1">
            <a:spLocks/>
          </p:cNvSpPr>
          <p:nvPr/>
        </p:nvSpPr>
        <p:spPr>
          <a:xfrm>
            <a:off x="838199" y="274311"/>
            <a:ext cx="10515600" cy="65963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phân tách trên tập dữ liệu</a:t>
            </a:r>
          </a:p>
        </p:txBody>
      </p:sp>
    </p:spTree>
    <p:extLst>
      <p:ext uri="{BB962C8B-B14F-4D97-AF65-F5344CB8AC3E}">
        <p14:creationId xmlns:p14="http://schemas.microsoft.com/office/powerpoint/2010/main" val="20216427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76D6D8-580E-A715-E73C-1DC1D6D41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250CE9-4A1A-1DDA-9A71-A55757A4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65618-7B86-8D88-784B-73AC66DE7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3.6.4. Đánh giá hiệu quả phân tách từ trên tập dữ liệu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Nhận xét: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Tỉ lệ token ngoài từ điển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(OOV – Out-Of-Vocabulary)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các mô hình đều ở mức thấp.</a:t>
            </a:r>
          </a:p>
          <a:p>
            <a:pPr>
              <a:lnSpc>
                <a:spcPct val="100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Tỉ lệ subword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mô hình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multilingual-e5-small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cao hơn hẳn các mô hình khác.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Một số mô hình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không bị giới hạn độ dài đầu ra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bert-base-vietnamese-uncased, vietnamese-bi-encoder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), phù hợp với đặc thù của tài liệu lịch sử.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đề xuất: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vietnamese-bi-encoder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129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1023D-F75B-7B92-1BAD-FBBB203FE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97D335CB-5480-39C8-2510-982CB54D3E7E}"/>
              </a:ext>
            </a:extLst>
          </p:cNvPr>
          <p:cNvSpPr txBox="1">
            <a:spLocks/>
          </p:cNvSpPr>
          <p:nvPr/>
        </p:nvSpPr>
        <p:spPr>
          <a:xfrm>
            <a:off x="838199" y="274311"/>
            <a:ext cx="10515600" cy="65963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trên tập dữ liệu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81844F0-4192-1B73-0FB2-7F5B3E96A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494849"/>
              </p:ext>
            </p:extLst>
          </p:nvPr>
        </p:nvGraphicFramePr>
        <p:xfrm>
          <a:off x="838197" y="1497764"/>
          <a:ext cx="10515602" cy="4439987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455838">
                  <a:extLst>
                    <a:ext uri="{9D8B030D-6E8A-4147-A177-3AD203B41FA5}">
                      <a16:colId xmlns:a16="http://schemas.microsoft.com/office/drawing/2014/main" val="3731982391"/>
                    </a:ext>
                  </a:extLst>
                </a:gridCol>
                <a:gridCol w="1236160">
                  <a:extLst>
                    <a:ext uri="{9D8B030D-6E8A-4147-A177-3AD203B41FA5}">
                      <a16:colId xmlns:a16="http://schemas.microsoft.com/office/drawing/2014/main" val="3601305736"/>
                    </a:ext>
                  </a:extLst>
                </a:gridCol>
                <a:gridCol w="1182318">
                  <a:extLst>
                    <a:ext uri="{9D8B030D-6E8A-4147-A177-3AD203B41FA5}">
                      <a16:colId xmlns:a16="http://schemas.microsoft.com/office/drawing/2014/main" val="3526498500"/>
                    </a:ext>
                  </a:extLst>
                </a:gridCol>
                <a:gridCol w="1182318">
                  <a:extLst>
                    <a:ext uri="{9D8B030D-6E8A-4147-A177-3AD203B41FA5}">
                      <a16:colId xmlns:a16="http://schemas.microsoft.com/office/drawing/2014/main" val="3509953471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2417731697"/>
                    </a:ext>
                  </a:extLst>
                </a:gridCol>
                <a:gridCol w="829601">
                  <a:extLst>
                    <a:ext uri="{9D8B030D-6E8A-4147-A177-3AD203B41FA5}">
                      <a16:colId xmlns:a16="http://schemas.microsoft.com/office/drawing/2014/main" val="4053085599"/>
                    </a:ext>
                  </a:extLst>
                </a:gridCol>
                <a:gridCol w="1208690">
                  <a:extLst>
                    <a:ext uri="{9D8B030D-6E8A-4147-A177-3AD203B41FA5}">
                      <a16:colId xmlns:a16="http://schemas.microsoft.com/office/drawing/2014/main" val="3711343085"/>
                    </a:ext>
                  </a:extLst>
                </a:gridCol>
                <a:gridCol w="714226">
                  <a:extLst>
                    <a:ext uri="{9D8B030D-6E8A-4147-A177-3AD203B41FA5}">
                      <a16:colId xmlns:a16="http://schemas.microsoft.com/office/drawing/2014/main" val="2612641176"/>
                    </a:ext>
                  </a:extLst>
                </a:gridCol>
                <a:gridCol w="876850">
                  <a:extLst>
                    <a:ext uri="{9D8B030D-6E8A-4147-A177-3AD203B41FA5}">
                      <a16:colId xmlns:a16="http://schemas.microsoft.com/office/drawing/2014/main" val="2674705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 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Precision@1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Precision@3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Precision@5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Min tokens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Max tokens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Dimension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Total time (s)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On a sample (s)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751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all-MiniLM-L6-v2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0.28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0.17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74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2828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384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95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0.11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2405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bert-base-vietnamese-uncased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53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2267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768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643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0.75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9020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distiluse-base-multilingual-cased-v2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44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2031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512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159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0.18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7118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multilingual-e5-small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1.00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0.90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0.88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45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1967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384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210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0.24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5100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sup-SimCSE-VietNamese-phobert-base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0.62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0.57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50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1967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768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363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0.42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49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 b="0" i="1">
                          <a:effectLst/>
                          <a:latin typeface="+mj-lt"/>
                        </a:rPr>
                        <a:t>vietnamese-bi-encoder</a:t>
                      </a:r>
                      <a:endParaRPr lang="en-US" sz="1800" b="0" i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1.00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1.00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0.88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50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1967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768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269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800">
                          <a:effectLst/>
                          <a:latin typeface="+mj-lt"/>
                        </a:rPr>
                        <a:t>0.31</a:t>
                      </a:r>
                      <a:endParaRPr lang="en-US" sz="1800" b="1">
                        <a:solidFill>
                          <a:srgbClr val="000000"/>
                        </a:solidFill>
                        <a:effectLst/>
                        <a:latin typeface="+mj-lt"/>
                        <a:ea typeface="Yu Gothic" panose="020B0400000000000000" pitchFamily="34" charset="-128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4236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8435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4DC1EB-57D0-CE2E-F804-8293C37D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2534C-1A65-AC6B-ED8F-119B4E144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1E2DD-8D26-B351-3EFE-0290E5C24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3.6.5. Đánh giá hiệu quả embedding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Nhận xét: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mô hình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bert-base-vietnamese-uncased, distiluse-base-multilingual-cased-v2, sup-SimCSE-VietNamese-phobert-base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cho ra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độ chính xác ở mức khá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nhưng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tốc độ truy xuất không quá cao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all-MiniLM-L6-v2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tốc độ truy xuất nhanh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nhưng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độ chính xác ở mức trung bình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mô hình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multilingual-e5-small &amp; vietnamese-bi-encoder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độ chính xác cao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đồng thời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tốc độ truy xuất thuộc top đầu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 Tuy nhiên, mô hình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vietnamese-bi-encoder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không gian ngữ nghĩa nhiều chiều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hơn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multilingual-e5-small.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đề xuất: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vietnamese-bi-encoder </a:t>
            </a:r>
          </a:p>
        </p:txBody>
      </p:sp>
    </p:spTree>
    <p:extLst>
      <p:ext uri="{BB962C8B-B14F-4D97-AF65-F5344CB8AC3E}">
        <p14:creationId xmlns:p14="http://schemas.microsoft.com/office/powerpoint/2010/main" val="39320750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99D51-CA24-5815-C87D-A2906DEA0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841A5-4779-46E8-E065-806F5D403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6E4B9-CE77-EC58-7A4D-845BA2DBD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3.7.1. Thông số các LLM đề xuất</a:t>
            </a:r>
            <a:endParaRPr lang="en-US" sz="24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D228BD-FE8D-0B5D-352E-7A1C2E9638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62897"/>
              </p:ext>
            </p:extLst>
          </p:nvPr>
        </p:nvGraphicFramePr>
        <p:xfrm>
          <a:off x="630936" y="2333907"/>
          <a:ext cx="10917937" cy="387341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451642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038175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60344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1684631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140043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44579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44579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92808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2808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2808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9743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84F37D-2534-56DD-E6E5-8B84B1B6F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C3DB59-254B-2016-9FC0-FD7E177C2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EF084-6CE4-6BFE-CDB7-4337C13BC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3.7.2. Kết quả benchmark các LLM đề xuất</a:t>
            </a:r>
            <a:endParaRPr lang="en-US" sz="24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8F379E2-5387-C230-8A7F-E665DA84EB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719091"/>
              </p:ext>
            </p:extLst>
          </p:nvPr>
        </p:nvGraphicFramePr>
        <p:xfrm>
          <a:off x="630936" y="2466037"/>
          <a:ext cx="10917939" cy="360915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401022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261937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1971637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071811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211532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81523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251D1-CC74-7F7A-BD9E-B224329F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08208A-BDFC-5FB0-0BD5-55A478AC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D4D45-C149-0C95-D73E-E8B565FC7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.8.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Do OpenAI phát triển cho tác vụ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đổi âm thanh thành văn bản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phiên bản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đã huấn luyện trước.</a:t>
            </a:r>
            <a:endParaRPr lang="en-US" sz="20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E50CD49-46CA-892C-C808-D36CB0FF8A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517610"/>
              </p:ext>
            </p:extLst>
          </p:nvPr>
        </p:nvGraphicFramePr>
        <p:xfrm>
          <a:off x="324940" y="1059713"/>
          <a:ext cx="5898200" cy="4738573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875514">
                  <a:extLst>
                    <a:ext uri="{9D8B030D-6E8A-4147-A177-3AD203B41FA5}">
                      <a16:colId xmlns:a16="http://schemas.microsoft.com/office/drawing/2014/main" val="2573840047"/>
                    </a:ext>
                  </a:extLst>
                </a:gridCol>
                <a:gridCol w="843365">
                  <a:extLst>
                    <a:ext uri="{9D8B030D-6E8A-4147-A177-3AD203B41FA5}">
                      <a16:colId xmlns:a16="http://schemas.microsoft.com/office/drawing/2014/main" val="3962929762"/>
                    </a:ext>
                  </a:extLst>
                </a:gridCol>
                <a:gridCol w="639758">
                  <a:extLst>
                    <a:ext uri="{9D8B030D-6E8A-4147-A177-3AD203B41FA5}">
                      <a16:colId xmlns:a16="http://schemas.microsoft.com/office/drawing/2014/main" val="1973781713"/>
                    </a:ext>
                  </a:extLst>
                </a:gridCol>
                <a:gridCol w="950527">
                  <a:extLst>
                    <a:ext uri="{9D8B030D-6E8A-4147-A177-3AD203B41FA5}">
                      <a16:colId xmlns:a16="http://schemas.microsoft.com/office/drawing/2014/main" val="596668744"/>
                    </a:ext>
                  </a:extLst>
                </a:gridCol>
                <a:gridCol w="827291">
                  <a:extLst>
                    <a:ext uri="{9D8B030D-6E8A-4147-A177-3AD203B41FA5}">
                      <a16:colId xmlns:a16="http://schemas.microsoft.com/office/drawing/2014/main" val="1895498694"/>
                    </a:ext>
                  </a:extLst>
                </a:gridCol>
                <a:gridCol w="762994">
                  <a:extLst>
                    <a:ext uri="{9D8B030D-6E8A-4147-A177-3AD203B41FA5}">
                      <a16:colId xmlns:a16="http://schemas.microsoft.com/office/drawing/2014/main" val="2725914928"/>
                    </a:ext>
                  </a:extLst>
                </a:gridCol>
                <a:gridCol w="998751">
                  <a:extLst>
                    <a:ext uri="{9D8B030D-6E8A-4147-A177-3AD203B41FA5}">
                      <a16:colId xmlns:a16="http://schemas.microsoft.com/office/drawing/2014/main" val="4003335631"/>
                    </a:ext>
                  </a:extLst>
                </a:gridCol>
              </a:tblGrid>
              <a:tr h="137907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Phiên bản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mã hóa/giải mã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chiều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Attention head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tham số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Tốc độ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Độ chính xác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8342617"/>
                  </a:ext>
                </a:extLst>
              </a:tr>
              <a:tr h="67190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Tiny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39 triệu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Nhanh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 nhất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2179885"/>
                  </a:ext>
                </a:extLst>
              </a:tr>
              <a:tr h="67190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74 triệu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Rất nhanh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Tốt hơn tiny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1162558"/>
                  </a:ext>
                </a:extLst>
              </a:tr>
              <a:tr h="67190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244 triệu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Vừa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Ổn định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196221"/>
                  </a:ext>
                </a:extLst>
              </a:tr>
              <a:tr h="67190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Medium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1024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769 triệu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Chậm hơn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1414307"/>
                  </a:ext>
                </a:extLst>
              </a:tr>
              <a:tr h="67190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1280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1550 triệu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Chậm nhất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 nhất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25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2810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3AD13-9C52-3AA6-5C20-D6F45AE88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09EE42-DDDC-E595-60D7-7053A9925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anchor="ctr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71415" y="1412748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93129-9393-70F8-61A0-2BEF79929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1263" y="457200"/>
            <a:ext cx="6007608" cy="192938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2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huấn luyện trước Whisper:</a:t>
            </a:r>
          </a:p>
        </p:txBody>
      </p:sp>
      <p:pic>
        <p:nvPicPr>
          <p:cNvPr id="5" name="Picture 4" descr="A blue pie chart with green and blue text&#10;&#10;AI-generated content may be incorrect.">
            <a:extLst>
              <a:ext uri="{FF2B5EF4-FFF2-40B4-BE49-F238E27FC236}">
                <a16:creationId xmlns:a16="http://schemas.microsoft.com/office/drawing/2014/main" id="{8F84A54D-FAFA-5FA0-02BF-29DBAC800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919" y="2569464"/>
            <a:ext cx="3586961" cy="3678936"/>
          </a:xfrm>
          <a:prstGeom prst="rect">
            <a:avLst/>
          </a:prstGeom>
        </p:spPr>
      </p:pic>
      <p:pic>
        <p:nvPicPr>
          <p:cNvPr id="4" name="Picture 3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57F4C595-A815-C5CE-EEBB-50B4C2EB4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726" y="2569464"/>
            <a:ext cx="4921652" cy="3678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0794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A8DC1-D966-7E09-F727-4BC217D54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883300-52B0-CBDF-8170-B72DB0B41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9520"/>
            <a:ext cx="4109207" cy="1719072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F1B2C-FF00-BA44-899A-4DA91CB5D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109206" cy="341071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3.8.2. Kiến trúc của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Dựa trên nền Transformer, với hai thành phần chính: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encoder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decoder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E48088A-2782-C6E7-4E1E-A6FCD7248B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922" t="9618" r="18858" b="8876"/>
          <a:stretch>
            <a:fillRect/>
          </a:stretch>
        </p:blipFill>
        <p:spPr bwMode="auto">
          <a:xfrm>
            <a:off x="4740143" y="640080"/>
            <a:ext cx="6732026" cy="5577840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3965891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E89836-4D95-297E-FCC5-032B1C08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174281-D0B7-38B0-490D-1DF323F6D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15593"/>
            <a:ext cx="4023360" cy="1842999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749A7-4E64-CB90-85C4-303831836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4023360" cy="341071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</p:txBody>
      </p:sp>
      <p:pic>
        <p:nvPicPr>
          <p:cNvPr id="4" name="Picture 3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8C974DDE-764C-494F-06D5-BB0FB54B7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875663"/>
            <a:ext cx="6903720" cy="310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00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2DEF6C-3A64-6AEC-98BC-BE9382234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798E91-EB56-DD18-0075-0162885AF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075FB-E797-B50C-621C-1394D2998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6937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3.8.4. Thu thập dữ liệu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Mục tiêu và yêu cầu dữ liệu: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tập dữ liệu riêng về tiếng Việt để tinh chỉnh mô hình.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Tập dữ liệu phải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khối lượng đủ lớn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và bao phủ đa dạng về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giọng nói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chất lượng âm thanh.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tập dữ liệu: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Viet_Bud500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Tổng cộng 640 nghìn mẫu dữ liệu, ~ 500 giờ nội dung âm thanh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Bao phủ nhiều ngữ cảnh (ẩm thực, du lịch, giáo dục,…)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Giọng đọc từ khắp nơi trên Việt Nam, chất lượng âm thanh đa dạng.</a:t>
            </a:r>
          </a:p>
        </p:txBody>
      </p:sp>
    </p:spTree>
    <p:extLst>
      <p:ext uri="{BB962C8B-B14F-4D97-AF65-F5344CB8AC3E}">
        <p14:creationId xmlns:p14="http://schemas.microsoft.com/office/powerpoint/2010/main" val="20959228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D4E49-9539-DEAA-88B8-9DDB25CE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96B515-688B-5152-9649-ABD133A27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42E39-B269-EE8B-2F50-10A8CC7A9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3.8.5. Tiền xử lý dữ liệu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Mục tiêu: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và đồng nhất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định dạng dữ liệu,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đảm bảo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chất lượng đầu vào.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Quy trình: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định dạng âm thanh: .wav 16kHz mono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Chuẩn hóa nội dung phiên âm: loại bỏ các ký tự phi phát âm, mã hóa UTF-8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Loại bỏ các cột không cần thiết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Thống kê dữ liệu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dữ liệu</a:t>
            </a:r>
          </a:p>
        </p:txBody>
      </p:sp>
    </p:spTree>
    <p:extLst>
      <p:ext uri="{BB962C8B-B14F-4D97-AF65-F5344CB8AC3E}">
        <p14:creationId xmlns:p14="http://schemas.microsoft.com/office/powerpoint/2010/main" val="27892659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1265D9-B5ED-CFEE-220C-08A17B4F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959C6B72-F8E6-4281-8F3E-93FC0DC98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A53EF5-A882-645F-D00D-9B6FDC49C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5295015" cy="2063808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pic>
        <p:nvPicPr>
          <p:cNvPr id="6" name="Picture 5" descr="A graph of a distribution of audio duration&#10;&#10;AI-generated content may be incorrect.">
            <a:extLst>
              <a:ext uri="{FF2B5EF4-FFF2-40B4-BE49-F238E27FC236}">
                <a16:creationId xmlns:a16="http://schemas.microsoft.com/office/drawing/2014/main" id="{4DD06560-C03D-05FF-BDE1-CC00E3027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005" y="265018"/>
            <a:ext cx="6039348" cy="36085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4487F1-57E4-B9BA-F8C8-C262C6FAB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4716379"/>
            <a:ext cx="5271690" cy="1700119"/>
          </a:xfrm>
          <a:prstGeom prst="rect">
            <a:avLst/>
          </a:prstGeom>
        </p:spPr>
      </p:pic>
      <p:sp>
        <p:nvSpPr>
          <p:cNvPr id="31" name="sketch line">
            <a:extLst>
              <a:ext uri="{FF2B5EF4-FFF2-40B4-BE49-F238E27FC236}">
                <a16:creationId xmlns:a16="http://schemas.microsoft.com/office/drawing/2014/main" id="{490234EE-E0D8-4805-9227-CCEAC60169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65018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B9116-8FA6-824B-902C-E5737C6236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908005"/>
            <a:ext cx="4071647" cy="17717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3.8.5. Tiền xử lý dữ liệu</a:t>
            </a:r>
          </a:p>
          <a:p>
            <a:pPr marL="0" indent="0">
              <a:buNone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thống kê dữ liệu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C75148-6963-68C8-32B1-01D05562DE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288513"/>
              </p:ext>
            </p:extLst>
          </p:nvPr>
        </p:nvGraphicFramePr>
        <p:xfrm>
          <a:off x="6096000" y="4716379"/>
          <a:ext cx="5696003" cy="1700119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436045">
                  <a:extLst>
                    <a:ext uri="{9D8B030D-6E8A-4147-A177-3AD203B41FA5}">
                      <a16:colId xmlns:a16="http://schemas.microsoft.com/office/drawing/2014/main" val="864166715"/>
                    </a:ext>
                  </a:extLst>
                </a:gridCol>
                <a:gridCol w="1269273">
                  <a:extLst>
                    <a:ext uri="{9D8B030D-6E8A-4147-A177-3AD203B41FA5}">
                      <a16:colId xmlns:a16="http://schemas.microsoft.com/office/drawing/2014/main" val="980520751"/>
                    </a:ext>
                  </a:extLst>
                </a:gridCol>
                <a:gridCol w="1172915">
                  <a:extLst>
                    <a:ext uri="{9D8B030D-6E8A-4147-A177-3AD203B41FA5}">
                      <a16:colId xmlns:a16="http://schemas.microsoft.com/office/drawing/2014/main" val="1283738973"/>
                    </a:ext>
                  </a:extLst>
                </a:gridCol>
                <a:gridCol w="1817770">
                  <a:extLst>
                    <a:ext uri="{9D8B030D-6E8A-4147-A177-3AD203B41FA5}">
                      <a16:colId xmlns:a16="http://schemas.microsoft.com/office/drawing/2014/main" val="2616268004"/>
                    </a:ext>
                  </a:extLst>
                </a:gridCol>
              </a:tblGrid>
              <a:tr h="650008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Subset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Validation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521545"/>
                  </a:ext>
                </a:extLst>
              </a:tr>
              <a:tr h="1050111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634 nghìn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7500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7500</a:t>
                      </a:r>
                    </a:p>
                  </a:txBody>
                  <a:tcPr marL="166893" marR="166893" marT="83446" marB="8344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3096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98937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90CA35-CD0E-14C0-54EA-664C86244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F66B68-E7B1-2CF3-8373-D5DCB8921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FAA7-3A5E-C48D-58D7-CD48C4B71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3.8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3.8.6. Huấn luyện mô hình</a:t>
            </a:r>
          </a:p>
          <a:p>
            <a:pPr marL="0" indent="0">
              <a:buNone/>
            </a:pPr>
            <a:r>
              <a:rPr lang="en-US" sz="22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Mục tiêu: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hiệu suất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tiếng Việt của Whisper</a:t>
            </a:r>
          </a:p>
          <a:p>
            <a:pPr marL="0" indent="0">
              <a:buNone/>
            </a:pPr>
            <a:r>
              <a:rPr lang="en-US" sz="22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Phiên bản được chọn: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Whisper-small</a:t>
            </a:r>
          </a:p>
          <a:p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Lượng tài nguyên yêu cầu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ở mức vừa phải.</a:t>
            </a:r>
          </a:p>
          <a:p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Cân bằng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giữa tốc độ xử lý và độ chính xác.</a:t>
            </a:r>
          </a:p>
        </p:txBody>
      </p:sp>
    </p:spTree>
    <p:extLst>
      <p:ext uri="{BB962C8B-B14F-4D97-AF65-F5344CB8AC3E}">
        <p14:creationId xmlns:p14="http://schemas.microsoft.com/office/powerpoint/2010/main" val="708422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9CA812-BB7B-F5E6-865D-08D28128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BF7293-1D36-1734-8466-5F7E096B0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79466-57FB-248F-8F4C-6D3C795CC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3.8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3.8.6. Huấn luyện mô hình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bước huấn luyện: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Tải phiên bản Whisper thích hợp.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Thu thập và tiền xử lý dữ liệu.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Tạo các đặc trung dạng số cho đầu vào âm thanh.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Thiết lập siêu tham số.</a:t>
            </a:r>
          </a:p>
          <a:p>
            <a:pPr>
              <a:lnSpc>
                <a:spcPct val="100000"/>
              </a:lnSpc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Thực hiện huấn luyện</a:t>
            </a:r>
          </a:p>
        </p:txBody>
      </p:sp>
    </p:spTree>
    <p:extLst>
      <p:ext uri="{BB962C8B-B14F-4D97-AF65-F5344CB8AC3E}">
        <p14:creationId xmlns:p14="http://schemas.microsoft.com/office/powerpoint/2010/main" val="218595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556A41-C96D-73E2-3C7D-6B89F7A36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5AE392-A8B7-33B5-1D59-B95F2FF9B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7D7C7-3CEA-235C-0396-9FE50629F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3.8.7. Đánh giá hiệu suất tinh chỉnh Whisper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Mục tiêu: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Kiểm thử hiệu suất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tiếng Việt của Whisper trước và sau tinh chỉnh.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chỉ số đánh giá: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WER – Word Error Rate</a:t>
            </a:r>
          </a:p>
          <a:p>
            <a:pPr marL="0" indent="0">
              <a:buNone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lỗi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khi nhận diện ngôn ngữ ở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cấp độ từ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CER – Character Error Rate</a:t>
            </a:r>
          </a:p>
          <a:p>
            <a:pPr marL="0" indent="0">
              <a:buNone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Mức độ lỗi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khi nhận diện ngôn ngữ ở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cấp độ ký tự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US" sz="22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3320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AF5EE-7102-3123-9BC5-C3A21D084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7EA807-9D84-ADAB-3F59-2F396A096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CE6FA-3E42-984D-059A-C6B81E3F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807208"/>
            <a:ext cx="3989191" cy="341071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Tổng hợp đánh giá WER và CER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các phiên bản Whisper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trên tập dữ liệu tinh chỉnh kiểm thử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6" name="Picture 5" descr="A graph with blue and orange bars&#10;&#10;AI-generated content may be incorrect.">
            <a:extLst>
              <a:ext uri="{FF2B5EF4-FFF2-40B4-BE49-F238E27FC236}">
                <a16:creationId xmlns:a16="http://schemas.microsoft.com/office/drawing/2014/main" id="{2AC387B1-3EF7-6205-4E0C-D8C5EA70B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125" y="1188715"/>
            <a:ext cx="7032375" cy="448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2455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AEB6-77F9-06FD-0DF3-319FA22E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040AC-A611-B302-48CB-792EAD872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5D15E-0152-2C33-51AB-941B51F88AD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0822975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C402B-6BEE-F7E4-2543-9E66F4C7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1DDD-6498-CDBD-C1ED-7B2C69398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E6EF6-E176-0345-B881-7F1A9C731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(các yêu cầu chức năng và phi chức năng của hệ thống)</a:t>
            </a:r>
          </a:p>
        </p:txBody>
      </p:sp>
    </p:spTree>
    <p:extLst>
      <p:ext uri="{BB962C8B-B14F-4D97-AF65-F5344CB8AC3E}">
        <p14:creationId xmlns:p14="http://schemas.microsoft.com/office/powerpoint/2010/main" val="30054467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F27E30-325D-EBDB-B099-EE372FA5C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BD8EDD-BAC9-2683-7DEE-A4AD587B4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2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043F-0B2E-DA0E-91F0-B39A4CCA3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chính của hệ thống: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văn bản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thời gian thực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chức năng khác: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 luồng chat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phản hồi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Quản lý luồng chat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Kiểm tra trắc nghiệm (thử nghiệm)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67744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EBDFD8-7446-46BD-0BB8-B1ECC6ED8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7FDF7-6435-4FC5-D038-7FBDBC4B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401053"/>
            <a:ext cx="3748559" cy="1957539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A6021-BD73-AB08-B14C-5A58B0DD3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4.2. Biểu đồ usecase tổng quan</a:t>
            </a:r>
          </a:p>
          <a:p>
            <a:pPr marL="0" indent="0">
              <a:buNone/>
            </a:pPr>
            <a:r>
              <a:rPr lang="en-US" sz="2000" u="sng">
                <a:latin typeface="Times New Roman" panose="02020603050405020304" pitchFamily="18" charset="0"/>
                <a:cs typeface="Times New Roman" panose="02020603050405020304" pitchFamily="18" charset="0"/>
              </a:rPr>
              <a:t>Các tác nhân: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khách: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nhập, đăng ký.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đã xác thực: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Tất cả các chức năng chính của hệ thống.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C9AB83A7-DE27-4785-C21F-674527DEE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990" y="640080"/>
            <a:ext cx="4448331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7719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603E7-09D3-1A2A-9D32-95754CBB0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A7067E-F186-499B-FA50-1DF36857B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423832"/>
            <a:ext cx="3828769" cy="1934760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1C08-1AB7-C541-9947-A95627AB2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10732488" cy="341071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4.3. Chức năng trò chuyện văn bản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của 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lưu vào CSDL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để cập nhật ngữ cảnh luồng chat.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của 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đưa vào pipeline sinh phản hồi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đã sinh ra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trả về người dùng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5" name="Picture 4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5BC8B0F1-39C4-13FA-EF91-8EA88BA3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345" y="235699"/>
            <a:ext cx="6903720" cy="2122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2003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E1AC0-A253-B353-B353-F77A7D76B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E9023D-6B43-C98F-B157-B9876600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309292"/>
            <a:ext cx="3989190" cy="1812116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E0F91-BA6A-DA5A-2F4E-19C71D170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10930128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4.4. Chức năng trò chuyện thời gian thực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âm thanh của 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sang dạng văn bản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dạng văn bản của 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lưu vào CSDL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để cập nhật ngữ cảnh luồng chat.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Truy vấn  dạng văn bản của người dùng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đưa vào pipeline sinh phản hồi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đã sinh ra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sang dạng âm thanh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Trả về phản hồi văn bản và âm thanh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đến người dùng.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400F4674-0E3F-118C-3473-4A0307914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7229" y="309292"/>
            <a:ext cx="6473835" cy="2168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2109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C0B946-FBA5-024F-5FCC-365FD5D23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6F6959-1F5F-001D-8F5E-919EBE303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339130"/>
            <a:ext cx="4101485" cy="1782278"/>
          </a:xfrm>
        </p:spPr>
        <p:txBody>
          <a:bodyPr anchor="b"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7D31B-8A07-4BAA-36AB-6D18D941E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4.5. Quy trình sinh phản hồi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588A76-3B65-E831-E6CE-A29FE6829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0079" y="996294"/>
            <a:ext cx="6828643" cy="486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4927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7F132-A3C1-65E2-CA1F-70B273CD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79612-B223-DF9E-5901-FF63F3840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A6E3DC-DAEA-7161-D4F6-5C8D88839E0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271466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83ED0-392B-BF43-E7A9-6059AC84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6727FE-5156-8EF1-5E69-5E7614EB4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26C19-B5EE-E427-0162-8BC77C2BC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5.1. Chức năng trò chuyện văn bản</a:t>
            </a:r>
          </a:p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56980801-ADF8-A725-46B8-485E757B3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012698"/>
            <a:ext cx="6903720" cy="4832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9300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290CEF-83B3-1CF0-1410-0F4519C0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705896-42DE-F018-7039-AC1A85A3C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67696-2F5C-9148-CDDC-CCEC70FF4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5.2. Chức năng trò chuyện thời gian thực</a:t>
            </a:r>
          </a:p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32868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14AAB5-90B9-7A23-8DED-196FDFDCB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6B52F4-6A8F-B716-A8F5-476854D8E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3C589-0514-D7C4-677D-0A603C0F2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5.3. Chức năng sinh câu hỏi trắc nghiệm (thử nghiệm)</a:t>
            </a:r>
          </a:p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kết quả)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86F635-22C4-72A4-20AD-1879AA15D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547736"/>
            <a:ext cx="6903720" cy="376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23880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7F811-DB4B-F6E5-C121-2E92DE1A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5193A-EBBD-0405-8C3B-5B52CC2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12ECE4-3D70-4400-727A-E601F6A4C614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57449120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0F9071-73D0-748C-5FB0-CF55679C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9E28F9-6185-71BF-6F8A-6C160812F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66B5-8E7B-3214-7C21-0EB860841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5.1. Kết luận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hỗ trợ học Lịch sử Việt Nam đã được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thành công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Hỗ trợ việc đổi mới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giáo dục: từ tiếp thu thụ động sang tìm hiểu chủ động.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Cho phép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tìm kiếm và ôn tập kiến thức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ngôn ngữ tự nhiên.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Tích hợp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 và các LLM vào hệ thống chatbot thành công.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thân thiện và dễ sử dụng.</a:t>
            </a:r>
          </a:p>
        </p:txBody>
      </p:sp>
    </p:spTree>
    <p:extLst>
      <p:ext uri="{BB962C8B-B14F-4D97-AF65-F5344CB8AC3E}">
        <p14:creationId xmlns:p14="http://schemas.microsoft.com/office/powerpoint/2010/main" val="28737391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3E5138-0C9D-EE29-EB6F-4446D5AD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79F4A-E53E-F4B9-8479-700A69043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F902B-1608-BE6C-1830-8013F8B43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5.2. Kết quả đạt được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thuyết: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 và áp dụng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LLM, hệ thống RAG, kỹ thuật prompt vào hệ thống.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nền tảng cơ sở lý thuyết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vững chắc cho hệ thống truy xuất tài liệu tiếng Việt.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Phạm vi nội dung chuyên biệt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, giúp dễ dàng kiểm thử và tinh chỉnh hệ thống.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khai:</a:t>
            </a:r>
          </a:p>
          <a:p>
            <a:pPr>
              <a:lnSpc>
                <a:spcPct val="100000"/>
              </a:lnSpc>
            </a:pP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hoạt động tốt với câu hỏi văn bản và âm thanh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Hỗ trợ tìm kiếm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kiến thức và </a:t>
            </a: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ôn tập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kiến thức thông qua các câu hỏi trắc nghiệm</a:t>
            </a:r>
          </a:p>
          <a:p>
            <a:pPr>
              <a:lnSpc>
                <a:spcPct val="100000"/>
              </a:lnSpc>
            </a:pPr>
            <a:r>
              <a:rPr lang="en-US" alt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được </a:t>
            </a:r>
            <a:r>
              <a:rPr lang="en-US" alt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câu hỏi ngoài phạm vi kiến thức một cách phù hợp.</a:t>
            </a:r>
            <a:endParaRPr lang="en-US" alt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8167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20B137-F9D8-B29F-5073-8EED1C407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BDD14A6-7894-5F19-63BD-55958E71D7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91D3F6-F261-78AC-D5E2-CA4C2E5A1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E4283A5D-8E7F-1702-126F-AC0D3D213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30E14-4021-FBE0-97BA-D61784099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5.3. Hướng phát triển</a:t>
            </a: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Mở rộng nội dung học tập: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Bổ sung thêm các nội dung lịch sử địa phương, các chuyên đề văn hóa, các bộ câu hỏi ôn tập và luyện thi,…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Nâng cấp kỹ thuật: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Tối ưu phản hồi, cải thiện tốc độ và độ chính xác, cải thiện prompt,…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Tăng khả năng tích hợp và tiếp cận: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Triển khai hệ thống lên website, ứng dụng học tập; mở rộng phạm vi sử dụng trong môi trường giáo dục thực tế.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cá nhân hóa và phân tích người dùng: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Gợi ý nội dung học tập theo người dùng, xây dựng công cụ phân tích điểm mạnh – yếu của người dùng.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Đảm bảo bảo mật: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Tăng cường bảo mật và kiểm soát sự an toàn của các truy cập đến hệ thống.</a:t>
            </a:r>
            <a:endParaRPr lang="en-US" sz="2000" i="1" u="sng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15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639C2-78D4-052C-F110-058927629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0F16E-72EC-9F37-D19E-65A20E57A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82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2139</TotalTime>
  <Words>3770</Words>
  <Application>Microsoft Office PowerPoint</Application>
  <PresentationFormat>Widescreen</PresentationFormat>
  <Paragraphs>621</Paragraphs>
  <Slides>63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8" baseType="lpstr">
      <vt:lpstr>Aptos</vt:lpstr>
      <vt:lpstr>Aptos Display</vt:lpstr>
      <vt:lpstr>Arial</vt:lpstr>
      <vt:lpstr>Times New Roman</vt:lpstr>
      <vt:lpstr>Office Theme</vt:lpstr>
      <vt:lpstr>HỆ THỐNG CHATBOT HỖ TRỢ HỌC LỊCH SỬ VIỆT NAM</vt:lpstr>
      <vt:lpstr>NỘI DUNG BÁO CÁO</vt:lpstr>
      <vt:lpstr>GIỚI THIỆU ĐỀ TÀI</vt:lpstr>
      <vt:lpstr>GIỚI THIỆU ĐỀ TÀI</vt:lpstr>
      <vt:lpstr>GIỚI THIỆU ĐỀ TÀI</vt:lpstr>
      <vt:lpstr>GIỚI THIỆU ĐỀ TÀI</vt:lpstr>
      <vt:lpstr>GIỚI THIỆU ĐỀ TÀI</vt:lpstr>
      <vt:lpstr>CƠ SỞ LÝ THUYẾT</vt:lpstr>
      <vt:lpstr>CƠ SỞ LÝ THUYẾT</vt:lpstr>
      <vt:lpstr>CƠ SỞ  LÝ THUYẾT</vt:lpstr>
      <vt:lpstr>CƠ SỞ  LÝ THUYẾT</vt:lpstr>
      <vt:lpstr>CƠ SỞ  LÝ THUYẾT</vt:lpstr>
      <vt:lpstr>PHƯƠNG PHÁP ĐỀ XUẤT</vt:lpstr>
      <vt:lpstr>PHƯƠNG PHÁP ĐỀ XUẤT</vt:lpstr>
      <vt:lpstr>PHƯƠNG PHÁP ĐỀ XUẤT 3.2. Tổng quan phương pháp đề xuất</vt:lpstr>
      <vt:lpstr>PHƯƠNG PHÁP ĐỀ XUẤT</vt:lpstr>
      <vt:lpstr>PHƯƠNG PHÁP ĐỀ XUẤT</vt:lpstr>
      <vt:lpstr>PHƯƠNG PHÁP ĐỀ XUẤT 3.3. Hệ thống RAG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PowerPoint Presentation</vt:lpstr>
      <vt:lpstr>PHƯƠNG PHÁP ĐỀ XUẤT</vt:lpstr>
      <vt:lpstr>PHƯƠNG PHÁP ĐỀ XUẤT</vt:lpstr>
      <vt:lpstr>PowerPoint Presentation</vt:lpstr>
      <vt:lpstr>PHƯƠNG PHÁP ĐỀ XUẤT</vt:lpstr>
      <vt:lpstr>Hiệu quả phân tách trên chuỗi mẫu</vt:lpstr>
      <vt:lpstr>PHƯƠNG PHÁP ĐỀ XUẤT</vt:lpstr>
      <vt:lpstr>PowerPoint Presentation</vt:lpstr>
      <vt:lpstr>PHƯƠNG PHÁP ĐỀ XUẤT</vt:lpstr>
      <vt:lpstr>PowerPoint Presentation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KẾT QUẢ TRIỂN KHAI</vt:lpstr>
      <vt:lpstr>KẾT QUẢ TRIỂN KHAI</vt:lpstr>
      <vt:lpstr>KẾT QUẢ TRIỂN KHAI</vt:lpstr>
      <vt:lpstr>KẾT QUẢ TRIỂN KHAI</vt:lpstr>
      <vt:lpstr>KẾT LUẬN &amp; HƯỚNG PHÁT TRIỂN</vt:lpstr>
      <vt:lpstr>KẾT LUẬN &amp; HƯỚNG PHÁT TRIỂN</vt:lpstr>
      <vt:lpstr>KẾT LUẬN &amp; HƯỚNG PHÁT TRIỂN</vt:lpstr>
      <vt:lpstr>KẾT LUẬN &amp; HƯỚNG PHÁT TRIỂN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84</cp:revision>
  <dcterms:created xsi:type="dcterms:W3CDTF">2025-06-09T12:09:11Z</dcterms:created>
  <dcterms:modified xsi:type="dcterms:W3CDTF">2025-06-22T09:49:32Z</dcterms:modified>
</cp:coreProperties>
</file>