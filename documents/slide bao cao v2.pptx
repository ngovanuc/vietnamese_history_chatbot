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84" r:id="rId10"/>
    <p:sldId id="285" r:id="rId11"/>
    <p:sldId id="286" r:id="rId12"/>
    <p:sldId id="287" r:id="rId13"/>
    <p:sldId id="281" r:id="rId14"/>
    <p:sldId id="268" r:id="rId15"/>
    <p:sldId id="269" r:id="rId16"/>
    <p:sldId id="288" r:id="rId17"/>
    <p:sldId id="289" r:id="rId18"/>
    <p:sldId id="270" r:id="rId19"/>
    <p:sldId id="318" r:id="rId20"/>
    <p:sldId id="290" r:id="rId21"/>
    <p:sldId id="271" r:id="rId22"/>
    <p:sldId id="292" r:id="rId23"/>
    <p:sldId id="272" r:id="rId24"/>
    <p:sldId id="273" r:id="rId25"/>
    <p:sldId id="293" r:id="rId26"/>
    <p:sldId id="294" r:id="rId27"/>
    <p:sldId id="295" r:id="rId28"/>
    <p:sldId id="298" r:id="rId29"/>
    <p:sldId id="299" r:id="rId30"/>
    <p:sldId id="296" r:id="rId31"/>
    <p:sldId id="297" r:id="rId32"/>
    <p:sldId id="274" r:id="rId33"/>
    <p:sldId id="300" r:id="rId34"/>
    <p:sldId id="275" r:id="rId35"/>
    <p:sldId id="305" r:id="rId36"/>
    <p:sldId id="304" r:id="rId37"/>
    <p:sldId id="301" r:id="rId38"/>
    <p:sldId id="303" r:id="rId39"/>
    <p:sldId id="302" r:id="rId40"/>
    <p:sldId id="311" r:id="rId41"/>
    <p:sldId id="306" r:id="rId42"/>
    <p:sldId id="307" r:id="rId43"/>
    <p:sldId id="308" r:id="rId44"/>
    <p:sldId id="309" r:id="rId45"/>
    <p:sldId id="310" r:id="rId46"/>
    <p:sldId id="312" r:id="rId47"/>
    <p:sldId id="265" r:id="rId48"/>
    <p:sldId id="276" r:id="rId49"/>
    <p:sldId id="313" r:id="rId50"/>
    <p:sldId id="277" r:id="rId51"/>
    <p:sldId id="314" r:id="rId52"/>
    <p:sldId id="278" r:id="rId53"/>
    <p:sldId id="316" r:id="rId54"/>
    <p:sldId id="279" r:id="rId55"/>
    <p:sldId id="317" r:id="rId56"/>
    <p:sldId id="280" r:id="rId57"/>
    <p:sldId id="315" r:id="rId58"/>
    <p:sldId id="266" r:id="rId59"/>
    <p:sldId id="282" r:id="rId60"/>
    <p:sldId id="283" r:id="rId61"/>
    <p:sldId id="267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9B11291-C0C4-40EB-9831-7A4D69CD6236}">
          <p14:sldIdLst>
            <p14:sldId id="256"/>
            <p14:sldId id="257"/>
            <p14:sldId id="262"/>
            <p14:sldId id="258"/>
            <p14:sldId id="259"/>
            <p14:sldId id="260"/>
            <p14:sldId id="261"/>
            <p14:sldId id="263"/>
            <p14:sldId id="284"/>
            <p14:sldId id="285"/>
            <p14:sldId id="286"/>
            <p14:sldId id="287"/>
            <p14:sldId id="281"/>
            <p14:sldId id="268"/>
            <p14:sldId id="269"/>
            <p14:sldId id="288"/>
            <p14:sldId id="289"/>
            <p14:sldId id="270"/>
            <p14:sldId id="318"/>
            <p14:sldId id="290"/>
            <p14:sldId id="271"/>
            <p14:sldId id="292"/>
            <p14:sldId id="272"/>
            <p14:sldId id="273"/>
            <p14:sldId id="293"/>
            <p14:sldId id="294"/>
            <p14:sldId id="295"/>
            <p14:sldId id="298"/>
            <p14:sldId id="299"/>
            <p14:sldId id="296"/>
            <p14:sldId id="297"/>
            <p14:sldId id="274"/>
            <p14:sldId id="300"/>
            <p14:sldId id="275"/>
            <p14:sldId id="305"/>
            <p14:sldId id="304"/>
            <p14:sldId id="301"/>
            <p14:sldId id="303"/>
            <p14:sldId id="302"/>
            <p14:sldId id="311"/>
            <p14:sldId id="306"/>
            <p14:sldId id="307"/>
            <p14:sldId id="308"/>
            <p14:sldId id="309"/>
            <p14:sldId id="310"/>
            <p14:sldId id="312"/>
            <p14:sldId id="265"/>
            <p14:sldId id="276"/>
            <p14:sldId id="313"/>
            <p14:sldId id="277"/>
            <p14:sldId id="314"/>
            <p14:sldId id="278"/>
            <p14:sldId id="316"/>
            <p14:sldId id="279"/>
            <p14:sldId id="317"/>
            <p14:sldId id="280"/>
            <p14:sldId id="315"/>
            <p14:sldId id="266"/>
            <p14:sldId id="282"/>
            <p14:sldId id="283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6015" autoAdjust="0"/>
  </p:normalViewPr>
  <p:slideViewPr>
    <p:cSldViewPr snapToGrid="0">
      <p:cViewPr varScale="1">
        <p:scale>
          <a:sx n="60" d="100"/>
          <a:sy n="60" d="100"/>
        </p:scale>
        <p:origin x="114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BE15F-3D48-FED2-9293-40CA55594E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0513"/>
            <a:ext cx="9144000" cy="2387600"/>
          </a:xfrm>
        </p:spPr>
        <p:txBody>
          <a:bodyPr>
            <a:normAutofit/>
          </a:bodyPr>
          <a:lstStyle/>
          <a:p>
            <a:r>
              <a:rPr lang="en-US" sz="4800" b="1">
                <a:latin typeface="Times New Roman" panose="02020603050405020304" pitchFamily="18" charset="0"/>
              </a:rPr>
              <a:t>HỆ THỐNG CHATBOT HỖ TRỢ HỌC LỊCH SỬ VIỆT NAM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50EE6C-37B6-A4AC-4C11-2E5A08C66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49738"/>
            <a:ext cx="9144000" cy="1655762"/>
          </a:xfrm>
        </p:spPr>
        <p:txBody>
          <a:bodyPr anchor="ctr"/>
          <a:lstStyle/>
          <a:p>
            <a:r>
              <a:rPr lang="en-US">
                <a:latin typeface="Times New Roman" panose="02020603050405020304" pitchFamily="18" charset="0"/>
              </a:rPr>
              <a:t>GVHD: </a:t>
            </a:r>
            <a:r>
              <a:rPr lang="en-US" b="1">
                <a:latin typeface="Times New Roman" panose="02020603050405020304" pitchFamily="18" charset="0"/>
              </a:rPr>
              <a:t>TS. NGUYỄN NĂNG HÙNG VÂN</a:t>
            </a:r>
          </a:p>
          <a:p>
            <a:r>
              <a:rPr lang="en-US">
                <a:latin typeface="Times New Roman" panose="02020603050405020304" pitchFamily="18" charset="0"/>
              </a:rPr>
              <a:t>SINH VIÊN THỰC HIỆN: </a:t>
            </a:r>
            <a:r>
              <a:rPr lang="en-US" b="1">
                <a:latin typeface="Times New Roman" panose="02020603050405020304" pitchFamily="18" charset="0"/>
              </a:rPr>
              <a:t>LÊ VIỆT TRUNG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067AD6E-B2FE-103A-F385-B0BCE3B39C2A}"/>
              </a:ext>
            </a:extLst>
          </p:cNvPr>
          <p:cNvSpPr txBox="1">
            <a:spLocks/>
          </p:cNvSpPr>
          <p:nvPr/>
        </p:nvSpPr>
        <p:spPr>
          <a:xfrm>
            <a:off x="1524000" y="433722"/>
            <a:ext cx="9144000" cy="464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>
                <a:latin typeface="Times New Roman" panose="02020603050405020304" pitchFamily="18" charset="0"/>
              </a:rPr>
              <a:t>TRƯỜNG ĐẠI HỌC BÁCH KHOA – ĐẠI HỌC ĐÀ NẴNG</a:t>
            </a:r>
          </a:p>
        </p:txBody>
      </p:sp>
    </p:spTree>
    <p:extLst>
      <p:ext uri="{BB962C8B-B14F-4D97-AF65-F5344CB8AC3E}">
        <p14:creationId xmlns:p14="http://schemas.microsoft.com/office/powerpoint/2010/main" val="4258233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4719D-DA31-265B-399F-E5A4980EE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NỘI DUNG BÁO CÁO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55BBE-2C7A-179F-1170-6AB59E37D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6895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FD1EF-E53B-5A9F-9692-52F28506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11DCEB-E4ED-4FCA-9B6A-375B2B3ACA8C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3468308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3B475F8-50AE-46A0-9943-B2B63183D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E429C-446C-5C3D-E9F3-E05438AF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6986015" cy="1776484"/>
          </a:xfrm>
        </p:spPr>
        <p:txBody>
          <a:bodyPr anchor="b"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pic>
        <p:nvPicPr>
          <p:cNvPr id="7" name="Picture 6" descr="A group of logos in a circle&#10;&#10;AI-generated content may be incorrect.">
            <a:extLst>
              <a:ext uri="{FF2B5EF4-FFF2-40B4-BE49-F238E27FC236}">
                <a16:creationId xmlns:a16="http://schemas.microsoft.com/office/drawing/2014/main" id="{C1C2440E-83D8-6DF3-21CD-2DE339B7F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231" y="261991"/>
            <a:ext cx="3360391" cy="1890220"/>
          </a:xfrm>
          <a:prstGeom prst="rect">
            <a:avLst/>
          </a:prstGeom>
        </p:spPr>
      </p:pic>
      <p:sp>
        <p:nvSpPr>
          <p:cNvPr id="16" name="sketch line">
            <a:extLst>
              <a:ext uri="{FF2B5EF4-FFF2-40B4-BE49-F238E27FC236}">
                <a16:creationId xmlns:a16="http://schemas.microsoft.com/office/drawing/2014/main" id="{75F6FDB4-2351-48C2-A863-2364A0234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315691"/>
            <a:ext cx="4343400" cy="18288"/>
          </a:xfrm>
          <a:custGeom>
            <a:avLst/>
            <a:gdLst>
              <a:gd name="connsiteX0" fmla="*/ 0 w 4343400"/>
              <a:gd name="connsiteY0" fmla="*/ 0 h 18288"/>
              <a:gd name="connsiteX1" fmla="*/ 577052 w 4343400"/>
              <a:gd name="connsiteY1" fmla="*/ 0 h 18288"/>
              <a:gd name="connsiteX2" fmla="*/ 1067235 w 4343400"/>
              <a:gd name="connsiteY2" fmla="*/ 0 h 18288"/>
              <a:gd name="connsiteX3" fmla="*/ 1600853 w 4343400"/>
              <a:gd name="connsiteY3" fmla="*/ 0 h 18288"/>
              <a:gd name="connsiteX4" fmla="*/ 2264773 w 4343400"/>
              <a:gd name="connsiteY4" fmla="*/ 0 h 18288"/>
              <a:gd name="connsiteX5" fmla="*/ 2841825 w 4343400"/>
              <a:gd name="connsiteY5" fmla="*/ 0 h 18288"/>
              <a:gd name="connsiteX6" fmla="*/ 3375442 w 4343400"/>
              <a:gd name="connsiteY6" fmla="*/ 0 h 18288"/>
              <a:gd name="connsiteX7" fmla="*/ 4343400 w 4343400"/>
              <a:gd name="connsiteY7" fmla="*/ 0 h 18288"/>
              <a:gd name="connsiteX8" fmla="*/ 4343400 w 4343400"/>
              <a:gd name="connsiteY8" fmla="*/ 18288 h 18288"/>
              <a:gd name="connsiteX9" fmla="*/ 3722914 w 4343400"/>
              <a:gd name="connsiteY9" fmla="*/ 18288 h 18288"/>
              <a:gd name="connsiteX10" fmla="*/ 3189297 w 4343400"/>
              <a:gd name="connsiteY10" fmla="*/ 18288 h 18288"/>
              <a:gd name="connsiteX11" fmla="*/ 2481943 w 4343400"/>
              <a:gd name="connsiteY11" fmla="*/ 18288 h 18288"/>
              <a:gd name="connsiteX12" fmla="*/ 1904891 w 4343400"/>
              <a:gd name="connsiteY12" fmla="*/ 18288 h 18288"/>
              <a:gd name="connsiteX13" fmla="*/ 1414707 w 4343400"/>
              <a:gd name="connsiteY13" fmla="*/ 18288 h 18288"/>
              <a:gd name="connsiteX14" fmla="*/ 750788 w 4343400"/>
              <a:gd name="connsiteY14" fmla="*/ 18288 h 18288"/>
              <a:gd name="connsiteX15" fmla="*/ 0 w 4343400"/>
              <a:gd name="connsiteY15" fmla="*/ 18288 h 18288"/>
              <a:gd name="connsiteX16" fmla="*/ 0 w 43434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A3D1D-5A35-3D5F-7447-81194895E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04819"/>
            <a:ext cx="6986016" cy="367214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1.1. Lý do chọn đề tài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Nhu cầu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giáo dục.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Tiềm năng từ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AI và LLM.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Lịch sử là một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môn học đặc thù.</a:t>
            </a:r>
          </a:p>
        </p:txBody>
      </p:sp>
      <p:pic>
        <p:nvPicPr>
          <p:cNvPr id="5" name="Picture 4" descr="A classroom with students in front of a blackboard&#10;&#10;AI-generated content may be incorrect.">
            <a:extLst>
              <a:ext uri="{FF2B5EF4-FFF2-40B4-BE49-F238E27FC236}">
                <a16:creationId xmlns:a16="http://schemas.microsoft.com/office/drawing/2014/main" id="{F383968B-DDBB-0538-D632-57CBE19A01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6144" y="2310086"/>
            <a:ext cx="2520293" cy="1890220"/>
          </a:xfrm>
          <a:prstGeom prst="rect">
            <a:avLst/>
          </a:prstGeom>
        </p:spPr>
      </p:pic>
      <p:pic>
        <p:nvPicPr>
          <p:cNvPr id="9" name="Picture 8" descr="A book on a map&#10;&#10;AI-generated content may be incorrect.">
            <a:extLst>
              <a:ext uri="{FF2B5EF4-FFF2-40B4-BE49-F238E27FC236}">
                <a16:creationId xmlns:a16="http://schemas.microsoft.com/office/drawing/2014/main" id="{B1F2BB6C-6A97-7B72-A60E-2FBCC066E6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0718" y="4358181"/>
            <a:ext cx="3231145" cy="189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577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ACC9AE-4282-9F1E-1993-C94D1F1C7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EAC56F-4530-0099-1FEB-FF6A38C16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CE7BF-29EB-0616-CC76-43011646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1.2. Mục tiêu của đề tài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hệ thống chatbot hỗ trợ học Lịch sử Việt Nam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bằng cách ứng dụng LLM và các công nghệ NLP tiên tiến.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Gia tăng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tính tự động hóa, hiệu quả và trải nghiệm của việc học Lịch sử.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Bổ trợ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và hiện đại hóa phương pháp giáo dục truyền thống.</a:t>
            </a: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A teacher teaching a class&#10;&#10;AI-generated content may be incorrect.">
            <a:extLst>
              <a:ext uri="{FF2B5EF4-FFF2-40B4-BE49-F238E27FC236}">
                <a16:creationId xmlns:a16="http://schemas.microsoft.com/office/drawing/2014/main" id="{1511805F-94FA-3749-A5B0-C25E681A6F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3840" y="704423"/>
            <a:ext cx="4014216" cy="2679489"/>
          </a:xfrm>
          <a:prstGeom prst="rect">
            <a:avLst/>
          </a:prstGeom>
        </p:spPr>
      </p:pic>
      <p:pic>
        <p:nvPicPr>
          <p:cNvPr id="5" name="Picture 4" descr="A chatbot with a headset&#10;&#10;AI-generated content may be incorrect.">
            <a:extLst>
              <a:ext uri="{FF2B5EF4-FFF2-40B4-BE49-F238E27FC236}">
                <a16:creationId xmlns:a16="http://schemas.microsoft.com/office/drawing/2014/main" id="{73751C16-9EAF-37E9-87A1-B09347ACC7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204" y="4079193"/>
            <a:ext cx="3427200" cy="2176272"/>
          </a:xfrm>
          <a:prstGeom prst="rect">
            <a:avLst/>
          </a:prstGeom>
        </p:spPr>
      </p:pic>
      <p:sp>
        <p:nvSpPr>
          <p:cNvPr id="9" name="Arrow: Up 8">
            <a:extLst>
              <a:ext uri="{FF2B5EF4-FFF2-40B4-BE49-F238E27FC236}">
                <a16:creationId xmlns:a16="http://schemas.microsoft.com/office/drawing/2014/main" id="{6CE18BF5-C5F9-D784-FA15-E641D51DCB74}"/>
              </a:ext>
            </a:extLst>
          </p:cNvPr>
          <p:cNvSpPr/>
          <p:nvPr/>
        </p:nvSpPr>
        <p:spPr>
          <a:xfrm>
            <a:off x="9734590" y="3561347"/>
            <a:ext cx="272715" cy="368969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A64011-730D-C95C-DF94-B39101006B8E}"/>
              </a:ext>
            </a:extLst>
          </p:cNvPr>
          <p:cNvSpPr txBox="1"/>
          <p:nvPr/>
        </p:nvSpPr>
        <p:spPr>
          <a:xfrm>
            <a:off x="10007305" y="3564873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Bổ trợ</a:t>
            </a:r>
          </a:p>
        </p:txBody>
      </p:sp>
    </p:spTree>
    <p:extLst>
      <p:ext uri="{BB962C8B-B14F-4D97-AF65-F5344CB8AC3E}">
        <p14:creationId xmlns:p14="http://schemas.microsoft.com/office/powerpoint/2010/main" val="3036869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9467A-6B36-F138-6409-BB22F619E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6D7A7-A6F2-02BE-01CB-B79575395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059FA-D655-22D4-0BEB-242403E8B3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1.3. Đối tượng nghiên cứu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Nghiên cứu các LLM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để xây dựng hệ thống chatbot hỗ trợ học Lịch sử Việt Nam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nạp dữ liệu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tối ưu hóa mô hình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trong ngữ cảnh giáo dục Lịch sử.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hiệu suất hệ thống.</a:t>
            </a:r>
          </a:p>
        </p:txBody>
      </p:sp>
    </p:spTree>
    <p:extLst>
      <p:ext uri="{BB962C8B-B14F-4D97-AF65-F5344CB8AC3E}">
        <p14:creationId xmlns:p14="http://schemas.microsoft.com/office/powerpoint/2010/main" val="1104712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6E34E2-CE2D-9589-7C5C-C261893D2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DCAFB6-133C-8628-69A4-13364D8A2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0C182-55D2-A7F6-8A60-BF17B263B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1.4. Nội dung nghiên cứu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Nghiên cứu, đánh giá và lựa chọn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LLM và embedding phù hợp.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kiến trúc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 tổng thể.</a:t>
            </a:r>
          </a:p>
          <a:p>
            <a:r>
              <a:rPr lang="vi-VN" sz="2200">
                <a:latin typeface="Times New Roman" panose="02020603050405020304" pitchFamily="18" charset="0"/>
                <a:cs typeface="Times New Roman" panose="02020603050405020304" pitchFamily="18" charset="0"/>
              </a:rPr>
              <a:t>Thiết lập </a:t>
            </a:r>
            <a:r>
              <a:rPr lang="vi-VN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các tiêu chí đánh giá chất lượng chatbot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vi-VN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Thử nghiệm và tối ưu </a:t>
            </a:r>
            <a:r>
              <a:rPr lang="vi-VN" sz="2200">
                <a:latin typeface="Times New Roman" panose="02020603050405020304" pitchFamily="18" charset="0"/>
                <a:cs typeface="Times New Roman" panose="02020603050405020304" pitchFamily="18" charset="0"/>
              </a:rPr>
              <a:t>chatbot qua các kịch bản hỏi đáp thực tế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vi-VN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</a:t>
            </a:r>
            <a:r>
              <a:rPr lang="vi-VN" sz="2200">
                <a:latin typeface="Times New Roman" panose="02020603050405020304" pitchFamily="18" charset="0"/>
                <a:cs typeface="Times New Roman" panose="02020603050405020304" pitchFamily="18" charset="0"/>
              </a:rPr>
              <a:t>chatbot lên giao diện người dùng (UI)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977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41905-87A2-41AF-1129-86442AE80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67299-79A1-4EF6-83A3-A771D257B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16EE07-0C23-B99A-E874-6B1BF571A59C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2730506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7BE326-42D9-27A3-AD3F-0ABE4B0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FBDB50-1CF1-909D-D85C-D508E40CF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48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FF2A4-5B05-6C47-802E-14A242F21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2.1. Lược sử phát triển của NLP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CB9C94-A3B5-AD77-34BA-77E776DFF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66141" y="2290936"/>
            <a:ext cx="10847526" cy="39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732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27226-3F43-80C0-4171-3D2B3FF83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6D27E4-D1CC-7449-5835-509B35BF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7B23E-8310-5899-E43E-DAE762286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135880" cy="3547872"/>
          </a:xfrm>
        </p:spPr>
        <p:txBody>
          <a:bodyPr anchor="t">
            <a:normAutofit fontScale="92500" lnSpcReduction="1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2.2. Mô hình </a:t>
            </a:r>
            <a:r>
              <a:rPr lang="en-US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 ngữ lớn - LLM</a:t>
            </a:r>
          </a:p>
          <a:p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và sinh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tự nhiên.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Huấn luyện trên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quy mô lớn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phức tạp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với hàng tỉ tham số dựa trên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nền Transformer</a:t>
            </a:r>
            <a:r>
              <a:rPr lang="en-US" sz="2200" b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trích xuất, phân tích, gán nhãn, sinh văn bản.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chatbot, giáo dục, pháp lý, y tế…</a:t>
            </a: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0E2A17-FB78-A897-D260-C9C252227D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6816" y="1594753"/>
            <a:ext cx="6108192" cy="366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661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B0F448-5FE2-3765-2626-2BF7EE14F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2D5F9A-9397-BD22-F4BB-DCDF55965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CBD0B-87E8-0B2A-8825-72D6A9F50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2.3. Hệ thống RAG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Sự kết hợp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giữa tìm kiếm thông tin (retrieval) và sinh văn bản (generation).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Gồm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bộ truy xuất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bộ tạo sinh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độ chinh xác, khả năng mở rộng và khả năng tùy biến lĩnh vực.</a:t>
            </a:r>
          </a:p>
        </p:txBody>
      </p:sp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1AA1C02A-01CC-8118-BE66-A0E66E8B5F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2043787"/>
            <a:ext cx="5458968" cy="277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655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CE1FD-5336-C84F-56CE-F0CD03B8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654923-3D76-C0E7-D7B8-36E4D40CA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40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089A2-789B-BD11-19CB-A29F9C8615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144222" cy="3547872"/>
          </a:xfrm>
        </p:spPr>
        <p:txBody>
          <a:bodyPr anchor="t"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2.4. Công cụ chuyển đổi văn bản – âm thanh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Sử dụng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các công nghệ chuyển đổi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thành âm thanh hoặc ngược lại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khả năng giao tiếp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giữa con người và máy móc.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trợ lý ảo, nhập liệu bằng giọng nói, và đọc văn bản tự động trong nhiều ứng dụng, hệ thống khác nhau.</a:t>
            </a:r>
          </a:p>
        </p:txBody>
      </p:sp>
      <p:pic>
        <p:nvPicPr>
          <p:cNvPr id="5" name="Picture 4" descr="A blue background with text and icons&#10;&#10;AI-generated content may be incorrect.">
            <a:extLst>
              <a:ext uri="{FF2B5EF4-FFF2-40B4-BE49-F238E27FC236}">
                <a16:creationId xmlns:a16="http://schemas.microsoft.com/office/drawing/2014/main" id="{F9BD9FDD-2993-0818-4C18-DC0B116FEB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27" t="26852" r="8709"/>
          <a:stretch>
            <a:fillRect/>
          </a:stretch>
        </p:blipFill>
        <p:spPr>
          <a:xfrm>
            <a:off x="6099048" y="2040166"/>
            <a:ext cx="5458968" cy="277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383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409-7ECF-F86F-F77D-6A0F7B05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A0FCC-8B8D-D846-39CB-5E8E3387C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95186-37DA-B7A5-CC28-980C9CD54CB6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1700024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EBBBE-DF49-BBAA-A74C-124D8951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75B74-5CE3-6F61-F092-CEFD46C2E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8F291-9F9C-7F17-EE02-9E221BB71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3.1. Phát biểu và phân tích bài toán</a:t>
            </a:r>
          </a:p>
        </p:txBody>
      </p:sp>
    </p:spTree>
    <p:extLst>
      <p:ext uri="{BB962C8B-B14F-4D97-AF65-F5344CB8AC3E}">
        <p14:creationId xmlns:p14="http://schemas.microsoft.com/office/powerpoint/2010/main" val="1420802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C4C8A0-A7AB-2DC9-2101-E2865FE6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61362B-C055-854C-DA7B-0A54BC88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213039"/>
            <a:ext cx="10909640" cy="145393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en-US" sz="40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  <a:br>
              <a:rPr lang="en-US" sz="28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DDCF43-B889-D0B9-E9F1-1B2FF967F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0985" y="1818226"/>
            <a:ext cx="7245432" cy="44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95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F171C-8F63-4FB3-79E2-8308033B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CC718-9D3D-219B-E9D5-990B2ECC8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2C532-A17D-8CC4-4F22-7D99373D2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3.2.1. Giai đoạn một: Chuẩn bị hệ thống</a:t>
            </a:r>
          </a:p>
        </p:txBody>
      </p:sp>
    </p:spTree>
    <p:extLst>
      <p:ext uri="{BB962C8B-B14F-4D97-AF65-F5344CB8AC3E}">
        <p14:creationId xmlns:p14="http://schemas.microsoft.com/office/powerpoint/2010/main" val="95519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78DCF-2152-9C55-8B52-D8BB5AC6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5EF4C-4642-D661-32A1-2E4BFDA37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C5141-C1D6-DFFA-E76D-E43D79C5C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3.2.2. Giai đoạn hai: Triển khai hệ thống trong môi trường thực tế</a:t>
            </a:r>
          </a:p>
        </p:txBody>
      </p:sp>
    </p:spTree>
    <p:extLst>
      <p:ext uri="{BB962C8B-B14F-4D97-AF65-F5344CB8AC3E}">
        <p14:creationId xmlns:p14="http://schemas.microsoft.com/office/powerpoint/2010/main" val="1035561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9E3F-594F-2AA8-95C0-541944FB1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8D07B-36CA-8210-1342-561FE3A6A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26D26-CC67-2AEF-DC37-695E768A4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3.3. Hệ thống RAG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</a:p>
        </p:txBody>
      </p:sp>
    </p:spTree>
    <p:extLst>
      <p:ext uri="{BB962C8B-B14F-4D97-AF65-F5344CB8AC3E}">
        <p14:creationId xmlns:p14="http://schemas.microsoft.com/office/powerpoint/2010/main" val="18599459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9206B-2DF5-06CD-B140-9FA5D277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47DA0F-DFD7-605B-1978-2ECE55BFA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180955"/>
            <a:ext cx="10909640" cy="148601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  <a:b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3.3. Hệ thống RAG đề xuất</a:t>
            </a:r>
            <a:endParaRPr lang="en-US" sz="4100" b="1" kern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6F8FCA-E996-1FC6-6FF5-E917E277A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580" y="1847925"/>
            <a:ext cx="7070840" cy="44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549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40CE-75C8-FAD3-F11D-D12E50D3E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00910-DBD4-C977-CC19-F8415F4D9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F600F-137F-1B18-1D35-C7894E00D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3.3. Hệ thống RAG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(mô tả hình)</a:t>
            </a:r>
          </a:p>
        </p:txBody>
      </p:sp>
    </p:spTree>
    <p:extLst>
      <p:ext uri="{BB962C8B-B14F-4D97-AF65-F5344CB8AC3E}">
        <p14:creationId xmlns:p14="http://schemas.microsoft.com/office/powerpoint/2010/main" val="3865884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E5FB31-9924-5C2E-F7A0-6E99FB530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973459-9CC7-7ED9-05ED-622E0AF56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617BC-26E8-26FB-B8F4-C67280D57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660904"/>
            <a:ext cx="5080053" cy="387978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3.4. Quy trình thu thập dữ liệu</a:t>
            </a:r>
          </a:p>
          <a:p>
            <a:pPr>
              <a:lnSpc>
                <a:spcPct val="100000"/>
              </a:lnSpc>
            </a:pP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nội dung được </a:t>
            </a:r>
            <a:r>
              <a:rPr lang="en-US" sz="1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thành văn bản thô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Mỗi văn bản tương ứng với </a:t>
            </a:r>
            <a:r>
              <a:rPr lang="en-US" sz="1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một đơn vị kiến thức (chương, bài, đoạn)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cụ thể.</a:t>
            </a:r>
          </a:p>
          <a:p>
            <a:pPr>
              <a:lnSpc>
                <a:spcPct val="100000"/>
              </a:lnSpc>
            </a:pP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trữ các văn bản trong các </a:t>
            </a:r>
            <a:r>
              <a:rPr lang="en-US" sz="1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tệp JSON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4" name="Picture 3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0E7045BD-A995-549B-B842-1F75B407D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223" y="2236131"/>
            <a:ext cx="6039841" cy="238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4950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507503-FAAF-2934-626E-F3619FB07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318B0F-F164-D94D-7A04-2DDFA28B8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BC489-EA73-CEFB-BFFB-8D3BABA50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144222" cy="354787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3.4. Quy trình thu thập dữ liệu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tổng cộng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1121 tài liệu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loại.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 loại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chapter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(chương),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lesson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(bài học) và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(câu hỏi hoặc tiêu đề).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chiếm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phần lớn số lượng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thu thập được.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độ dài (đơn vị từ)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vượt trội so với các loại tài liệu còn lại.</a:t>
            </a:r>
          </a:p>
        </p:txBody>
      </p:sp>
      <p:pic>
        <p:nvPicPr>
          <p:cNvPr id="4" name="Picture 3" descr="A green graph with white text&#10;&#10;AI-generated content may be incorrect.">
            <a:extLst>
              <a:ext uri="{FF2B5EF4-FFF2-40B4-BE49-F238E27FC236}">
                <a16:creationId xmlns:a16="http://schemas.microsoft.com/office/drawing/2014/main" id="{5E9C202C-3520-3FA0-68AD-F02B840B6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158" y="2077905"/>
            <a:ext cx="5782858" cy="286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6561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A26E3-B132-9FAB-2B33-C41440C02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932D-3C78-28C1-59AC-5357AB2CE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1EEE0-6882-2F14-62F2-2B24CF94C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3.5. Quy trình tiền xử lý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quy trình + mô tả)</a:t>
            </a:r>
          </a:p>
        </p:txBody>
      </p:sp>
    </p:spTree>
    <p:extLst>
      <p:ext uri="{BB962C8B-B14F-4D97-AF65-F5344CB8AC3E}">
        <p14:creationId xmlns:p14="http://schemas.microsoft.com/office/powerpoint/2010/main" val="14334738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2ACB-2A8D-25DD-6AE4-9C35C2E9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28AD-26F9-7DBF-306F-990763ACE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585B3-FB86-11DA-313F-23A2B9DBE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3.6.1. Word Embedding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WE + mô tả)</a:t>
            </a:r>
          </a:p>
        </p:txBody>
      </p:sp>
    </p:spTree>
    <p:extLst>
      <p:ext uri="{BB962C8B-B14F-4D97-AF65-F5344CB8AC3E}">
        <p14:creationId xmlns:p14="http://schemas.microsoft.com/office/powerpoint/2010/main" val="2021394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11CCA-7AEB-E16D-B0FF-1CCF9C075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DFB31-1C07-2BAB-6957-BD738B9FB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B49CF-75E2-C360-A3A0-62F680E46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3.6.2. Các mô hình embedding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thông số)</a:t>
            </a:r>
          </a:p>
        </p:txBody>
      </p:sp>
    </p:spTree>
    <p:extLst>
      <p:ext uri="{BB962C8B-B14F-4D97-AF65-F5344CB8AC3E}">
        <p14:creationId xmlns:p14="http://schemas.microsoft.com/office/powerpoint/2010/main" val="28539785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163E1-DCF3-A6FD-BF94-2C5FB6A37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670BD-13C3-B7DB-BD20-60F6A7079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D1638-EA2A-C05A-B6ED-FC2F856BCC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3.6.3. Đánh giá hiệu quả phân tách từ trên một mẫu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kết quả tokenization trên mẫu dữ liệu đặc biệt)</a:t>
            </a:r>
          </a:p>
        </p:txBody>
      </p:sp>
    </p:spTree>
    <p:extLst>
      <p:ext uri="{BB962C8B-B14F-4D97-AF65-F5344CB8AC3E}">
        <p14:creationId xmlns:p14="http://schemas.microsoft.com/office/powerpoint/2010/main" val="36855732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506D8-12A7-80B9-4580-E8681FE76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2081-EAEB-CF98-E121-58CA67A49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432C7-826B-0CCD-CE1A-C4B7C87C7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3.6.3. Đánh giá hiệu quả phân tách từ trên một mẫu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(nhận xét bảng kết quả tokenization trên mẫu dữ liệu đặc biệt)</a:t>
            </a:r>
          </a:p>
        </p:txBody>
      </p:sp>
    </p:spTree>
    <p:extLst>
      <p:ext uri="{BB962C8B-B14F-4D97-AF65-F5344CB8AC3E}">
        <p14:creationId xmlns:p14="http://schemas.microsoft.com/office/powerpoint/2010/main" val="13114736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55096-0959-7061-60B7-843779D6E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2530E-CBE6-6547-97BF-D41C599FA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4E6D5-47BF-1877-CD9C-5BB5AF469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3.6.4. Đánh giá hiệu quả phân tách từ trên tập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kết quả tokenization trên tập dữ liệu)</a:t>
            </a:r>
          </a:p>
        </p:txBody>
      </p:sp>
    </p:spTree>
    <p:extLst>
      <p:ext uri="{BB962C8B-B14F-4D97-AF65-F5344CB8AC3E}">
        <p14:creationId xmlns:p14="http://schemas.microsoft.com/office/powerpoint/2010/main" val="4802256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6D6D8-580E-A715-E73C-1DC1D6D41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0CE9-4A1A-1DDA-9A71-A55757A4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65618-7B86-8D88-784B-73AC66DE7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3.6.4. Đánh giá hiệu quả phân tách từ trên tập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(nhận xét bảng kết quả tokenization trên tập dữ liệu)</a:t>
            </a:r>
          </a:p>
        </p:txBody>
      </p:sp>
    </p:spTree>
    <p:extLst>
      <p:ext uri="{BB962C8B-B14F-4D97-AF65-F5344CB8AC3E}">
        <p14:creationId xmlns:p14="http://schemas.microsoft.com/office/powerpoint/2010/main" val="2888129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E3A4A-73AA-ABAE-32EF-61DDD4F2C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C944B-9F16-15E9-5335-E5F11FA6E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4D149-0C86-DE97-DD65-A704DAB3E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3.6.5. Đánh giá hiệu quả embedding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kết quả đánh giá hiệu quả embedding)</a:t>
            </a:r>
          </a:p>
        </p:txBody>
      </p:sp>
    </p:spTree>
    <p:extLst>
      <p:ext uri="{BB962C8B-B14F-4D97-AF65-F5344CB8AC3E}">
        <p14:creationId xmlns:p14="http://schemas.microsoft.com/office/powerpoint/2010/main" val="26569532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DC1EB-57D0-CE2E-F804-8293C37DA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2534C-1A65-AC6B-ED8F-119B4E144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1E2DD-8D26-B351-3EFE-0290E5C24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3.6.5. Đánh giá hiệu quả embedding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(nhận xét bảng đánh giá hiệu quả embedding)</a:t>
            </a:r>
          </a:p>
        </p:txBody>
      </p:sp>
    </p:spTree>
    <p:extLst>
      <p:ext uri="{BB962C8B-B14F-4D97-AF65-F5344CB8AC3E}">
        <p14:creationId xmlns:p14="http://schemas.microsoft.com/office/powerpoint/2010/main" val="39320750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99D51-CA24-5815-C87D-A2906DEA0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41A5-4779-46E8-E065-806F5D403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6E4B9-CE77-EC58-7A4D-845BA2DBD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3.7. Các LLM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thông số các LLM)</a:t>
            </a:r>
          </a:p>
        </p:txBody>
      </p:sp>
    </p:spTree>
    <p:extLst>
      <p:ext uri="{BB962C8B-B14F-4D97-AF65-F5344CB8AC3E}">
        <p14:creationId xmlns:p14="http://schemas.microsoft.com/office/powerpoint/2010/main" val="33089743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4F37D-2534-56DD-E6E5-8B84B1B6F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3DB59-254B-2016-9FC0-FD7E177C2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EF084-6CE4-6BFE-CDB7-4337C13BC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3.7. Các LLM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(giải thích + nhận xét bảng thông số các LLM)</a:t>
            </a:r>
          </a:p>
        </p:txBody>
      </p:sp>
    </p:spTree>
    <p:extLst>
      <p:ext uri="{BB962C8B-B14F-4D97-AF65-F5344CB8AC3E}">
        <p14:creationId xmlns:p14="http://schemas.microsoft.com/office/powerpoint/2010/main" val="40281523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984AF-440E-6846-EB3F-CC010B2A9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D82A3-9B6E-9826-C331-B71AB1133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83272-0C68-E463-3998-527301FA1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3.8.1. Giới thiệu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ai phát hành, mục đích sử dụng là gì)</a:t>
            </a:r>
          </a:p>
        </p:txBody>
      </p:sp>
    </p:spTree>
    <p:extLst>
      <p:ext uri="{BB962C8B-B14F-4D97-AF65-F5344CB8AC3E}">
        <p14:creationId xmlns:p14="http://schemas.microsoft.com/office/powerpoint/2010/main" val="30674439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3AD13-9C52-3AA6-5C20-D6F45AE88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9EE42-DDDC-E595-60D7-7053A9925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93129-9393-70F8-61A0-2BEF79929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3.8.1. Giới thiệu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(dữ liệu đã dùng để huấn luyện trước Whisper: chỉ dùng các hình)</a:t>
            </a:r>
          </a:p>
        </p:txBody>
      </p:sp>
    </p:spTree>
    <p:extLst>
      <p:ext uri="{BB962C8B-B14F-4D97-AF65-F5344CB8AC3E}">
        <p14:creationId xmlns:p14="http://schemas.microsoft.com/office/powerpoint/2010/main" val="5570794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251D1-CC74-7F7A-BD9E-B224329F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8208A-BDFC-5FB0-0BD5-55A478AC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D4D45-C149-0C95-D73E-E8B565FC7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3.8.1. Giới thiệu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chi tiết về thông số các phiên bản được phát hành, sự khác biệt giữa các phiên bản)</a:t>
            </a:r>
          </a:p>
        </p:txBody>
      </p:sp>
    </p:spTree>
    <p:extLst>
      <p:ext uri="{BB962C8B-B14F-4D97-AF65-F5344CB8AC3E}">
        <p14:creationId xmlns:p14="http://schemas.microsoft.com/office/powerpoint/2010/main" val="992810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A8DC1-D966-7E09-F727-4BC217D54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3300-52B0-CBDF-8170-B72DB0B41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F1B2C-FF00-BA44-899A-4DA91CB5D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3.8.2. Kiến trúc của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65891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DBC1E-5CD2-7A9E-DD1D-5A10306C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83D26-F692-94C8-0DD1-0897BBD72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753D4-D8D5-965C-A346-B95F91446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3.8.2. Kiến trúc của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(mô tả 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1357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89836-4D95-297E-FCC5-032B1C08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74281-D0B7-38B0-490D-1DF323F6D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749A7-4E64-CB90-85C4-303831836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phương pháp đề xuất)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63000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DEF6C-3A64-6AEC-98BC-BE9382234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98E91-EB56-DD18-0075-0162885AF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075FB-E797-B50C-621C-1394D2998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(thu thập dữ liệu: mục tiêu thu thập, yêu cầu về dữ liệu)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9228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E1224-7BF9-C745-EBBE-F61B826C3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7D385-BA61-F762-2829-7F0792017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167E2-C8FA-60E0-B09A-7B2A1B22C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(thu thập dữ liệu: bảng thông số các tập dữ liệu)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1005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D4E49-9539-DEAA-88B8-9DDB25CE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6B515-688B-5152-9649-ABD133A27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42E39-B269-EE8B-2F50-10A8CC7A9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(tiền xử lý dữ liệu: mục tiêu tiền xử lý; mô tả các bước, có thể thêm 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92659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0CA35-CD0E-14C0-54EA-664C86244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66B68-E7B1-2CF3-8373-D5DCB8921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FAA7-3A5E-C48D-58D7-CD48C4B71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(huấn luyện mô hình: mục tiêu của việc huấn luyện này; giải thích là chọn phiên bản nào và vì sao)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8422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CA812-BB7B-F5E6-865D-08D28128C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F7293-1D36-1734-8466-5F7E096B0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79466-57FB-248F-8F4C-6D3C795CC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(huấn luyện mô hình: các bước trong pipeline tinh chỉnh mô 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95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56A41-C96D-73E2-3C7D-6B89F7A36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AE392-A8B7-33B5-1D59-B95F2FF9B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7D7C7-3CEA-235C-0396-9FE50629F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(đánh giá sau huấn luyện: mục tiêu đánh giá; mô tả công thức tính và ý nghĩa của các chỉ số dùng để đánh giá các mô hình ASR như Whisper)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3320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AF5EE-7102-3123-9BC5-C3A21D084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EA807-9D84-ADAB-3F59-2F396A096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CE6FA-3E42-984D-059A-C6B81E3F8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đánh giá: bảng biểu hoặc hình minh họa)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2455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AEB6-77F9-06FD-0DF3-319FA22E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040AC-A611-B302-48CB-792EAD872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5D15E-0152-2C33-51AB-941B51F88AD3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30822975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C402B-6BEE-F7E4-2543-9E66F4C71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51DDD-6498-CDBD-C1ED-7B2C69398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E6EF6-E176-0345-B881-7F1A9C731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4.1. Phân tích thiết kế hệ thống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(các yêu cầu chức năng và phi chức năng của hệ thống)</a:t>
            </a:r>
          </a:p>
        </p:txBody>
      </p:sp>
    </p:spTree>
    <p:extLst>
      <p:ext uri="{BB962C8B-B14F-4D97-AF65-F5344CB8AC3E}">
        <p14:creationId xmlns:p14="http://schemas.microsoft.com/office/powerpoint/2010/main" val="30054467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27E30-325D-EBDB-B099-EE372FA5C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D8EDD-BAC9-2683-7DEE-A4AD587B4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043F-0B2E-DA0E-91F0-B39A4CCA3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4.1. Phân tích thiết kế hệ thống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(các chức năng của hệ thống)</a:t>
            </a:r>
          </a:p>
        </p:txBody>
      </p:sp>
    </p:spTree>
    <p:extLst>
      <p:ext uri="{BB962C8B-B14F-4D97-AF65-F5344CB8AC3E}">
        <p14:creationId xmlns:p14="http://schemas.microsoft.com/office/powerpoint/2010/main" val="2586774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DFD8-7446-46BD-0BB8-B1ECC6ED8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FDF7-6435-4FC5-D038-7FBDBC4B1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A6021-BD73-AB08-B14C-5A58B0DD3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4.2. Biểu đồ usecase tổng quan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</a:p>
        </p:txBody>
      </p:sp>
    </p:spTree>
    <p:extLst>
      <p:ext uri="{BB962C8B-B14F-4D97-AF65-F5344CB8AC3E}">
        <p14:creationId xmlns:p14="http://schemas.microsoft.com/office/powerpoint/2010/main" val="32867719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0D868-2CB8-8655-7D88-390E4D72D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7F431-98B2-46F3-383A-7C39CABBF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42E5B-B501-6097-AD64-577347922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4.2. Biểu đồ usecase tổng quan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(mô tả hình: có mấy tác nhân, mỗi tác nhân có thể thực thi chức năng gì)</a:t>
            </a:r>
          </a:p>
        </p:txBody>
      </p:sp>
    </p:spTree>
    <p:extLst>
      <p:ext uri="{BB962C8B-B14F-4D97-AF65-F5344CB8AC3E}">
        <p14:creationId xmlns:p14="http://schemas.microsoft.com/office/powerpoint/2010/main" val="40515327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603E7-09D3-1A2A-9D32-95754CBB0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067E-F186-499B-FA50-1DF36857B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1C08-1AB7-C541-9947-A95627AB2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4.3. Chức năng trò chuyện văn bản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(biểu đồ DFD + giải thích)</a:t>
            </a:r>
          </a:p>
        </p:txBody>
      </p:sp>
    </p:spTree>
    <p:extLst>
      <p:ext uri="{BB962C8B-B14F-4D97-AF65-F5344CB8AC3E}">
        <p14:creationId xmlns:p14="http://schemas.microsoft.com/office/powerpoint/2010/main" val="17892003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83ED0-392B-BF43-E7A9-6059AC84C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727FE-5156-8EF1-5E69-5E7614EB4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26C19-B5EE-E427-0162-8BC77C2BC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4.3. Chức năng trò chuyện văn bản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triển khai)</a:t>
            </a:r>
          </a:p>
        </p:txBody>
      </p:sp>
    </p:spTree>
    <p:extLst>
      <p:ext uri="{BB962C8B-B14F-4D97-AF65-F5344CB8AC3E}">
        <p14:creationId xmlns:p14="http://schemas.microsoft.com/office/powerpoint/2010/main" val="29691873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E1AC0-A253-B353-B353-F77A7D76B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9023D-6B43-C98F-B157-B9876600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E0F91-BA6A-DA5A-2F4E-19C71D170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4.4. Chức năng trò chuyện thời gian thực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(biểu đồ DFD + giải thích)</a:t>
            </a:r>
          </a:p>
          <a:p>
            <a:pPr marL="0" indent="0">
              <a:buNone/>
            </a:pP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42109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90CEF-83B3-1CF0-1410-0F4519C0F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05896-42DE-F018-7039-AC1A85A3C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67696-2F5C-9148-CDDC-CCEC70FF4C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4.4. Chức năng trò chuyện thời gian thực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triển khai)</a:t>
            </a:r>
          </a:p>
          <a:p>
            <a:pPr marL="0" indent="0">
              <a:buNone/>
            </a:pP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7514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0B946-FBA5-024F-5FCC-365FD5D23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F6959-1F5F-001D-8F5E-919EBE303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7D31B-8A07-4BAA-36AB-6D18D941E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4.5. Quy trình sinh phản hồi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</a:p>
        </p:txBody>
      </p:sp>
    </p:spTree>
    <p:extLst>
      <p:ext uri="{BB962C8B-B14F-4D97-AF65-F5344CB8AC3E}">
        <p14:creationId xmlns:p14="http://schemas.microsoft.com/office/powerpoint/2010/main" val="32694927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4AAB5-90B9-7A23-8DED-196FDFDCB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B52F4-6A8F-B716-A8F5-476854D8E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3C589-0514-D7C4-677D-0A603C0F2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4.5. Chức năng sinh câu hỏi trắc nghiệm (thử nghiệm)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kết quả)</a:t>
            </a:r>
          </a:p>
        </p:txBody>
      </p:sp>
    </p:spTree>
    <p:extLst>
      <p:ext uri="{BB962C8B-B14F-4D97-AF65-F5344CB8AC3E}">
        <p14:creationId xmlns:p14="http://schemas.microsoft.com/office/powerpoint/2010/main" val="340846819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7F132-A3C1-65E2-CA1F-70B273CD6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79612-B223-DF9E-5901-FF63F3840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A6E3DC-DAEA-7161-D4F6-5C8D88839E03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17271466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F9071-73D0-748C-5FB0-CF55679C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28F9-6185-71BF-6F8A-6C160812F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66B5-8E7B-3214-7C21-0EB860841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5.1. Kết luận</a:t>
            </a:r>
          </a:p>
        </p:txBody>
      </p:sp>
    </p:spTree>
    <p:extLst>
      <p:ext uri="{BB962C8B-B14F-4D97-AF65-F5344CB8AC3E}">
        <p14:creationId xmlns:p14="http://schemas.microsoft.com/office/powerpoint/2010/main" val="28737391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5138-0C9D-EE29-EB6F-4446D5AD3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79F4A-E53E-F4B9-8479-700A69043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F902B-1608-BE6C-1830-8013F8B43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5.2. Hướng phát triển</a:t>
            </a:r>
          </a:p>
        </p:txBody>
      </p:sp>
    </p:spTree>
    <p:extLst>
      <p:ext uri="{BB962C8B-B14F-4D97-AF65-F5344CB8AC3E}">
        <p14:creationId xmlns:p14="http://schemas.microsoft.com/office/powerpoint/2010/main" val="38281678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639C2-78D4-052C-F110-058927629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FIN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0F16E-72EC-9F37-D19E-65A20E57A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082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1863</TotalTime>
  <Words>1789</Words>
  <Application>Microsoft Office PowerPoint</Application>
  <PresentationFormat>Widescreen</PresentationFormat>
  <Paragraphs>217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Aptos</vt:lpstr>
      <vt:lpstr>Aptos Display</vt:lpstr>
      <vt:lpstr>Arial</vt:lpstr>
      <vt:lpstr>Times New Roman</vt:lpstr>
      <vt:lpstr>Office Theme</vt:lpstr>
      <vt:lpstr>HỆ THỐNG CHATBOT HỖ TRỢ HỌC LỊCH SỬ VIỆT NAM</vt:lpstr>
      <vt:lpstr>NỘI DUNG BÁO CÁO</vt:lpstr>
      <vt:lpstr>GIỚI THIỆU ĐỀ TÀI</vt:lpstr>
      <vt:lpstr>GIỚI THIỆU ĐỀ TÀI</vt:lpstr>
      <vt:lpstr>GIỚI THIỆU ĐỀ TÀI</vt:lpstr>
      <vt:lpstr>GIỚI THIỆU ĐỀ TÀI</vt:lpstr>
      <vt:lpstr>GIỚI THIỆU ĐỀ TÀI</vt:lpstr>
      <vt:lpstr>CƠ SỞ LÝ THUYẾT</vt:lpstr>
      <vt:lpstr>CƠ SỞ LÝ THUYẾT</vt:lpstr>
      <vt:lpstr>CƠ SỞ  LÝ THUYẾT</vt:lpstr>
      <vt:lpstr>CƠ SỞ  LÝ THUYẾT</vt:lpstr>
      <vt:lpstr>CƠ SỞ  LÝ THUYẾT</vt:lpstr>
      <vt:lpstr>PHƯƠNG PHÁP ĐỀ XUẤT</vt:lpstr>
      <vt:lpstr>PHƯƠNG PHÁP ĐỀ XUẤT</vt:lpstr>
      <vt:lpstr>PHƯƠNG PHÁP ĐỀ XUẤT 3.2. Tổng quan phương pháp đề xuất</vt:lpstr>
      <vt:lpstr>PHƯƠNG PHÁP ĐỀ XUẤT</vt:lpstr>
      <vt:lpstr>PHƯƠNG PHÁP ĐỀ XUẤT</vt:lpstr>
      <vt:lpstr>PHƯƠNG PHÁP ĐỀ XUẤT</vt:lpstr>
      <vt:lpstr>PHƯƠNG PHÁP ĐỀ XUẤT 3.3. Hệ thống RAG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KẾT LUẬN &amp; HƯỚNG PHÁT TRIỂN</vt:lpstr>
      <vt:lpstr>KẾT LUẬN &amp; HƯỚNG PHÁT TRIỂN</vt:lpstr>
      <vt:lpstr>KẾT LUẬN &amp; HƯỚNG PHÁT TRIỂN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73</cp:revision>
  <dcterms:created xsi:type="dcterms:W3CDTF">2025-06-09T12:09:11Z</dcterms:created>
  <dcterms:modified xsi:type="dcterms:W3CDTF">2025-06-19T09:37:23Z</dcterms:modified>
</cp:coreProperties>
</file>