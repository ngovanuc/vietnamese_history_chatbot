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63" r:id="rId2"/>
    <p:sldId id="264" r:id="rId3"/>
    <p:sldId id="265" r:id="rId4"/>
    <p:sldId id="261" r:id="rId5"/>
    <p:sldId id="266" r:id="rId6"/>
    <p:sldId id="267" r:id="rId7"/>
    <p:sldId id="260" r:id="rId8"/>
    <p:sldId id="269" r:id="rId9"/>
    <p:sldId id="268" r:id="rId10"/>
    <p:sldId id="262" r:id="rId11"/>
    <p:sldId id="270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3859" autoAdjust="0"/>
  </p:normalViewPr>
  <p:slideViewPr>
    <p:cSldViewPr snapToGrid="0">
      <p:cViewPr varScale="1">
        <p:scale>
          <a:sx n="74" d="100"/>
          <a:sy n="74" d="100"/>
        </p:scale>
        <p:origin x="1013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699B688-3183-4F5A-8B47-70F70E2DF15B}" type="datetimeFigureOut">
              <a:rPr lang="en-US" smtClean="0"/>
              <a:t>5/27/2025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59F4E64-33AD-4E03-A94E-822473CE3B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78042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/>
              <a:t>Timeline lược sử về NLP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9163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/>
              <a:t>Hình minh họa các tác vụ NLP phổ biến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055642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/>
              <a:t>Minh hoạ phát biểu bài toán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503753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/>
              <a:t>Biểu đồ phương pháp đề xuất từ đầu tới cuối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366719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/>
              <a:t>Các bước thu thập dữ liệu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038814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/>
              <a:t>Các bước tiền xử lý dữ liệu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216661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010374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/>
              <a:t>Biểu đồ usecase đăng ký/đăng nhập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338304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/>
              <a:t>Style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664640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638912-86F2-F9F0-00D3-990E0B7544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7A113A2-A0A7-B188-7501-24DAD1C7062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D9CCA3-C8F8-59A8-896E-8F81F45B48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5/27/2025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C921C3-8091-F0A5-217C-2B4CF793B6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EF98E6-AC1B-C042-A86D-2CDA93F450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76792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49EA97-63A1-E6EE-C033-79107652CA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EC918F-1E53-773B-915C-EB50A950C4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864DD9-9B7B-ED0F-5AD1-F1E240F217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5/27/2025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7AC0C4-0AFA-30E5-3867-A6C30370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9D7F20-4B6C-A796-DE93-D3498ED312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03481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3FB530-8D97-C682-200C-B82389A6F2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1AE48CB-E3D0-3F6B-51AA-695B78778A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87A2CF-8223-607E-FAD4-0FE7F4EA79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5/27/2025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6FCF7E-EDFD-63DD-DF7C-06918EE55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F41494-1C6C-8D6D-0D1B-AB72B96E8D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95348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F67DBE-5C24-BAEE-2510-7FB8F218AF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B1556E-BBCB-C168-E051-5560F81BE70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EC091E1-59D0-9DA3-D74D-C3F3779A4AE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ED3CC07-69A7-5A64-5D70-F8A70B0E96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5/27/2025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2D9205C-D24C-55AE-18CF-6ED3F97B0D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033A4F-B594-ACB3-453B-D3E23FF96F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98248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27D283-E85A-3282-15DF-247A7B2625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A7CA19-187C-A5E8-BC3E-BD997BE906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D189F4C-C304-0EFD-967B-DFC7771743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8A8BE78-3FF5-F381-601A-DFC0C216D4A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B7A8C23-94E5-BBCF-66F0-1AC1341CD88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FFD67A2-BA88-1C47-A4F1-55CFC8A430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5/27/2025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DA7164F-3659-A8D8-23A1-FDF683515A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9A2B98E-C056-4234-E54B-F2681D6085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97360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9ADD8A-9D6B-CBFD-B738-09658CF188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A7BA658-0076-E468-FB6F-4C30276B28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5/27/2025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F30A00-A54D-BEE2-C528-E15E28E7CB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59A0B25-13F9-8AF6-2E65-226AE92E22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58915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ACF404E-8DA5-F200-9821-22186054F9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5/27/2025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65AEEC9-BF2E-B4E6-BF97-C1EE6E7188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5CBD3E-C3AA-4936-1142-7A0FC5FD81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88715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A36A5B-3398-8830-9034-521E5C1D4D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041C90-ACFC-9213-D50D-5AEC486791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1C36A73-460C-5C7D-E7FB-15E18CDE69D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BB1F0BE-1658-A687-E90E-C7B5376DBF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5/27/2025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501CCF-DE5B-8907-3CDF-9DFD543D42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A6A6F0-9D3B-F27F-A230-1BCF404AA9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1871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FEE088-D236-5AA4-2D05-C930E96FB8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237473F-786D-679D-F2EA-5A34B7B879C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8F35B4-1A19-9F01-C805-BDAF2AB2B9B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FDE30A4-387B-BFBD-38E0-B80918BA7E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5/27/2025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7D3D2BE-6D80-AFFA-4784-4ECB16A56A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A9A9E8-E1BE-6D64-55F5-126A1C8F5E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71131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869B8B-7540-5544-DD63-0551D902FA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A229DB5-807D-FEC5-B64E-38B3DCC9290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571F61-FE4D-68AB-8083-EBFD3DA0F1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5/27/2025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719EE-31E7-4A27-E40C-ABAB6C226A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20F318-AD70-3876-F866-F1A194989A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28271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368D4C2-7177-75A2-B78A-BB0DB552B25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A64754C-76DD-7D90-5C63-BFF663E46F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D2A031-C4DC-4E2B-31FF-07ABB15776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5/27/2025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299EF5-1F09-E28D-CF5A-20D9DD6433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55D9F2-C84E-E8E4-6B4C-69A45C007E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55333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93709FE-8CA2-1CDF-E3A4-62253527AD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3A3EAC-A920-E5C2-E1FB-AF2B580BF1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BD1692-CBA2-55EE-6F3E-2107F2BB79E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74BF1E-CB95-4284-9B4D-720351FD5384}" type="datetimeFigureOut">
              <a:rPr lang="en-US" smtClean="0"/>
              <a:t>5/27/2025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9659BD-E0A4-2DDC-2EE2-DDF5077B38F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86862B-1C71-34CC-AC63-A8F8BD93D6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39578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svg"/><Relationship Id="rId5" Type="http://schemas.openxmlformats.org/officeDocument/2006/relationships/image" Target="../media/image3.png"/><Relationship Id="rId10" Type="http://schemas.openxmlformats.org/officeDocument/2006/relationships/image" Target="../media/image8.svg"/><Relationship Id="rId4" Type="http://schemas.openxmlformats.org/officeDocument/2006/relationships/image" Target="../media/image2.svg"/><Relationship Id="rId9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.svg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sv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00719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40519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Group 27">
            <a:extLst>
              <a:ext uri="{FF2B5EF4-FFF2-40B4-BE49-F238E27FC236}">
                <a16:creationId xmlns:a16="http://schemas.microsoft.com/office/drawing/2014/main" id="{AE233FCD-A73B-BF5A-89BC-EF7D88289D77}"/>
              </a:ext>
            </a:extLst>
          </p:cNvPr>
          <p:cNvGrpSpPr/>
          <p:nvPr/>
        </p:nvGrpSpPr>
        <p:grpSpPr>
          <a:xfrm>
            <a:off x="2368453" y="1876234"/>
            <a:ext cx="7455094" cy="2389544"/>
            <a:chOff x="2368453" y="1876234"/>
            <a:chExt cx="7455094" cy="2389544"/>
          </a:xfrm>
        </p:grpSpPr>
        <p:pic>
          <p:nvPicPr>
            <p:cNvPr id="2" name="Graphic 1" descr="User with solid fill">
              <a:extLst>
                <a:ext uri="{FF2B5EF4-FFF2-40B4-BE49-F238E27FC236}">
                  <a16:creationId xmlns:a16="http://schemas.microsoft.com/office/drawing/2014/main" id="{0AEC3D1E-F089-B43D-0216-BF41D47544A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2388317" y="2493819"/>
              <a:ext cx="1617534" cy="1617534"/>
            </a:xfrm>
            <a:prstGeom prst="rect">
              <a:avLst/>
            </a:prstGeom>
          </p:spPr>
        </p:pic>
        <p:pic>
          <p:nvPicPr>
            <p:cNvPr id="6" name="Graphic 5" descr="Artificial Intelligence with solid fill">
              <a:extLst>
                <a:ext uri="{FF2B5EF4-FFF2-40B4-BE49-F238E27FC236}">
                  <a16:creationId xmlns:a16="http://schemas.microsoft.com/office/drawing/2014/main" id="{BD1C43E2-245C-62FE-B545-E7A26F9FA18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 flipH="1">
              <a:off x="7790927" y="2567078"/>
              <a:ext cx="1432883" cy="1432883"/>
            </a:xfrm>
            <a:prstGeom prst="rect">
              <a:avLst/>
            </a:prstGeom>
          </p:spPr>
        </p:pic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8B547557-E334-4526-9085-DA87CEF770C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111484" y="3407678"/>
              <a:ext cx="3367716" cy="107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FF9E48F7-EBEE-41F1-300D-0025F9B71EDA}"/>
                </a:ext>
              </a:extLst>
            </p:cNvPr>
            <p:cNvCxnSpPr/>
            <p:nvPr/>
          </p:nvCxnSpPr>
          <p:spPr>
            <a:xfrm flipH="1">
              <a:off x="4111484" y="3626426"/>
              <a:ext cx="3367717" cy="0"/>
            </a:xfrm>
            <a:prstGeom prst="straightConnector1">
              <a:avLst/>
            </a:prstGeom>
            <a:ln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16" name="Graphic 15" descr="Chat bubble with solid fill">
              <a:extLst>
                <a:ext uri="{FF2B5EF4-FFF2-40B4-BE49-F238E27FC236}">
                  <a16:creationId xmlns:a16="http://schemas.microsoft.com/office/drawing/2014/main" id="{4581E8B4-D686-72B6-8565-06F5CF40E76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3389344" y="2322181"/>
              <a:ext cx="510016" cy="510016"/>
            </a:xfrm>
            <a:prstGeom prst="rect">
              <a:avLst/>
            </a:prstGeom>
          </p:spPr>
        </p:pic>
        <p:pic>
          <p:nvPicPr>
            <p:cNvPr id="18" name="Graphic 17" descr="Chat bubble with solid fill">
              <a:extLst>
                <a:ext uri="{FF2B5EF4-FFF2-40B4-BE49-F238E27FC236}">
                  <a16:creationId xmlns:a16="http://schemas.microsoft.com/office/drawing/2014/main" id="{856B17C9-0F75-572E-1BC4-35E4B507B8E9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7479200" y="1876234"/>
              <a:ext cx="914400" cy="914400"/>
            </a:xfrm>
            <a:prstGeom prst="rect">
              <a:avLst/>
            </a:prstGeom>
          </p:spPr>
        </p:pic>
        <p:pic>
          <p:nvPicPr>
            <p:cNvPr id="19" name="Graphic 18" descr="Chat bubble with solid fill">
              <a:extLst>
                <a:ext uri="{FF2B5EF4-FFF2-40B4-BE49-F238E27FC236}">
                  <a16:creationId xmlns:a16="http://schemas.microsoft.com/office/drawing/2014/main" id="{157069B6-16D7-529C-815E-78392A358BB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9247525" y="2634760"/>
              <a:ext cx="576022" cy="576022"/>
            </a:xfrm>
            <a:prstGeom prst="rect">
              <a:avLst/>
            </a:prstGeom>
          </p:spPr>
        </p:pic>
        <p:pic>
          <p:nvPicPr>
            <p:cNvPr id="20" name="Graphic 19" descr="Chat bubble with solid fill">
              <a:extLst>
                <a:ext uri="{FF2B5EF4-FFF2-40B4-BE49-F238E27FC236}">
                  <a16:creationId xmlns:a16="http://schemas.microsoft.com/office/drawing/2014/main" id="{2B59C42C-388F-17AE-8C6E-2FBF62CCB121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2368453" y="1917797"/>
              <a:ext cx="914400" cy="914400"/>
            </a:xfrm>
            <a:prstGeom prst="rect">
              <a:avLst/>
            </a:prstGeom>
          </p:spPr>
        </p:pic>
        <p:pic>
          <p:nvPicPr>
            <p:cNvPr id="21" name="Graphic 20" descr="Chat bubble with solid fill">
              <a:extLst>
                <a:ext uri="{FF2B5EF4-FFF2-40B4-BE49-F238E27FC236}">
                  <a16:creationId xmlns:a16="http://schemas.microsoft.com/office/drawing/2014/main" id="{87BEE1E1-08D4-878B-DC88-FFB9570A54B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8935799" y="2086986"/>
              <a:ext cx="576022" cy="576022"/>
            </a:xfrm>
            <a:prstGeom prst="rect">
              <a:avLst/>
            </a:prstGeom>
          </p:spPr>
        </p:pic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92861CE1-0BAE-205F-80C1-D1476AA80D39}"/>
                </a:ext>
              </a:extLst>
            </p:cNvPr>
            <p:cNvSpPr txBox="1"/>
            <p:nvPr/>
          </p:nvSpPr>
          <p:spPr>
            <a:xfrm>
              <a:off x="4830256" y="3069124"/>
              <a:ext cx="1824538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600">
                  <a:latin typeface="+mj-lt"/>
                </a:rPr>
                <a:t>Câu hỏi người dùng</a:t>
              </a:r>
              <a:endParaRPr lang="en-US" sz="1600">
                <a:latin typeface="+mj-lt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8B3B2374-E892-89C1-637F-6D7303E326DF}"/>
                </a:ext>
              </a:extLst>
            </p:cNvPr>
            <p:cNvSpPr txBox="1"/>
            <p:nvPr/>
          </p:nvSpPr>
          <p:spPr>
            <a:xfrm>
              <a:off x="4715641" y="3674819"/>
              <a:ext cx="2053767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600">
                  <a:latin typeface="+mj-lt"/>
                </a:rPr>
                <a:t>Câu trả lơi của chatbot</a:t>
              </a:r>
              <a:endParaRPr lang="en-US" sz="1600">
                <a:latin typeface="+mj-lt"/>
              </a:endParaRP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A9A22EE6-0103-C208-9CBD-2FF2635D5A94}"/>
                </a:ext>
              </a:extLst>
            </p:cNvPr>
            <p:cNvSpPr txBox="1"/>
            <p:nvPr/>
          </p:nvSpPr>
          <p:spPr>
            <a:xfrm>
              <a:off x="2633248" y="3927224"/>
              <a:ext cx="117371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600">
                  <a:latin typeface="+mj-lt"/>
                </a:rPr>
                <a:t>Người dùng</a:t>
              </a:r>
              <a:endParaRPr lang="en-US" sz="1600">
                <a:latin typeface="+mj-lt"/>
              </a:endParaRP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518E0C41-FC5F-EE4F-787F-073DB75BDA17}"/>
                </a:ext>
              </a:extLst>
            </p:cNvPr>
            <p:cNvSpPr txBox="1"/>
            <p:nvPr/>
          </p:nvSpPr>
          <p:spPr>
            <a:xfrm>
              <a:off x="8186151" y="3927224"/>
              <a:ext cx="83548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600">
                  <a:latin typeface="+mj-lt"/>
                </a:rPr>
                <a:t>Chatbot</a:t>
              </a:r>
              <a:endParaRPr lang="en-US" sz="1600">
                <a:latin typeface="+mj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488305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9314C0BE-37D6-77B4-38B8-5477DFAEF41C}"/>
              </a:ext>
            </a:extLst>
          </p:cNvPr>
          <p:cNvGrpSpPr/>
          <p:nvPr/>
        </p:nvGrpSpPr>
        <p:grpSpPr>
          <a:xfrm>
            <a:off x="146303" y="105156"/>
            <a:ext cx="11929881" cy="6029956"/>
            <a:chOff x="146303" y="105156"/>
            <a:chExt cx="11929881" cy="6029956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4C0B364E-9D90-64CF-EE9A-A0106BA27474}"/>
                </a:ext>
              </a:extLst>
            </p:cNvPr>
            <p:cNvSpPr/>
            <p:nvPr/>
          </p:nvSpPr>
          <p:spPr>
            <a:xfrm>
              <a:off x="146304" y="187452"/>
              <a:ext cx="1591056" cy="530352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Thu thập dữ liệu</a:t>
              </a:r>
            </a:p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(</a:t>
              </a:r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Collecting</a:t>
              </a:r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 </a:t>
              </a:r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data</a:t>
              </a:r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)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C9149CF4-2B03-7E86-92B8-78C2E8CCD61F}"/>
                </a:ext>
              </a:extLst>
            </p:cNvPr>
            <p:cNvSpPr/>
            <p:nvPr/>
          </p:nvSpPr>
          <p:spPr>
            <a:xfrm>
              <a:off x="2228088" y="187452"/>
              <a:ext cx="1676400" cy="530352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Tiền xử lý dữ liệu</a:t>
              </a:r>
            </a:p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(</a:t>
              </a:r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Preprocessing</a:t>
              </a:r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 </a:t>
              </a:r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data</a:t>
              </a:r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)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72FCEE69-E7C6-B0BC-7221-2D5531C0F05E}"/>
                </a:ext>
              </a:extLst>
            </p:cNvPr>
            <p:cNvSpPr/>
            <p:nvPr/>
          </p:nvSpPr>
          <p:spPr>
            <a:xfrm>
              <a:off x="4395216" y="187452"/>
              <a:ext cx="1456944" cy="530352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Phân đoạn dữ liệu</a:t>
              </a:r>
            </a:p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(</a:t>
              </a:r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Chunking</a:t>
              </a:r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 </a:t>
              </a:r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data</a:t>
              </a:r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)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6" name="Cylinder 5">
              <a:extLst>
                <a:ext uri="{FF2B5EF4-FFF2-40B4-BE49-F238E27FC236}">
                  <a16:creationId xmlns:a16="http://schemas.microsoft.com/office/drawing/2014/main" id="{74A74C67-E73B-6C07-A7EF-03FC8E1C9209}"/>
                </a:ext>
              </a:extLst>
            </p:cNvPr>
            <p:cNvSpPr/>
            <p:nvPr/>
          </p:nvSpPr>
          <p:spPr>
            <a:xfrm>
              <a:off x="6347699" y="132588"/>
              <a:ext cx="1456944" cy="644652"/>
            </a:xfrm>
            <a:prstGeom prst="can">
              <a:avLst>
                <a:gd name="adj" fmla="val 12506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Dữ liệu chuẩn</a:t>
              </a:r>
            </a:p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(</a:t>
              </a:r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Cleaned</a:t>
              </a:r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 </a:t>
              </a:r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data</a:t>
              </a:r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)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9" name="Cube 8">
              <a:extLst>
                <a:ext uri="{FF2B5EF4-FFF2-40B4-BE49-F238E27FC236}">
                  <a16:creationId xmlns:a16="http://schemas.microsoft.com/office/drawing/2014/main" id="{BB5996C8-63F9-DD2B-5367-2334A49E3D1C}"/>
                </a:ext>
              </a:extLst>
            </p:cNvPr>
            <p:cNvSpPr/>
            <p:nvPr/>
          </p:nvSpPr>
          <p:spPr>
            <a:xfrm>
              <a:off x="10553140" y="105156"/>
              <a:ext cx="1523044" cy="585216"/>
            </a:xfrm>
            <a:prstGeom prst="cube">
              <a:avLst>
                <a:gd name="adj" fmla="val 19444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Các </a:t>
              </a:r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model</a:t>
              </a:r>
              <a:endParaRPr lang="vi-VN" sz="1300" dirty="0">
                <a:solidFill>
                  <a:schemeClr val="tx1"/>
                </a:solidFill>
                <a:latin typeface="+mj-lt"/>
              </a:endParaRPr>
            </a:p>
            <a:p>
              <a:pPr algn="ctr"/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embedding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13" name="Cube 12">
              <a:extLst>
                <a:ext uri="{FF2B5EF4-FFF2-40B4-BE49-F238E27FC236}">
                  <a16:creationId xmlns:a16="http://schemas.microsoft.com/office/drawing/2014/main" id="{7032E416-3072-CA65-BFB7-B4D384B9BA0D}"/>
                </a:ext>
              </a:extLst>
            </p:cNvPr>
            <p:cNvSpPr/>
            <p:nvPr/>
          </p:nvSpPr>
          <p:spPr>
            <a:xfrm>
              <a:off x="8450421" y="1226820"/>
              <a:ext cx="1511804" cy="530352"/>
            </a:xfrm>
            <a:prstGeom prst="cube">
              <a:avLst>
                <a:gd name="adj" fmla="val 19444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Model</a:t>
              </a:r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 </a:t>
              </a:r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embedding</a:t>
              </a:r>
              <a:endParaRPr lang="vi-VN" sz="1300" dirty="0">
                <a:solidFill>
                  <a:schemeClr val="tx1"/>
                </a:solidFill>
                <a:latin typeface="+mj-lt"/>
              </a:endParaRPr>
            </a:p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tốt nhất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14" name="Cylinder 13">
              <a:extLst>
                <a:ext uri="{FF2B5EF4-FFF2-40B4-BE49-F238E27FC236}">
                  <a16:creationId xmlns:a16="http://schemas.microsoft.com/office/drawing/2014/main" id="{5CA7FCE2-8826-2AC2-A35A-B7D56C453B2A}"/>
                </a:ext>
              </a:extLst>
            </p:cNvPr>
            <p:cNvSpPr/>
            <p:nvPr/>
          </p:nvSpPr>
          <p:spPr>
            <a:xfrm>
              <a:off x="10553140" y="1281684"/>
              <a:ext cx="1523044" cy="1691640"/>
            </a:xfrm>
            <a:prstGeom prst="can">
              <a:avLst>
                <a:gd name="adj" fmla="val 10620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Lưu trữ dữ liệu</a:t>
              </a:r>
            </a:p>
            <a:p>
              <a:pPr algn="ctr"/>
              <a:r>
                <a:rPr lang="vi-VN" sz="1300" dirty="0" err="1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vector</a:t>
              </a:r>
              <a:r>
                <a:rPr lang="vi-VN" sz="13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vi-VN" sz="1300" dirty="0" err="1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database</a:t>
              </a:r>
              <a:endParaRPr lang="en-US" sz="13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17" name="Graphic 16" descr="User with solid fill">
              <a:extLst>
                <a:ext uri="{FF2B5EF4-FFF2-40B4-BE49-F238E27FC236}">
                  <a16:creationId xmlns:a16="http://schemas.microsoft.com/office/drawing/2014/main" id="{B61B3EEB-3B71-FA44-D12A-08CB3E46ADB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2512522" y="3226500"/>
              <a:ext cx="1003931" cy="1003931"/>
            </a:xfrm>
            <a:prstGeom prst="rect">
              <a:avLst/>
            </a:prstGeom>
          </p:spPr>
        </p:pic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A6EAC2B4-7E02-37B2-CEB3-63863C0A676D}"/>
                </a:ext>
              </a:extLst>
            </p:cNvPr>
            <p:cNvSpPr/>
            <p:nvPr/>
          </p:nvSpPr>
          <p:spPr>
            <a:xfrm>
              <a:off x="6347700" y="1281684"/>
              <a:ext cx="1456943" cy="530352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Thông tin được trích xuất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83F988E7-AA09-988C-9F5A-31716BD85BB6}"/>
                </a:ext>
              </a:extLst>
            </p:cNvPr>
            <p:cNvSpPr/>
            <p:nvPr/>
          </p:nvSpPr>
          <p:spPr>
            <a:xfrm>
              <a:off x="8388052" y="192024"/>
              <a:ext cx="1523043" cy="530352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Đánh giá </a:t>
              </a:r>
              <a:r>
                <a:rPr lang="vi-VN" sz="1300" dirty="0" err="1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model</a:t>
              </a:r>
              <a:r>
                <a:rPr lang="vi-VN" sz="13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vi-VN" sz="1300" dirty="0" err="1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embedding</a:t>
              </a:r>
              <a:endParaRPr lang="en-US" sz="13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CB4C4D39-4345-51F9-F870-BDBBD7720C2F}"/>
                </a:ext>
              </a:extLst>
            </p:cNvPr>
            <p:cNvSpPr/>
            <p:nvPr/>
          </p:nvSpPr>
          <p:spPr>
            <a:xfrm>
              <a:off x="4395216" y="1281684"/>
              <a:ext cx="1456944" cy="530352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Trích xuất thông tin câu hỏi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54" name="Cube 53">
              <a:extLst>
                <a:ext uri="{FF2B5EF4-FFF2-40B4-BE49-F238E27FC236}">
                  <a16:creationId xmlns:a16="http://schemas.microsoft.com/office/drawing/2014/main" id="{8F6C086B-973C-E6F8-D0E8-04E58C696C4E}"/>
                </a:ext>
              </a:extLst>
            </p:cNvPr>
            <p:cNvSpPr/>
            <p:nvPr/>
          </p:nvSpPr>
          <p:spPr>
            <a:xfrm>
              <a:off x="2223277" y="1235964"/>
              <a:ext cx="1676400" cy="530352"/>
            </a:xfrm>
            <a:prstGeom prst="cube">
              <a:avLst>
                <a:gd name="adj" fmla="val 17720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LLM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55" name="Rectangle: Rounded Corners 54">
              <a:extLst>
                <a:ext uri="{FF2B5EF4-FFF2-40B4-BE49-F238E27FC236}">
                  <a16:creationId xmlns:a16="http://schemas.microsoft.com/office/drawing/2014/main" id="{B8ACB595-AD1A-F1AC-4471-A5D6994010FF}"/>
                </a:ext>
              </a:extLst>
            </p:cNvPr>
            <p:cNvSpPr/>
            <p:nvPr/>
          </p:nvSpPr>
          <p:spPr>
            <a:xfrm>
              <a:off x="146303" y="1263396"/>
              <a:ext cx="1597981" cy="57302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Câu hỏi văn bản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56" name="Rectangle: Rounded Corners 55">
              <a:extLst>
                <a:ext uri="{FF2B5EF4-FFF2-40B4-BE49-F238E27FC236}">
                  <a16:creationId xmlns:a16="http://schemas.microsoft.com/office/drawing/2014/main" id="{C72AD4ED-D215-BCF5-4367-51D1C1768014}"/>
                </a:ext>
              </a:extLst>
            </p:cNvPr>
            <p:cNvSpPr/>
            <p:nvPr/>
          </p:nvSpPr>
          <p:spPr>
            <a:xfrm>
              <a:off x="146304" y="2250948"/>
              <a:ext cx="1591056" cy="722376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Xử lý âm thanh</a:t>
              </a:r>
            </a:p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(Khử ồn, phát hiện </a:t>
              </a:r>
            </a:p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câu hỏi…)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57" name="Rectangle: Rounded Corners 56">
              <a:extLst>
                <a:ext uri="{FF2B5EF4-FFF2-40B4-BE49-F238E27FC236}">
                  <a16:creationId xmlns:a16="http://schemas.microsoft.com/office/drawing/2014/main" id="{B3349750-6CDB-9E22-4332-CDD7F2259EA3}"/>
                </a:ext>
              </a:extLst>
            </p:cNvPr>
            <p:cNvSpPr/>
            <p:nvPr/>
          </p:nvSpPr>
          <p:spPr>
            <a:xfrm>
              <a:off x="8392925" y="2250948"/>
              <a:ext cx="1524983" cy="722376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Trích xuất thông tin liên quan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58" name="Cylinder 57">
              <a:extLst>
                <a:ext uri="{FF2B5EF4-FFF2-40B4-BE49-F238E27FC236}">
                  <a16:creationId xmlns:a16="http://schemas.microsoft.com/office/drawing/2014/main" id="{1F705B23-A2C5-20CD-FB48-3BF6D93C260F}"/>
                </a:ext>
              </a:extLst>
            </p:cNvPr>
            <p:cNvSpPr/>
            <p:nvPr/>
          </p:nvSpPr>
          <p:spPr>
            <a:xfrm>
              <a:off x="6347700" y="2252472"/>
              <a:ext cx="1456944" cy="722376"/>
            </a:xfrm>
            <a:prstGeom prst="can">
              <a:avLst>
                <a:gd name="adj" fmla="val 13615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CSDL thông tin người dùng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59" name="Rectangle: Rounded Corners 58">
              <a:extLst>
                <a:ext uri="{FF2B5EF4-FFF2-40B4-BE49-F238E27FC236}">
                  <a16:creationId xmlns:a16="http://schemas.microsoft.com/office/drawing/2014/main" id="{260F8AE3-D622-49E0-1D43-B08132CFF553}"/>
                </a:ext>
              </a:extLst>
            </p:cNvPr>
            <p:cNvSpPr/>
            <p:nvPr/>
          </p:nvSpPr>
          <p:spPr>
            <a:xfrm>
              <a:off x="10553140" y="3412236"/>
              <a:ext cx="1523044" cy="632460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Tạo </a:t>
              </a:r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prompt</a:t>
              </a:r>
              <a:endParaRPr lang="vi-VN" sz="1300" dirty="0">
                <a:solidFill>
                  <a:schemeClr val="tx1"/>
                </a:solidFill>
                <a:latin typeface="+mj-lt"/>
              </a:endParaRPr>
            </a:p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hoàn chỉnh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60" name="Cube 59">
              <a:extLst>
                <a:ext uri="{FF2B5EF4-FFF2-40B4-BE49-F238E27FC236}">
                  <a16:creationId xmlns:a16="http://schemas.microsoft.com/office/drawing/2014/main" id="{4E3894F2-818C-AE90-D888-94D9BFDCD5B0}"/>
                </a:ext>
              </a:extLst>
            </p:cNvPr>
            <p:cNvSpPr/>
            <p:nvPr/>
          </p:nvSpPr>
          <p:spPr>
            <a:xfrm>
              <a:off x="8450119" y="4418076"/>
              <a:ext cx="1524983" cy="632460"/>
            </a:xfrm>
            <a:prstGeom prst="cube">
              <a:avLst>
                <a:gd name="adj" fmla="val 17720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LLM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61" name="Rectangle: Rounded Corners 60">
              <a:extLst>
                <a:ext uri="{FF2B5EF4-FFF2-40B4-BE49-F238E27FC236}">
                  <a16:creationId xmlns:a16="http://schemas.microsoft.com/office/drawing/2014/main" id="{1E4DF0B0-F346-2566-481E-A85FB3B965F7}"/>
                </a:ext>
              </a:extLst>
            </p:cNvPr>
            <p:cNvSpPr/>
            <p:nvPr/>
          </p:nvSpPr>
          <p:spPr>
            <a:xfrm>
              <a:off x="4395214" y="3412236"/>
              <a:ext cx="1467079" cy="632460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Bộ phân tích hành vi người dùng</a:t>
              </a:r>
            </a:p>
          </p:txBody>
        </p:sp>
        <p:sp>
          <p:nvSpPr>
            <p:cNvPr id="62" name="Cylinder 61">
              <a:extLst>
                <a:ext uri="{FF2B5EF4-FFF2-40B4-BE49-F238E27FC236}">
                  <a16:creationId xmlns:a16="http://schemas.microsoft.com/office/drawing/2014/main" id="{C8A51440-C671-1AD6-13D0-D3C9616FFD12}"/>
                </a:ext>
              </a:extLst>
            </p:cNvPr>
            <p:cNvSpPr/>
            <p:nvPr/>
          </p:nvSpPr>
          <p:spPr>
            <a:xfrm>
              <a:off x="4395215" y="2252472"/>
              <a:ext cx="1456944" cy="722376"/>
            </a:xfrm>
            <a:prstGeom prst="can">
              <a:avLst>
                <a:gd name="adj" fmla="val 13615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CSDL trò chuyện và tương tác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63" name="Rectangle: Rounded Corners 62">
              <a:extLst>
                <a:ext uri="{FF2B5EF4-FFF2-40B4-BE49-F238E27FC236}">
                  <a16:creationId xmlns:a16="http://schemas.microsoft.com/office/drawing/2014/main" id="{3899F772-0CBC-E699-B579-32F74EB3BB74}"/>
                </a:ext>
              </a:extLst>
            </p:cNvPr>
            <p:cNvSpPr/>
            <p:nvPr/>
          </p:nvSpPr>
          <p:spPr>
            <a:xfrm>
              <a:off x="4395214" y="4472940"/>
              <a:ext cx="2220657" cy="632460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Bộ phân tích cú pháp và</a:t>
              </a:r>
            </a:p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dữ liệu phản hồi</a:t>
              </a:r>
            </a:p>
          </p:txBody>
        </p:sp>
        <p:sp>
          <p:nvSpPr>
            <p:cNvPr id="64" name="Rectangle: Rounded Corners 63">
              <a:extLst>
                <a:ext uri="{FF2B5EF4-FFF2-40B4-BE49-F238E27FC236}">
                  <a16:creationId xmlns:a16="http://schemas.microsoft.com/office/drawing/2014/main" id="{8204FD2E-58F6-6EA4-7B0A-E03496EDED60}"/>
                </a:ext>
              </a:extLst>
            </p:cNvPr>
            <p:cNvSpPr/>
            <p:nvPr/>
          </p:nvSpPr>
          <p:spPr>
            <a:xfrm>
              <a:off x="146304" y="3380232"/>
              <a:ext cx="1591056" cy="273710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Các chức năng người dùng tùy ý</a:t>
              </a:r>
            </a:p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***</a:t>
              </a:r>
            </a:p>
            <a:p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- Đăng nhập/xuất</a:t>
              </a:r>
            </a:p>
            <a:p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- Thay đổi LLM, các chỉ số…</a:t>
              </a:r>
            </a:p>
            <a:p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- Xóa/tạo hội thoại</a:t>
              </a:r>
            </a:p>
            <a:p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- Cài đặt giao diện</a:t>
              </a:r>
            </a:p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…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65" name="Rectangle: Rounded Corners 64">
              <a:extLst>
                <a:ext uri="{FF2B5EF4-FFF2-40B4-BE49-F238E27FC236}">
                  <a16:creationId xmlns:a16="http://schemas.microsoft.com/office/drawing/2014/main" id="{6BD43CE7-DA56-A790-271E-5D66D054134E}"/>
                </a:ext>
              </a:extLst>
            </p:cNvPr>
            <p:cNvSpPr/>
            <p:nvPr/>
          </p:nvSpPr>
          <p:spPr>
            <a:xfrm>
              <a:off x="8397195" y="3412236"/>
              <a:ext cx="1511805" cy="632460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Thông tin ngữ cảnh trò chuyện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66" name="Rectangle: Rounded Corners 65">
              <a:extLst>
                <a:ext uri="{FF2B5EF4-FFF2-40B4-BE49-F238E27FC236}">
                  <a16:creationId xmlns:a16="http://schemas.microsoft.com/office/drawing/2014/main" id="{CB2024C0-8DF9-D283-83F9-B1C79C487FAC}"/>
                </a:ext>
              </a:extLst>
            </p:cNvPr>
            <p:cNvSpPr/>
            <p:nvPr/>
          </p:nvSpPr>
          <p:spPr>
            <a:xfrm>
              <a:off x="8450119" y="5448300"/>
              <a:ext cx="1919177" cy="632460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Xử lý sau phản hồi và</a:t>
              </a:r>
            </a:p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trích xuất thông tin</a:t>
              </a:r>
            </a:p>
          </p:txBody>
        </p:sp>
        <p:sp>
          <p:nvSpPr>
            <p:cNvPr id="67" name="Cube 66">
              <a:extLst>
                <a:ext uri="{FF2B5EF4-FFF2-40B4-BE49-F238E27FC236}">
                  <a16:creationId xmlns:a16="http://schemas.microsoft.com/office/drawing/2014/main" id="{C1F2C232-53FA-4E1A-2D61-CF95F7E39DAF}"/>
                </a:ext>
              </a:extLst>
            </p:cNvPr>
            <p:cNvSpPr/>
            <p:nvPr/>
          </p:nvSpPr>
          <p:spPr>
            <a:xfrm>
              <a:off x="6425763" y="5393436"/>
              <a:ext cx="1197834" cy="632460"/>
            </a:xfrm>
            <a:prstGeom prst="cube">
              <a:avLst>
                <a:gd name="adj" fmla="val 17720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LLM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E5244915-63A2-76F6-EE6C-AC60D11423EA}"/>
                </a:ext>
              </a:extLst>
            </p:cNvPr>
            <p:cNvCxnSpPr>
              <a:stCxn id="3" idx="3"/>
              <a:endCxn id="4" idx="1"/>
            </p:cNvCxnSpPr>
            <p:nvPr/>
          </p:nvCxnSpPr>
          <p:spPr>
            <a:xfrm>
              <a:off x="1737360" y="452628"/>
              <a:ext cx="49072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ECB564DD-A9C2-4D81-C32E-ABF1A1F82414}"/>
                </a:ext>
              </a:extLst>
            </p:cNvPr>
            <p:cNvCxnSpPr>
              <a:stCxn id="4" idx="3"/>
              <a:endCxn id="5" idx="1"/>
            </p:cNvCxnSpPr>
            <p:nvPr/>
          </p:nvCxnSpPr>
          <p:spPr>
            <a:xfrm>
              <a:off x="3904488" y="452628"/>
              <a:ext cx="49072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1DDC645D-7760-D5AD-0735-A1A545F54CB6}"/>
                </a:ext>
              </a:extLst>
            </p:cNvPr>
            <p:cNvCxnSpPr>
              <a:stCxn id="5" idx="3"/>
              <a:endCxn id="6" idx="2"/>
            </p:cNvCxnSpPr>
            <p:nvPr/>
          </p:nvCxnSpPr>
          <p:spPr>
            <a:xfrm>
              <a:off x="5852160" y="452628"/>
              <a:ext cx="495539" cy="228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0E47978-4563-1DAC-40A3-E275FFD7AB75}"/>
                </a:ext>
              </a:extLst>
            </p:cNvPr>
            <p:cNvCxnSpPr>
              <a:stCxn id="6" idx="4"/>
              <a:endCxn id="23" idx="1"/>
            </p:cNvCxnSpPr>
            <p:nvPr/>
          </p:nvCxnSpPr>
          <p:spPr>
            <a:xfrm>
              <a:off x="7804643" y="454914"/>
              <a:ext cx="583409" cy="2286"/>
            </a:xfrm>
            <a:prstGeom prst="straightConnector1">
              <a:avLst/>
            </a:prstGeom>
            <a:ln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73369A63-B9FA-176B-E93A-AE83A9654719}"/>
                </a:ext>
              </a:extLst>
            </p:cNvPr>
            <p:cNvCxnSpPr>
              <a:cxnSpLocks/>
              <a:stCxn id="9" idx="2"/>
              <a:endCxn id="23" idx="3"/>
            </p:cNvCxnSpPr>
            <p:nvPr/>
          </p:nvCxnSpPr>
          <p:spPr>
            <a:xfrm flipH="1">
              <a:off x="9911095" y="454659"/>
              <a:ext cx="642045" cy="2541"/>
            </a:xfrm>
            <a:prstGeom prst="straightConnector1">
              <a:avLst/>
            </a:prstGeom>
            <a:ln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EE8773F0-1B13-2B0F-3341-31339A3DABF0}"/>
                </a:ext>
              </a:extLst>
            </p:cNvPr>
            <p:cNvCxnSpPr>
              <a:cxnSpLocks/>
            </p:cNvCxnSpPr>
            <p:nvPr/>
          </p:nvCxnSpPr>
          <p:spPr>
            <a:xfrm>
              <a:off x="9387318" y="722376"/>
              <a:ext cx="5188" cy="607566"/>
            </a:xfrm>
            <a:prstGeom prst="straightConnector1">
              <a:avLst/>
            </a:prstGeom>
            <a:ln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7" name="Connector: Elbow 26">
              <a:extLst>
                <a:ext uri="{FF2B5EF4-FFF2-40B4-BE49-F238E27FC236}">
                  <a16:creationId xmlns:a16="http://schemas.microsoft.com/office/drawing/2014/main" id="{72047F34-37A9-DBEA-8593-094A562B174A}"/>
                </a:ext>
              </a:extLst>
            </p:cNvPr>
            <p:cNvCxnSpPr>
              <a:stCxn id="13" idx="5"/>
              <a:endCxn id="14" idx="2"/>
            </p:cNvCxnSpPr>
            <p:nvPr/>
          </p:nvCxnSpPr>
          <p:spPr>
            <a:xfrm>
              <a:off x="9962225" y="1440435"/>
              <a:ext cx="590915" cy="687069"/>
            </a:xfrm>
            <a:prstGeom prst="bentConnector3">
              <a:avLst>
                <a:gd name="adj1" fmla="val 46906"/>
              </a:avLst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7D113A5D-A04C-85D6-EEF1-7AF4A5A7B529}"/>
                </a:ext>
              </a:extLst>
            </p:cNvPr>
            <p:cNvCxnSpPr>
              <a:cxnSpLocks/>
              <a:stCxn id="17" idx="0"/>
              <a:endCxn id="54" idx="3"/>
            </p:cNvCxnSpPr>
            <p:nvPr/>
          </p:nvCxnSpPr>
          <p:spPr>
            <a:xfrm flipV="1">
              <a:off x="3014488" y="1766316"/>
              <a:ext cx="0" cy="146018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54C950E8-EE34-B49E-0895-F6A548ADDA64}"/>
                </a:ext>
              </a:extLst>
            </p:cNvPr>
            <p:cNvCxnSpPr>
              <a:cxnSpLocks/>
              <a:stCxn id="54" idx="4"/>
              <a:endCxn id="24" idx="1"/>
            </p:cNvCxnSpPr>
            <p:nvPr/>
          </p:nvCxnSpPr>
          <p:spPr>
            <a:xfrm flipV="1">
              <a:off x="3805699" y="1546860"/>
              <a:ext cx="589517" cy="126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F3C549D6-FF4C-1B45-A3ED-0E21615A9748}"/>
                </a:ext>
              </a:extLst>
            </p:cNvPr>
            <p:cNvCxnSpPr>
              <a:stCxn id="24" idx="3"/>
              <a:endCxn id="20" idx="1"/>
            </p:cNvCxnSpPr>
            <p:nvPr/>
          </p:nvCxnSpPr>
          <p:spPr>
            <a:xfrm>
              <a:off x="5852160" y="1546860"/>
              <a:ext cx="49554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61B7315D-9A18-0B39-00A8-C588E9030025}"/>
                </a:ext>
              </a:extLst>
            </p:cNvPr>
            <p:cNvCxnSpPr>
              <a:stCxn id="20" idx="3"/>
              <a:endCxn id="13" idx="2"/>
            </p:cNvCxnSpPr>
            <p:nvPr/>
          </p:nvCxnSpPr>
          <p:spPr>
            <a:xfrm flipV="1">
              <a:off x="7804643" y="1543557"/>
              <a:ext cx="645778" cy="3303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F2D58ECA-A51C-44FD-6730-EF8763337F5D}"/>
                </a:ext>
              </a:extLst>
            </p:cNvPr>
            <p:cNvCxnSpPr>
              <a:stCxn id="20" idx="2"/>
              <a:endCxn id="58" idx="0"/>
            </p:cNvCxnSpPr>
            <p:nvPr/>
          </p:nvCxnSpPr>
          <p:spPr>
            <a:xfrm>
              <a:off x="7076172" y="1812036"/>
              <a:ext cx="0" cy="53878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645D5B8B-7D4E-1036-130C-40C221BDBEBF}"/>
                </a:ext>
              </a:extLst>
            </p:cNvPr>
            <p:cNvCxnSpPr>
              <a:stCxn id="13" idx="3"/>
              <a:endCxn id="57" idx="0"/>
            </p:cNvCxnSpPr>
            <p:nvPr/>
          </p:nvCxnSpPr>
          <p:spPr>
            <a:xfrm>
              <a:off x="9154762" y="1757172"/>
              <a:ext cx="655" cy="49377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id="{3E0B055F-0174-51C2-9763-EADAF4604B8C}"/>
                </a:ext>
              </a:extLst>
            </p:cNvPr>
            <p:cNvCxnSpPr/>
            <p:nvPr/>
          </p:nvCxnSpPr>
          <p:spPr>
            <a:xfrm>
              <a:off x="9917908" y="2496408"/>
              <a:ext cx="63523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0" name="Straight Arrow Connector 79">
              <a:extLst>
                <a:ext uri="{FF2B5EF4-FFF2-40B4-BE49-F238E27FC236}">
                  <a16:creationId xmlns:a16="http://schemas.microsoft.com/office/drawing/2014/main" id="{7E561A5F-68EC-D7F0-3EDD-EA2C39CA007E}"/>
                </a:ext>
              </a:extLst>
            </p:cNvPr>
            <p:cNvCxnSpPr/>
            <p:nvPr/>
          </p:nvCxnSpPr>
          <p:spPr>
            <a:xfrm flipH="1">
              <a:off x="9917908" y="2679192"/>
              <a:ext cx="63523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Straight Arrow Connector 81">
              <a:extLst>
                <a:ext uri="{FF2B5EF4-FFF2-40B4-BE49-F238E27FC236}">
                  <a16:creationId xmlns:a16="http://schemas.microsoft.com/office/drawing/2014/main" id="{3C20B47F-2C45-9A57-01AE-77327090404B}"/>
                </a:ext>
              </a:extLst>
            </p:cNvPr>
            <p:cNvCxnSpPr/>
            <p:nvPr/>
          </p:nvCxnSpPr>
          <p:spPr>
            <a:xfrm>
              <a:off x="7804643" y="2688432"/>
              <a:ext cx="58340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Straight Arrow Connector 82">
              <a:extLst>
                <a:ext uri="{FF2B5EF4-FFF2-40B4-BE49-F238E27FC236}">
                  <a16:creationId xmlns:a16="http://schemas.microsoft.com/office/drawing/2014/main" id="{20A3D7F3-CCCD-DBE5-9A80-EB9BDF0943D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804643" y="2487264"/>
              <a:ext cx="58828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Arrow Connector 85">
              <a:extLst>
                <a:ext uri="{FF2B5EF4-FFF2-40B4-BE49-F238E27FC236}">
                  <a16:creationId xmlns:a16="http://schemas.microsoft.com/office/drawing/2014/main" id="{893CE6EB-5F08-2544-FBEF-9F402634C635}"/>
                </a:ext>
              </a:extLst>
            </p:cNvPr>
            <p:cNvCxnSpPr>
              <a:stCxn id="57" idx="2"/>
              <a:endCxn id="65" idx="0"/>
            </p:cNvCxnSpPr>
            <p:nvPr/>
          </p:nvCxnSpPr>
          <p:spPr>
            <a:xfrm flipH="1">
              <a:off x="9153098" y="2973324"/>
              <a:ext cx="2319" cy="43891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8" name="Straight Arrow Connector 87">
              <a:extLst>
                <a:ext uri="{FF2B5EF4-FFF2-40B4-BE49-F238E27FC236}">
                  <a16:creationId xmlns:a16="http://schemas.microsoft.com/office/drawing/2014/main" id="{22BF4B43-010E-23AE-6AD0-F5E5F96FEA61}"/>
                </a:ext>
              </a:extLst>
            </p:cNvPr>
            <p:cNvCxnSpPr>
              <a:stCxn id="65" idx="3"/>
              <a:endCxn id="59" idx="1"/>
            </p:cNvCxnSpPr>
            <p:nvPr/>
          </p:nvCxnSpPr>
          <p:spPr>
            <a:xfrm>
              <a:off x="9909000" y="3728466"/>
              <a:ext cx="64414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0" name="Straight Arrow Connector 89">
              <a:extLst>
                <a:ext uri="{FF2B5EF4-FFF2-40B4-BE49-F238E27FC236}">
                  <a16:creationId xmlns:a16="http://schemas.microsoft.com/office/drawing/2014/main" id="{5499AD5B-5E5D-6CD8-7D9B-11CB9F71C4DE}"/>
                </a:ext>
              </a:extLst>
            </p:cNvPr>
            <p:cNvCxnSpPr>
              <a:stCxn id="65" idx="2"/>
              <a:endCxn id="60" idx="1"/>
            </p:cNvCxnSpPr>
            <p:nvPr/>
          </p:nvCxnSpPr>
          <p:spPr>
            <a:xfrm>
              <a:off x="9153098" y="4044696"/>
              <a:ext cx="3477" cy="48545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2" name="Connector: Elbow 91">
              <a:extLst>
                <a:ext uri="{FF2B5EF4-FFF2-40B4-BE49-F238E27FC236}">
                  <a16:creationId xmlns:a16="http://schemas.microsoft.com/office/drawing/2014/main" id="{674953EC-953A-2AA2-509D-D07E52184CE1}"/>
                </a:ext>
              </a:extLst>
            </p:cNvPr>
            <p:cNvCxnSpPr>
              <a:stCxn id="59" idx="2"/>
              <a:endCxn id="60" idx="4"/>
            </p:cNvCxnSpPr>
            <p:nvPr/>
          </p:nvCxnSpPr>
          <p:spPr>
            <a:xfrm rot="5400000">
              <a:off x="10216023" y="3691703"/>
              <a:ext cx="745646" cy="1451632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4" name="Straight Arrow Connector 93">
              <a:extLst>
                <a:ext uri="{FF2B5EF4-FFF2-40B4-BE49-F238E27FC236}">
                  <a16:creationId xmlns:a16="http://schemas.microsoft.com/office/drawing/2014/main" id="{B818D712-06F0-C025-7D3D-D319D7101436}"/>
                </a:ext>
              </a:extLst>
            </p:cNvPr>
            <p:cNvCxnSpPr>
              <a:cxnSpLocks/>
              <a:stCxn id="60" idx="2"/>
              <a:endCxn id="63" idx="3"/>
            </p:cNvCxnSpPr>
            <p:nvPr/>
          </p:nvCxnSpPr>
          <p:spPr>
            <a:xfrm flipH="1" flipV="1">
              <a:off x="6615871" y="4789170"/>
              <a:ext cx="1834248" cy="117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8" name="Connector: Elbow 97">
              <a:extLst>
                <a:ext uri="{FF2B5EF4-FFF2-40B4-BE49-F238E27FC236}">
                  <a16:creationId xmlns:a16="http://schemas.microsoft.com/office/drawing/2014/main" id="{CF2047C0-B234-454C-A941-7704BDE22454}"/>
                </a:ext>
              </a:extLst>
            </p:cNvPr>
            <p:cNvCxnSpPr>
              <a:cxnSpLocks/>
              <a:stCxn id="63" idx="1"/>
              <a:endCxn id="17" idx="2"/>
            </p:cNvCxnSpPr>
            <p:nvPr/>
          </p:nvCxnSpPr>
          <p:spPr>
            <a:xfrm rot="10800000">
              <a:off x="3014488" y="4230432"/>
              <a:ext cx="1380726" cy="558739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0" name="Connector: Elbow 99">
              <a:extLst>
                <a:ext uri="{FF2B5EF4-FFF2-40B4-BE49-F238E27FC236}">
                  <a16:creationId xmlns:a16="http://schemas.microsoft.com/office/drawing/2014/main" id="{F0C8EDDE-1843-CBCA-C82D-2EE433AEB7B4}"/>
                </a:ext>
              </a:extLst>
            </p:cNvPr>
            <p:cNvCxnSpPr>
              <a:cxnSpLocks/>
              <a:stCxn id="63" idx="2"/>
              <a:endCxn id="67" idx="2"/>
            </p:cNvCxnSpPr>
            <p:nvPr/>
          </p:nvCxnSpPr>
          <p:spPr>
            <a:xfrm rot="16200000" flipH="1">
              <a:off x="5635502" y="4975441"/>
              <a:ext cx="660302" cy="920220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3" name="Straight Arrow Connector 102">
              <a:extLst>
                <a:ext uri="{FF2B5EF4-FFF2-40B4-BE49-F238E27FC236}">
                  <a16:creationId xmlns:a16="http://schemas.microsoft.com/office/drawing/2014/main" id="{6DF0944B-DF3B-FBF9-B2FA-2ACBDE23B968}"/>
                </a:ext>
              </a:extLst>
            </p:cNvPr>
            <p:cNvCxnSpPr>
              <a:cxnSpLocks/>
              <a:endCxn id="61" idx="1"/>
            </p:cNvCxnSpPr>
            <p:nvPr/>
          </p:nvCxnSpPr>
          <p:spPr>
            <a:xfrm>
              <a:off x="3516453" y="3728465"/>
              <a:ext cx="878761" cy="1"/>
            </a:xfrm>
            <a:prstGeom prst="straightConnector1">
              <a:avLst/>
            </a:prstGeom>
            <a:ln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5" name="Straight Arrow Connector 104">
              <a:extLst>
                <a:ext uri="{FF2B5EF4-FFF2-40B4-BE49-F238E27FC236}">
                  <a16:creationId xmlns:a16="http://schemas.microsoft.com/office/drawing/2014/main" id="{3DEFA6A6-54D3-A975-2E74-ACF839F82619}"/>
                </a:ext>
              </a:extLst>
            </p:cNvPr>
            <p:cNvCxnSpPr>
              <a:cxnSpLocks/>
              <a:endCxn id="62" idx="3"/>
            </p:cNvCxnSpPr>
            <p:nvPr/>
          </p:nvCxnSpPr>
          <p:spPr>
            <a:xfrm flipH="1" flipV="1">
              <a:off x="5123687" y="2974848"/>
              <a:ext cx="10134" cy="405384"/>
            </a:xfrm>
            <a:prstGeom prst="straightConnector1">
              <a:avLst/>
            </a:prstGeom>
            <a:ln>
              <a:solidFill>
                <a:schemeClr val="tx1"/>
              </a:solidFill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9" name="Straight Arrow Connector 108">
              <a:extLst>
                <a:ext uri="{FF2B5EF4-FFF2-40B4-BE49-F238E27FC236}">
                  <a16:creationId xmlns:a16="http://schemas.microsoft.com/office/drawing/2014/main" id="{452208B9-71BD-B2E0-3CE2-EE501E854A49}"/>
                </a:ext>
              </a:extLst>
            </p:cNvPr>
            <p:cNvCxnSpPr>
              <a:cxnSpLocks/>
              <a:stCxn id="67" idx="4"/>
              <a:endCxn id="66" idx="1"/>
            </p:cNvCxnSpPr>
            <p:nvPr/>
          </p:nvCxnSpPr>
          <p:spPr>
            <a:xfrm flipV="1">
              <a:off x="7511525" y="5764530"/>
              <a:ext cx="938594" cy="1172"/>
            </a:xfrm>
            <a:prstGeom prst="straightConnector1">
              <a:avLst/>
            </a:prstGeom>
            <a:ln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3" name="Connector: Elbow 112">
              <a:extLst>
                <a:ext uri="{FF2B5EF4-FFF2-40B4-BE49-F238E27FC236}">
                  <a16:creationId xmlns:a16="http://schemas.microsoft.com/office/drawing/2014/main" id="{E9FC4317-5ABC-E301-8B89-0205BE05C6C3}"/>
                </a:ext>
              </a:extLst>
            </p:cNvPr>
            <p:cNvCxnSpPr>
              <a:cxnSpLocks/>
              <a:stCxn id="66" idx="0"/>
              <a:endCxn id="58" idx="3"/>
            </p:cNvCxnSpPr>
            <p:nvPr/>
          </p:nvCxnSpPr>
          <p:spPr>
            <a:xfrm rot="16200000" flipV="1">
              <a:off x="7006214" y="3044806"/>
              <a:ext cx="2473452" cy="2333536"/>
            </a:xfrm>
            <a:prstGeom prst="bentConnector3">
              <a:avLst>
                <a:gd name="adj1" fmla="val 10444"/>
              </a:avLst>
            </a:prstGeom>
            <a:ln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51" name="Straight Connector 150">
              <a:extLst>
                <a:ext uri="{FF2B5EF4-FFF2-40B4-BE49-F238E27FC236}">
                  <a16:creationId xmlns:a16="http://schemas.microsoft.com/office/drawing/2014/main" id="{2888B481-7A39-096A-3CD3-DE70ED41D2BB}"/>
                </a:ext>
              </a:extLst>
            </p:cNvPr>
            <p:cNvCxnSpPr>
              <a:cxnSpLocks/>
              <a:stCxn id="64" idx="3"/>
            </p:cNvCxnSpPr>
            <p:nvPr/>
          </p:nvCxnSpPr>
          <p:spPr>
            <a:xfrm>
              <a:off x="1737360" y="4748784"/>
              <a:ext cx="393192" cy="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53" name="Straight Connector 152">
              <a:extLst>
                <a:ext uri="{FF2B5EF4-FFF2-40B4-BE49-F238E27FC236}">
                  <a16:creationId xmlns:a16="http://schemas.microsoft.com/office/drawing/2014/main" id="{997A810C-FDE1-B67A-673F-F3A557A0CB4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22932" y="3728465"/>
              <a:ext cx="0" cy="1020319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55" name="Straight Connector 154">
              <a:extLst>
                <a:ext uri="{FF2B5EF4-FFF2-40B4-BE49-F238E27FC236}">
                  <a16:creationId xmlns:a16="http://schemas.microsoft.com/office/drawing/2014/main" id="{48767D13-55AF-5E73-A0F8-293F3EB6BE56}"/>
                </a:ext>
              </a:extLst>
            </p:cNvPr>
            <p:cNvCxnSpPr>
              <a:cxnSpLocks/>
            </p:cNvCxnSpPr>
            <p:nvPr/>
          </p:nvCxnSpPr>
          <p:spPr>
            <a:xfrm>
              <a:off x="2121408" y="3728465"/>
              <a:ext cx="466344" cy="0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66" name="Connector: Elbow 165">
              <a:extLst>
                <a:ext uri="{FF2B5EF4-FFF2-40B4-BE49-F238E27FC236}">
                  <a16:creationId xmlns:a16="http://schemas.microsoft.com/office/drawing/2014/main" id="{81C65EEC-4071-5E36-0065-18102D4C3BE8}"/>
                </a:ext>
              </a:extLst>
            </p:cNvPr>
            <p:cNvCxnSpPr>
              <a:cxnSpLocks/>
              <a:endCxn id="56" idx="3"/>
            </p:cNvCxnSpPr>
            <p:nvPr/>
          </p:nvCxnSpPr>
          <p:spPr>
            <a:xfrm rot="10800000">
              <a:off x="1737361" y="2612136"/>
              <a:ext cx="1152317" cy="611124"/>
            </a:xfrm>
            <a:prstGeom prst="bentConnector3">
              <a:avLst>
                <a:gd name="adj1" fmla="val 735"/>
              </a:avLst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73" name="Straight Arrow Connector 172">
              <a:extLst>
                <a:ext uri="{FF2B5EF4-FFF2-40B4-BE49-F238E27FC236}">
                  <a16:creationId xmlns:a16="http://schemas.microsoft.com/office/drawing/2014/main" id="{43D634BE-31AE-A930-E307-79675B0A6951}"/>
                </a:ext>
              </a:extLst>
            </p:cNvPr>
            <p:cNvCxnSpPr>
              <a:cxnSpLocks/>
              <a:stCxn id="56" idx="0"/>
              <a:endCxn id="55" idx="2"/>
            </p:cNvCxnSpPr>
            <p:nvPr/>
          </p:nvCxnSpPr>
          <p:spPr>
            <a:xfrm flipV="1">
              <a:off x="941832" y="1836420"/>
              <a:ext cx="3462" cy="41452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75" name="Straight Arrow Connector 174">
              <a:extLst>
                <a:ext uri="{FF2B5EF4-FFF2-40B4-BE49-F238E27FC236}">
                  <a16:creationId xmlns:a16="http://schemas.microsoft.com/office/drawing/2014/main" id="{E8C2BC04-FB25-AFA6-0C83-90D85821B5FD}"/>
                </a:ext>
              </a:extLst>
            </p:cNvPr>
            <p:cNvCxnSpPr>
              <a:cxnSpLocks/>
              <a:stCxn id="55" idx="3"/>
              <a:endCxn id="54" idx="2"/>
            </p:cNvCxnSpPr>
            <p:nvPr/>
          </p:nvCxnSpPr>
          <p:spPr>
            <a:xfrm flipV="1">
              <a:off x="1744284" y="1548129"/>
              <a:ext cx="478993" cy="177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77" name="Connector: Elbow 176">
              <a:extLst>
                <a:ext uri="{FF2B5EF4-FFF2-40B4-BE49-F238E27FC236}">
                  <a16:creationId xmlns:a16="http://schemas.microsoft.com/office/drawing/2014/main" id="{937361AC-5BC3-026B-3653-708B57FC5409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159761" y="2487262"/>
              <a:ext cx="1249775" cy="734730"/>
            </a:xfrm>
            <a:prstGeom prst="bentConnector3">
              <a:avLst>
                <a:gd name="adj1" fmla="val 99793"/>
              </a:avLst>
            </a:prstGeom>
            <a:ln>
              <a:prstDash val="dash"/>
              <a:headEnd type="triangle" w="med" len="med"/>
              <a:tailEnd type="triangl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98" name="Connector: Elbow 197">
              <a:extLst>
                <a:ext uri="{FF2B5EF4-FFF2-40B4-BE49-F238E27FC236}">
                  <a16:creationId xmlns:a16="http://schemas.microsoft.com/office/drawing/2014/main" id="{BA8F1A4B-01A4-11E8-378F-60F0E6E6EBF6}"/>
                </a:ext>
              </a:extLst>
            </p:cNvPr>
            <p:cNvCxnSpPr>
              <a:cxnSpLocks/>
              <a:endCxn id="62" idx="2"/>
            </p:cNvCxnSpPr>
            <p:nvPr/>
          </p:nvCxnSpPr>
          <p:spPr>
            <a:xfrm rot="5400000" flipH="1" flipV="1">
              <a:off x="3196786" y="3468879"/>
              <a:ext cx="2053648" cy="343210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10" name="Straight Arrow Connector 209">
              <a:extLst>
                <a:ext uri="{FF2B5EF4-FFF2-40B4-BE49-F238E27FC236}">
                  <a16:creationId xmlns:a16="http://schemas.microsoft.com/office/drawing/2014/main" id="{529515B2-14A0-5DB1-33A5-B80483A9852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052005" y="4667308"/>
              <a:ext cx="343209" cy="0"/>
            </a:xfrm>
            <a:prstGeom prst="straightConnector1">
              <a:avLst/>
            </a:prstGeom>
            <a:ln>
              <a:prstDash val="dash"/>
              <a:headEnd type="none" w="med" len="med"/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24" name="Rectangle: Rounded Corners 223">
              <a:extLst>
                <a:ext uri="{FF2B5EF4-FFF2-40B4-BE49-F238E27FC236}">
                  <a16:creationId xmlns:a16="http://schemas.microsoft.com/office/drawing/2014/main" id="{D03AB27B-21F2-EE19-54E3-030F281BCE77}"/>
                </a:ext>
              </a:extLst>
            </p:cNvPr>
            <p:cNvSpPr/>
            <p:nvPr/>
          </p:nvSpPr>
          <p:spPr>
            <a:xfrm>
              <a:off x="2334800" y="5412736"/>
              <a:ext cx="1591056" cy="722376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Chuyển văn bản thành âm thanh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cxnSp>
          <p:nvCxnSpPr>
            <p:cNvPr id="228" name="Connector: Elbow 227">
              <a:extLst>
                <a:ext uri="{FF2B5EF4-FFF2-40B4-BE49-F238E27FC236}">
                  <a16:creationId xmlns:a16="http://schemas.microsoft.com/office/drawing/2014/main" id="{7D7E927B-54AD-7885-BFAA-9003CE363D33}"/>
                </a:ext>
              </a:extLst>
            </p:cNvPr>
            <p:cNvCxnSpPr>
              <a:cxnSpLocks/>
              <a:endCxn id="224" idx="3"/>
            </p:cNvCxnSpPr>
            <p:nvPr/>
          </p:nvCxnSpPr>
          <p:spPr>
            <a:xfrm rot="10800000" flipV="1">
              <a:off x="3925856" y="5113014"/>
              <a:ext cx="1197832" cy="660909"/>
            </a:xfrm>
            <a:prstGeom prst="bentConnector3">
              <a:avLst>
                <a:gd name="adj1" fmla="val -256"/>
              </a:avLst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30" name="Straight Arrow Connector 229">
              <a:extLst>
                <a:ext uri="{FF2B5EF4-FFF2-40B4-BE49-F238E27FC236}">
                  <a16:creationId xmlns:a16="http://schemas.microsoft.com/office/drawing/2014/main" id="{A46722BE-4CA8-7DD3-2630-4333F32F733F}"/>
                </a:ext>
              </a:extLst>
            </p:cNvPr>
            <p:cNvCxnSpPr/>
            <p:nvPr/>
          </p:nvCxnSpPr>
          <p:spPr>
            <a:xfrm flipV="1">
              <a:off x="2874264" y="4230431"/>
              <a:ext cx="0" cy="117468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54" name="Connector: Elbow 253">
              <a:extLst>
                <a:ext uri="{FF2B5EF4-FFF2-40B4-BE49-F238E27FC236}">
                  <a16:creationId xmlns:a16="http://schemas.microsoft.com/office/drawing/2014/main" id="{852310E1-ECBE-0632-B85C-693B6D5BBD09}"/>
                </a:ext>
              </a:extLst>
            </p:cNvPr>
            <p:cNvCxnSpPr>
              <a:cxnSpLocks/>
              <a:stCxn id="6" idx="3"/>
              <a:endCxn id="13" idx="1"/>
            </p:cNvCxnSpPr>
            <p:nvPr/>
          </p:nvCxnSpPr>
          <p:spPr>
            <a:xfrm rot="16200000" flipH="1">
              <a:off x="7839115" y="14295"/>
              <a:ext cx="552702" cy="2078591"/>
            </a:xfrm>
            <a:prstGeom prst="bentConnector3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56" name="TextBox 255">
              <a:extLst>
                <a:ext uri="{FF2B5EF4-FFF2-40B4-BE49-F238E27FC236}">
                  <a16:creationId xmlns:a16="http://schemas.microsoft.com/office/drawing/2014/main" id="{22B93CA2-65CF-9AD2-0E86-AC44B7FD0C5C}"/>
                </a:ext>
              </a:extLst>
            </p:cNvPr>
            <p:cNvSpPr txBox="1"/>
            <p:nvPr/>
          </p:nvSpPr>
          <p:spPr>
            <a:xfrm>
              <a:off x="1772212" y="134112"/>
              <a:ext cx="409086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57" name="TextBox 256">
              <a:extLst>
                <a:ext uri="{FF2B5EF4-FFF2-40B4-BE49-F238E27FC236}">
                  <a16:creationId xmlns:a16="http://schemas.microsoft.com/office/drawing/2014/main" id="{61D55E67-B00D-8BED-A339-F3413189BEAC}"/>
                </a:ext>
              </a:extLst>
            </p:cNvPr>
            <p:cNvSpPr txBox="1"/>
            <p:nvPr/>
          </p:nvSpPr>
          <p:spPr>
            <a:xfrm>
              <a:off x="3929174" y="134112"/>
              <a:ext cx="409086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(2)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58" name="TextBox 257">
              <a:extLst>
                <a:ext uri="{FF2B5EF4-FFF2-40B4-BE49-F238E27FC236}">
                  <a16:creationId xmlns:a16="http://schemas.microsoft.com/office/drawing/2014/main" id="{32C67A7E-6D70-06C9-0053-8516DF9413F7}"/>
                </a:ext>
              </a:extLst>
            </p:cNvPr>
            <p:cNvSpPr txBox="1"/>
            <p:nvPr/>
          </p:nvSpPr>
          <p:spPr>
            <a:xfrm>
              <a:off x="5872513" y="134112"/>
              <a:ext cx="409086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(3)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59" name="TextBox 258">
              <a:extLst>
                <a:ext uri="{FF2B5EF4-FFF2-40B4-BE49-F238E27FC236}">
                  <a16:creationId xmlns:a16="http://schemas.microsoft.com/office/drawing/2014/main" id="{506C6AEB-3584-B844-10D1-018A0F7DFCF8}"/>
                </a:ext>
              </a:extLst>
            </p:cNvPr>
            <p:cNvSpPr txBox="1"/>
            <p:nvPr/>
          </p:nvSpPr>
          <p:spPr>
            <a:xfrm>
              <a:off x="7855913" y="134112"/>
              <a:ext cx="55335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(4.1)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60" name="TextBox 259">
              <a:extLst>
                <a:ext uri="{FF2B5EF4-FFF2-40B4-BE49-F238E27FC236}">
                  <a16:creationId xmlns:a16="http://schemas.microsoft.com/office/drawing/2014/main" id="{B0E2ADE8-3471-6F13-21D8-7180FB0E588B}"/>
                </a:ext>
              </a:extLst>
            </p:cNvPr>
            <p:cNvSpPr txBox="1"/>
            <p:nvPr/>
          </p:nvSpPr>
          <p:spPr>
            <a:xfrm>
              <a:off x="10024057" y="134112"/>
              <a:ext cx="55335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(4.2)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61" name="TextBox 260">
              <a:extLst>
                <a:ext uri="{FF2B5EF4-FFF2-40B4-BE49-F238E27FC236}">
                  <a16:creationId xmlns:a16="http://schemas.microsoft.com/office/drawing/2014/main" id="{107413D4-2765-49C5-21A5-A5F246165B11}"/>
                </a:ext>
              </a:extLst>
            </p:cNvPr>
            <p:cNvSpPr txBox="1"/>
            <p:nvPr/>
          </p:nvSpPr>
          <p:spPr>
            <a:xfrm>
              <a:off x="9387318" y="828386"/>
              <a:ext cx="55335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(4.3)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62" name="TextBox 261">
              <a:extLst>
                <a:ext uri="{FF2B5EF4-FFF2-40B4-BE49-F238E27FC236}">
                  <a16:creationId xmlns:a16="http://schemas.microsoft.com/office/drawing/2014/main" id="{CA0B72E3-23AF-3415-3BEA-BEA97E9B800A}"/>
                </a:ext>
              </a:extLst>
            </p:cNvPr>
            <p:cNvSpPr txBox="1"/>
            <p:nvPr/>
          </p:nvSpPr>
          <p:spPr>
            <a:xfrm>
              <a:off x="7884959" y="749514"/>
              <a:ext cx="409086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(5)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66" name="TextBox 265">
              <a:extLst>
                <a:ext uri="{FF2B5EF4-FFF2-40B4-BE49-F238E27FC236}">
                  <a16:creationId xmlns:a16="http://schemas.microsoft.com/office/drawing/2014/main" id="{FBD1815C-B498-6ECC-F936-4F6E255851B8}"/>
                </a:ext>
              </a:extLst>
            </p:cNvPr>
            <p:cNvSpPr txBox="1"/>
            <p:nvPr/>
          </p:nvSpPr>
          <p:spPr>
            <a:xfrm>
              <a:off x="9137586" y="1809711"/>
              <a:ext cx="498150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(11)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67" name="TextBox 266">
              <a:extLst>
                <a:ext uri="{FF2B5EF4-FFF2-40B4-BE49-F238E27FC236}">
                  <a16:creationId xmlns:a16="http://schemas.microsoft.com/office/drawing/2014/main" id="{551C35FC-20B1-30B2-8408-717CAD357B0D}"/>
                </a:ext>
              </a:extLst>
            </p:cNvPr>
            <p:cNvSpPr txBox="1"/>
            <p:nvPr/>
          </p:nvSpPr>
          <p:spPr>
            <a:xfrm>
              <a:off x="9876321" y="1681735"/>
              <a:ext cx="409086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(6)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68" name="TextBox 267">
              <a:extLst>
                <a:ext uri="{FF2B5EF4-FFF2-40B4-BE49-F238E27FC236}">
                  <a16:creationId xmlns:a16="http://schemas.microsoft.com/office/drawing/2014/main" id="{6E05D608-E9BE-51D7-9560-703B4F871F31}"/>
                </a:ext>
              </a:extLst>
            </p:cNvPr>
            <p:cNvSpPr txBox="1"/>
            <p:nvPr/>
          </p:nvSpPr>
          <p:spPr>
            <a:xfrm>
              <a:off x="9903603" y="3392552"/>
              <a:ext cx="64953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(14.1)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69" name="TextBox 268">
              <a:extLst>
                <a:ext uri="{FF2B5EF4-FFF2-40B4-BE49-F238E27FC236}">
                  <a16:creationId xmlns:a16="http://schemas.microsoft.com/office/drawing/2014/main" id="{DE2E276B-2324-A476-F504-B8EBB4EC0CF4}"/>
                </a:ext>
              </a:extLst>
            </p:cNvPr>
            <p:cNvSpPr txBox="1"/>
            <p:nvPr/>
          </p:nvSpPr>
          <p:spPr>
            <a:xfrm>
              <a:off x="9151650" y="3015957"/>
              <a:ext cx="50526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(13)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70" name="TextBox 269">
              <a:extLst>
                <a:ext uri="{FF2B5EF4-FFF2-40B4-BE49-F238E27FC236}">
                  <a16:creationId xmlns:a16="http://schemas.microsoft.com/office/drawing/2014/main" id="{80D3B9EA-0FD0-EC27-68F6-A4AF329F7A29}"/>
                </a:ext>
              </a:extLst>
            </p:cNvPr>
            <p:cNvSpPr txBox="1"/>
            <p:nvPr/>
          </p:nvSpPr>
          <p:spPr>
            <a:xfrm>
              <a:off x="7784321" y="2173243"/>
              <a:ext cx="64953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(12.2)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71" name="TextBox 270">
              <a:extLst>
                <a:ext uri="{FF2B5EF4-FFF2-40B4-BE49-F238E27FC236}">
                  <a16:creationId xmlns:a16="http://schemas.microsoft.com/office/drawing/2014/main" id="{9D4C1670-B0D5-BA83-2A81-F339360E9FF3}"/>
                </a:ext>
              </a:extLst>
            </p:cNvPr>
            <p:cNvSpPr txBox="1"/>
            <p:nvPr/>
          </p:nvSpPr>
          <p:spPr>
            <a:xfrm>
              <a:off x="9939309" y="2173243"/>
              <a:ext cx="64953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(12.1)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72" name="TextBox 271">
              <a:extLst>
                <a:ext uri="{FF2B5EF4-FFF2-40B4-BE49-F238E27FC236}">
                  <a16:creationId xmlns:a16="http://schemas.microsoft.com/office/drawing/2014/main" id="{804844C1-05A6-2D92-B31B-484250A49FB1}"/>
                </a:ext>
              </a:extLst>
            </p:cNvPr>
            <p:cNvSpPr txBox="1"/>
            <p:nvPr/>
          </p:nvSpPr>
          <p:spPr>
            <a:xfrm>
              <a:off x="11288437" y="4255936"/>
              <a:ext cx="64953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(14.2)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75" name="TextBox 274">
              <a:extLst>
                <a:ext uri="{FF2B5EF4-FFF2-40B4-BE49-F238E27FC236}">
                  <a16:creationId xmlns:a16="http://schemas.microsoft.com/office/drawing/2014/main" id="{A5B0BE72-EE02-F790-A759-2788949AA62F}"/>
                </a:ext>
              </a:extLst>
            </p:cNvPr>
            <p:cNvSpPr txBox="1"/>
            <p:nvPr/>
          </p:nvSpPr>
          <p:spPr>
            <a:xfrm>
              <a:off x="9448114" y="5120304"/>
              <a:ext cx="77777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(16C.2)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76" name="TextBox 275">
              <a:extLst>
                <a:ext uri="{FF2B5EF4-FFF2-40B4-BE49-F238E27FC236}">
                  <a16:creationId xmlns:a16="http://schemas.microsoft.com/office/drawing/2014/main" id="{0D9A538E-2FBC-F2F3-7A97-4CBF0890F0AD}"/>
                </a:ext>
              </a:extLst>
            </p:cNvPr>
            <p:cNvSpPr txBox="1"/>
            <p:nvPr/>
          </p:nvSpPr>
          <p:spPr>
            <a:xfrm>
              <a:off x="9113193" y="4091587"/>
              <a:ext cx="64953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(14.3)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80" name="TextBox 279">
              <a:extLst>
                <a:ext uri="{FF2B5EF4-FFF2-40B4-BE49-F238E27FC236}">
                  <a16:creationId xmlns:a16="http://schemas.microsoft.com/office/drawing/2014/main" id="{A582CEAB-1E4B-E29D-E603-FEDB1440148A}"/>
                </a:ext>
              </a:extLst>
            </p:cNvPr>
            <p:cNvSpPr txBox="1"/>
            <p:nvPr/>
          </p:nvSpPr>
          <p:spPr>
            <a:xfrm>
              <a:off x="7541659" y="4463124"/>
              <a:ext cx="50526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(15)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81" name="TextBox 280">
              <a:extLst>
                <a:ext uri="{FF2B5EF4-FFF2-40B4-BE49-F238E27FC236}">
                  <a16:creationId xmlns:a16="http://schemas.microsoft.com/office/drawing/2014/main" id="{AFD39DFA-22B4-EA44-2E74-BBD21813E0B0}"/>
                </a:ext>
              </a:extLst>
            </p:cNvPr>
            <p:cNvSpPr txBox="1"/>
            <p:nvPr/>
          </p:nvSpPr>
          <p:spPr>
            <a:xfrm>
              <a:off x="7662944" y="5467984"/>
              <a:ext cx="77777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(16C.1)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82" name="TextBox 281">
              <a:extLst>
                <a:ext uri="{FF2B5EF4-FFF2-40B4-BE49-F238E27FC236}">
                  <a16:creationId xmlns:a16="http://schemas.microsoft.com/office/drawing/2014/main" id="{B26CB8C6-C514-F1CC-14F8-64C42E4A17CB}"/>
                </a:ext>
              </a:extLst>
            </p:cNvPr>
            <p:cNvSpPr txBox="1"/>
            <p:nvPr/>
          </p:nvSpPr>
          <p:spPr>
            <a:xfrm>
              <a:off x="5495381" y="5280955"/>
              <a:ext cx="63350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(16C)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83" name="TextBox 282">
              <a:extLst>
                <a:ext uri="{FF2B5EF4-FFF2-40B4-BE49-F238E27FC236}">
                  <a16:creationId xmlns:a16="http://schemas.microsoft.com/office/drawing/2014/main" id="{1BE24C1E-94FB-6DB9-1C44-235293F6B6B8}"/>
                </a:ext>
              </a:extLst>
            </p:cNvPr>
            <p:cNvSpPr txBox="1"/>
            <p:nvPr/>
          </p:nvSpPr>
          <p:spPr>
            <a:xfrm>
              <a:off x="4523296" y="5273968"/>
              <a:ext cx="63350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(16B)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84" name="TextBox 283">
              <a:extLst>
                <a:ext uri="{FF2B5EF4-FFF2-40B4-BE49-F238E27FC236}">
                  <a16:creationId xmlns:a16="http://schemas.microsoft.com/office/drawing/2014/main" id="{1778CC2D-D547-4D70-FA88-31201997BD24}"/>
                </a:ext>
              </a:extLst>
            </p:cNvPr>
            <p:cNvSpPr txBox="1"/>
            <p:nvPr/>
          </p:nvSpPr>
          <p:spPr>
            <a:xfrm>
              <a:off x="2822873" y="4974908"/>
              <a:ext cx="77777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(16B.1)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85" name="TextBox 284">
              <a:extLst>
                <a:ext uri="{FF2B5EF4-FFF2-40B4-BE49-F238E27FC236}">
                  <a16:creationId xmlns:a16="http://schemas.microsoft.com/office/drawing/2014/main" id="{1CCD28F8-826B-FC07-FB91-28947CEFF281}"/>
                </a:ext>
              </a:extLst>
            </p:cNvPr>
            <p:cNvSpPr txBox="1"/>
            <p:nvPr/>
          </p:nvSpPr>
          <p:spPr>
            <a:xfrm>
              <a:off x="3778002" y="4813325"/>
              <a:ext cx="644728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(16A)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86" name="TextBox 285">
              <a:extLst>
                <a:ext uri="{FF2B5EF4-FFF2-40B4-BE49-F238E27FC236}">
                  <a16:creationId xmlns:a16="http://schemas.microsoft.com/office/drawing/2014/main" id="{99869131-941E-87CF-3E96-63408E7E167F}"/>
                </a:ext>
              </a:extLst>
            </p:cNvPr>
            <p:cNvSpPr txBox="1"/>
            <p:nvPr/>
          </p:nvSpPr>
          <p:spPr>
            <a:xfrm>
              <a:off x="3453648" y="4190239"/>
              <a:ext cx="644728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(16D)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87" name="TextBox 286">
              <a:extLst>
                <a:ext uri="{FF2B5EF4-FFF2-40B4-BE49-F238E27FC236}">
                  <a16:creationId xmlns:a16="http://schemas.microsoft.com/office/drawing/2014/main" id="{ACEC940B-E761-D45B-3C71-5D34A962B899}"/>
                </a:ext>
              </a:extLst>
            </p:cNvPr>
            <p:cNvSpPr txBox="1"/>
            <p:nvPr/>
          </p:nvSpPr>
          <p:spPr>
            <a:xfrm>
              <a:off x="2047329" y="3405299"/>
              <a:ext cx="50526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(18)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88" name="TextBox 287">
              <a:extLst>
                <a:ext uri="{FF2B5EF4-FFF2-40B4-BE49-F238E27FC236}">
                  <a16:creationId xmlns:a16="http://schemas.microsoft.com/office/drawing/2014/main" id="{06088D57-887B-70CF-0080-9E0171F38698}"/>
                </a:ext>
              </a:extLst>
            </p:cNvPr>
            <p:cNvSpPr txBox="1"/>
            <p:nvPr/>
          </p:nvSpPr>
          <p:spPr>
            <a:xfrm>
              <a:off x="2404446" y="2811741"/>
              <a:ext cx="53732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(7B)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89" name="TextBox 288">
              <a:extLst>
                <a:ext uri="{FF2B5EF4-FFF2-40B4-BE49-F238E27FC236}">
                  <a16:creationId xmlns:a16="http://schemas.microsoft.com/office/drawing/2014/main" id="{BE135A3D-4206-F7E3-D6D6-EA7F5BE88389}"/>
                </a:ext>
              </a:extLst>
            </p:cNvPr>
            <p:cNvSpPr txBox="1"/>
            <p:nvPr/>
          </p:nvSpPr>
          <p:spPr>
            <a:xfrm>
              <a:off x="2498213" y="1945116"/>
              <a:ext cx="548548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(7A)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90" name="TextBox 289">
              <a:extLst>
                <a:ext uri="{FF2B5EF4-FFF2-40B4-BE49-F238E27FC236}">
                  <a16:creationId xmlns:a16="http://schemas.microsoft.com/office/drawing/2014/main" id="{A5F7C83A-C0D9-C3BA-39D2-230A1B0A7E84}"/>
                </a:ext>
              </a:extLst>
            </p:cNvPr>
            <p:cNvSpPr txBox="1"/>
            <p:nvPr/>
          </p:nvSpPr>
          <p:spPr>
            <a:xfrm>
              <a:off x="3183240" y="2482755"/>
              <a:ext cx="64953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(17.3)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91" name="TextBox 290">
              <a:extLst>
                <a:ext uri="{FF2B5EF4-FFF2-40B4-BE49-F238E27FC236}">
                  <a16:creationId xmlns:a16="http://schemas.microsoft.com/office/drawing/2014/main" id="{17D0318E-D31A-40CC-A06C-CF44698FAB89}"/>
                </a:ext>
              </a:extLst>
            </p:cNvPr>
            <p:cNvSpPr txBox="1"/>
            <p:nvPr/>
          </p:nvSpPr>
          <p:spPr>
            <a:xfrm>
              <a:off x="3216024" y="3372192"/>
              <a:ext cx="64953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(17.1)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92" name="TextBox 291">
              <a:extLst>
                <a:ext uri="{FF2B5EF4-FFF2-40B4-BE49-F238E27FC236}">
                  <a16:creationId xmlns:a16="http://schemas.microsoft.com/office/drawing/2014/main" id="{19FC8885-F706-6FC7-9244-4DFDBD2CC8B7}"/>
                </a:ext>
              </a:extLst>
            </p:cNvPr>
            <p:cNvSpPr txBox="1"/>
            <p:nvPr/>
          </p:nvSpPr>
          <p:spPr>
            <a:xfrm>
              <a:off x="975341" y="1878291"/>
              <a:ext cx="68159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(7B.1)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93" name="TextBox 292">
              <a:extLst>
                <a:ext uri="{FF2B5EF4-FFF2-40B4-BE49-F238E27FC236}">
                  <a16:creationId xmlns:a16="http://schemas.microsoft.com/office/drawing/2014/main" id="{108AA94C-3148-7A1C-B256-555FEAD43013}"/>
                </a:ext>
              </a:extLst>
            </p:cNvPr>
            <p:cNvSpPr txBox="1"/>
            <p:nvPr/>
          </p:nvSpPr>
          <p:spPr>
            <a:xfrm>
              <a:off x="1635956" y="1017700"/>
              <a:ext cx="68159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(7B.2)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94" name="TextBox 293">
              <a:extLst>
                <a:ext uri="{FF2B5EF4-FFF2-40B4-BE49-F238E27FC236}">
                  <a16:creationId xmlns:a16="http://schemas.microsoft.com/office/drawing/2014/main" id="{261694D5-AB9A-2B9D-606E-BB028723A396}"/>
                </a:ext>
              </a:extLst>
            </p:cNvPr>
            <p:cNvSpPr txBox="1"/>
            <p:nvPr/>
          </p:nvSpPr>
          <p:spPr>
            <a:xfrm>
              <a:off x="3952519" y="1226916"/>
              <a:ext cx="409086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(8)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95" name="TextBox 294">
              <a:extLst>
                <a:ext uri="{FF2B5EF4-FFF2-40B4-BE49-F238E27FC236}">
                  <a16:creationId xmlns:a16="http://schemas.microsoft.com/office/drawing/2014/main" id="{5E87B460-B410-8220-576E-E23E384857B0}"/>
                </a:ext>
              </a:extLst>
            </p:cNvPr>
            <p:cNvSpPr txBox="1"/>
            <p:nvPr/>
          </p:nvSpPr>
          <p:spPr>
            <a:xfrm>
              <a:off x="5910601" y="1226916"/>
              <a:ext cx="409086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(9)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96" name="TextBox 295">
              <a:extLst>
                <a:ext uri="{FF2B5EF4-FFF2-40B4-BE49-F238E27FC236}">
                  <a16:creationId xmlns:a16="http://schemas.microsoft.com/office/drawing/2014/main" id="{8C3CAB20-4800-D1ED-0A69-77E11E886F2B}"/>
                </a:ext>
              </a:extLst>
            </p:cNvPr>
            <p:cNvSpPr txBox="1"/>
            <p:nvPr/>
          </p:nvSpPr>
          <p:spPr>
            <a:xfrm>
              <a:off x="7802764" y="1226916"/>
              <a:ext cx="64953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(10.2)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97" name="TextBox 296">
              <a:extLst>
                <a:ext uri="{FF2B5EF4-FFF2-40B4-BE49-F238E27FC236}">
                  <a16:creationId xmlns:a16="http://schemas.microsoft.com/office/drawing/2014/main" id="{88A04E50-BAC5-0C94-6CDE-0D9CA0329A0A}"/>
                </a:ext>
              </a:extLst>
            </p:cNvPr>
            <p:cNvSpPr txBox="1"/>
            <p:nvPr/>
          </p:nvSpPr>
          <p:spPr>
            <a:xfrm>
              <a:off x="6492996" y="1849413"/>
              <a:ext cx="64953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(10.1)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98" name="TextBox 297">
              <a:extLst>
                <a:ext uri="{FF2B5EF4-FFF2-40B4-BE49-F238E27FC236}">
                  <a16:creationId xmlns:a16="http://schemas.microsoft.com/office/drawing/2014/main" id="{23DD19B5-7E29-83A0-1912-E3B127FD3F04}"/>
                </a:ext>
              </a:extLst>
            </p:cNvPr>
            <p:cNvSpPr txBox="1"/>
            <p:nvPr/>
          </p:nvSpPr>
          <p:spPr>
            <a:xfrm>
              <a:off x="4507260" y="3003508"/>
              <a:ext cx="64953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(17.2)</a:t>
              </a:r>
              <a:endParaRPr lang="en-US" sz="1500" dirty="0">
                <a:latin typeface="+mj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9275880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60F107D5-9D5B-E0D0-84F1-0A47AE1D883E}"/>
              </a:ext>
            </a:extLst>
          </p:cNvPr>
          <p:cNvGrpSpPr/>
          <p:nvPr/>
        </p:nvGrpSpPr>
        <p:grpSpPr>
          <a:xfrm>
            <a:off x="1073728" y="1811764"/>
            <a:ext cx="9795163" cy="2677109"/>
            <a:chOff x="1073728" y="1811764"/>
            <a:chExt cx="9795163" cy="2677109"/>
          </a:xfrm>
        </p:grpSpPr>
        <p:pic>
          <p:nvPicPr>
            <p:cNvPr id="2" name="Picture 1" descr="SA stack of books with a bookmark">
              <a:extLst>
                <a:ext uri="{FF2B5EF4-FFF2-40B4-BE49-F238E27FC236}">
                  <a16:creationId xmlns:a16="http://schemas.microsoft.com/office/drawing/2014/main" id="{60423C7D-AA4C-6403-A626-1419BFB8D7D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73728" y="1963893"/>
              <a:ext cx="1877289" cy="1787215"/>
            </a:xfrm>
            <a:prstGeom prst="rect">
              <a:avLst/>
            </a:prstGeom>
          </p:spPr>
        </p:pic>
        <p:sp>
          <p:nvSpPr>
            <p:cNvPr id="3" name="Cylinder 2">
              <a:extLst>
                <a:ext uri="{FF2B5EF4-FFF2-40B4-BE49-F238E27FC236}">
                  <a16:creationId xmlns:a16="http://schemas.microsoft.com/office/drawing/2014/main" id="{F2AFFD5C-72CF-5530-2201-42C7CC83CB3B}"/>
                </a:ext>
              </a:extLst>
            </p:cNvPr>
            <p:cNvSpPr/>
            <p:nvPr/>
          </p:nvSpPr>
          <p:spPr>
            <a:xfrm>
              <a:off x="9105917" y="2161310"/>
              <a:ext cx="1762974" cy="1390930"/>
            </a:xfrm>
            <a:prstGeom prst="can">
              <a:avLst>
                <a:gd name="adj" fmla="val 16447"/>
              </a:avLst>
            </a:prstGeom>
            <a:solidFill>
              <a:schemeClr val="bg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50000"/>
                </a:lnSpc>
              </a:pPr>
              <a:r>
                <a:rPr lang="vi-VN" sz="160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Bộ dữ liệu về lịch sử Việt Nam (Json)</a:t>
              </a:r>
            </a:p>
          </p:txBody>
        </p:sp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951E8469-60B8-D09D-C561-69905BD7BC5A}"/>
                </a:ext>
              </a:extLst>
            </p:cNvPr>
            <p:cNvCxnSpPr>
              <a:cxnSpLocks/>
              <a:stCxn id="2" idx="3"/>
            </p:cNvCxnSpPr>
            <p:nvPr/>
          </p:nvCxnSpPr>
          <p:spPr>
            <a:xfrm flipV="1">
              <a:off x="2951017" y="2856046"/>
              <a:ext cx="1970807" cy="145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3801CEB6-2BA3-1F75-8839-4EAAE76B75B5}"/>
                </a:ext>
              </a:extLst>
            </p:cNvPr>
            <p:cNvSpPr txBox="1"/>
            <p:nvPr/>
          </p:nvSpPr>
          <p:spPr>
            <a:xfrm>
              <a:off x="1125682" y="3458720"/>
              <a:ext cx="1666035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vi-VN" sz="1600">
                  <a:latin typeface="+mj-lt"/>
                </a:rPr>
                <a:t>Bộ SGK</a:t>
              </a:r>
            </a:p>
            <a:p>
              <a:pPr algn="ctr"/>
              <a:r>
                <a:rPr lang="vi-VN" sz="1600">
                  <a:latin typeface="+mj-lt"/>
                </a:rPr>
                <a:t>Lịch sử Việt Nam</a:t>
              </a:r>
              <a:endParaRPr lang="en-US" sz="1600">
                <a:latin typeface="+mj-lt"/>
              </a:endParaRP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F11DF19C-1672-E5C4-CBC7-FCCDAD35E672}"/>
                </a:ext>
              </a:extLst>
            </p:cNvPr>
            <p:cNvSpPr txBox="1"/>
            <p:nvPr/>
          </p:nvSpPr>
          <p:spPr>
            <a:xfrm>
              <a:off x="3081292" y="2518946"/>
              <a:ext cx="166603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vi-VN" sz="1600">
                  <a:latin typeface="+mj-lt"/>
                </a:rPr>
                <a:t>Thu thập dữ liệu</a:t>
              </a:r>
              <a:endParaRPr lang="en-US" sz="1600">
                <a:latin typeface="+mj-lt"/>
              </a:endParaRPr>
            </a:p>
          </p:txBody>
        </p: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783C0919-7FB7-49E0-0262-66E7758416F1}"/>
                </a:ext>
              </a:extLst>
            </p:cNvPr>
            <p:cNvGrpSpPr/>
            <p:nvPr/>
          </p:nvGrpSpPr>
          <p:grpSpPr>
            <a:xfrm>
              <a:off x="5152996" y="1941647"/>
              <a:ext cx="1753493" cy="1828800"/>
              <a:chOff x="4836951" y="713950"/>
              <a:chExt cx="1753493" cy="1828800"/>
            </a:xfrm>
          </p:grpSpPr>
          <p:pic>
            <p:nvPicPr>
              <p:cNvPr id="21" name="Graphic 20" descr="Document outline">
                <a:extLst>
                  <a:ext uri="{FF2B5EF4-FFF2-40B4-BE49-F238E27FC236}">
                    <a16:creationId xmlns:a16="http://schemas.microsoft.com/office/drawing/2014/main" id="{5B3AA808-4C6E-34DA-097A-9D292DB01AA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4836951" y="713950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22" name="Graphic 21" descr="Document outline">
                <a:extLst>
                  <a:ext uri="{FF2B5EF4-FFF2-40B4-BE49-F238E27FC236}">
                    <a16:creationId xmlns:a16="http://schemas.microsoft.com/office/drawing/2014/main" id="{B53CFECB-0F11-00D8-1A44-26F70889D31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4836951" y="1628350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23" name="Graphic 22" descr="Document outline">
                <a:extLst>
                  <a:ext uri="{FF2B5EF4-FFF2-40B4-BE49-F238E27FC236}">
                    <a16:creationId xmlns:a16="http://schemas.microsoft.com/office/drawing/2014/main" id="{22D79CC6-1073-8C34-2880-3D4B923F8C8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676044" y="1628350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24" name="Graphic 23" descr="Document outline">
                <a:extLst>
                  <a:ext uri="{FF2B5EF4-FFF2-40B4-BE49-F238E27FC236}">
                    <a16:creationId xmlns:a16="http://schemas.microsoft.com/office/drawing/2014/main" id="{79D05F1C-06FD-2D27-CBBD-DA6AD7315B9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676044" y="713950"/>
                <a:ext cx="914400" cy="914400"/>
              </a:xfrm>
              <a:prstGeom prst="rect">
                <a:avLst/>
              </a:prstGeom>
            </p:spPr>
          </p:pic>
        </p:grp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1097065E-3797-C943-090D-4F15307B7106}"/>
                </a:ext>
              </a:extLst>
            </p:cNvPr>
            <p:cNvCxnSpPr>
              <a:cxnSpLocks/>
              <a:stCxn id="32" idx="3"/>
              <a:endCxn id="3" idx="2"/>
            </p:cNvCxnSpPr>
            <p:nvPr/>
          </p:nvCxnSpPr>
          <p:spPr>
            <a:xfrm>
              <a:off x="7037222" y="2856047"/>
              <a:ext cx="2068695" cy="72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7CBB1675-DB07-4A87-862C-86BDDAD35607}"/>
                </a:ext>
              </a:extLst>
            </p:cNvPr>
            <p:cNvSpPr txBox="1"/>
            <p:nvPr/>
          </p:nvSpPr>
          <p:spPr>
            <a:xfrm>
              <a:off x="7228629" y="2517492"/>
              <a:ext cx="166603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vi-VN" sz="1600">
                  <a:latin typeface="+mj-lt"/>
                </a:rPr>
                <a:t>Chuyển sang Json</a:t>
              </a:r>
              <a:endParaRPr lang="en-US" sz="1600">
                <a:latin typeface="+mj-lt"/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33F2F2A5-CEB5-DDAF-2166-C65FC7AF8634}"/>
                </a:ext>
              </a:extLst>
            </p:cNvPr>
            <p:cNvSpPr txBox="1"/>
            <p:nvPr/>
          </p:nvSpPr>
          <p:spPr>
            <a:xfrm>
              <a:off x="5495448" y="3904098"/>
              <a:ext cx="1143895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vi-VN" sz="1600">
                  <a:latin typeface="+mj-lt"/>
                </a:rPr>
                <a:t>Dữ liệu văn bản thô</a:t>
              </a:r>
              <a:endParaRPr lang="en-US" sz="1600">
                <a:latin typeface="+mj-lt"/>
              </a:endParaRPr>
            </a:p>
          </p:txBody>
        </p:sp>
        <p:sp>
          <p:nvSpPr>
            <p:cNvPr id="32" name="Rectangle: Rounded Corners 31">
              <a:extLst>
                <a:ext uri="{FF2B5EF4-FFF2-40B4-BE49-F238E27FC236}">
                  <a16:creationId xmlns:a16="http://schemas.microsoft.com/office/drawing/2014/main" id="{ED92764E-F108-82F1-B74F-28877970E04B}"/>
                </a:ext>
              </a:extLst>
            </p:cNvPr>
            <p:cNvSpPr/>
            <p:nvPr/>
          </p:nvSpPr>
          <p:spPr>
            <a:xfrm>
              <a:off x="4948657" y="1811764"/>
              <a:ext cx="2088565" cy="2088565"/>
            </a:xfrm>
            <a:prstGeom prst="roundRect">
              <a:avLst/>
            </a:prstGeom>
            <a:noFill/>
            <a:ln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0253487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" name="Group 45">
            <a:extLst>
              <a:ext uri="{FF2B5EF4-FFF2-40B4-BE49-F238E27FC236}">
                <a16:creationId xmlns:a16="http://schemas.microsoft.com/office/drawing/2014/main" id="{9A86B12E-3D00-A383-8D6C-D858CD43A3BB}"/>
              </a:ext>
            </a:extLst>
          </p:cNvPr>
          <p:cNvGrpSpPr/>
          <p:nvPr/>
        </p:nvGrpSpPr>
        <p:grpSpPr>
          <a:xfrm>
            <a:off x="974185" y="1015409"/>
            <a:ext cx="10526918" cy="3498679"/>
            <a:chOff x="974185" y="1015409"/>
            <a:chExt cx="10526918" cy="3498679"/>
          </a:xfrm>
        </p:grpSpPr>
        <p:sp>
          <p:nvSpPr>
            <p:cNvPr id="3" name="Cylinder 2">
              <a:extLst>
                <a:ext uri="{FF2B5EF4-FFF2-40B4-BE49-F238E27FC236}">
                  <a16:creationId xmlns:a16="http://schemas.microsoft.com/office/drawing/2014/main" id="{200F56F0-BA14-96ED-1B38-ACCFBD33092D}"/>
                </a:ext>
              </a:extLst>
            </p:cNvPr>
            <p:cNvSpPr/>
            <p:nvPr/>
          </p:nvSpPr>
          <p:spPr>
            <a:xfrm>
              <a:off x="974185" y="1015409"/>
              <a:ext cx="1762974" cy="1390930"/>
            </a:xfrm>
            <a:prstGeom prst="can">
              <a:avLst>
                <a:gd name="adj" fmla="val 16447"/>
              </a:avLst>
            </a:prstGeom>
            <a:solidFill>
              <a:schemeClr val="bg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50000"/>
                </a:lnSpc>
              </a:pPr>
              <a:r>
                <a:rPr lang="vi-VN" sz="160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Bộ dữ liệu về lịch sử Việt Nam (Json)</a:t>
              </a:r>
            </a:p>
          </p:txBody>
        </p: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E3FE52B4-D82D-4986-10CA-52A5D455B5D3}"/>
                </a:ext>
              </a:extLst>
            </p:cNvPr>
            <p:cNvSpPr/>
            <p:nvPr/>
          </p:nvSpPr>
          <p:spPr>
            <a:xfrm>
              <a:off x="3280434" y="1799316"/>
              <a:ext cx="1762976" cy="57302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600">
                  <a:solidFill>
                    <a:schemeClr val="tx1"/>
                  </a:solidFill>
                  <a:latin typeface="+mj-lt"/>
                </a:rPr>
                <a:t>Loại bỏ dữ </a:t>
              </a:r>
            </a:p>
            <a:p>
              <a:pPr algn="ctr"/>
              <a:r>
                <a:rPr lang="vi-VN" sz="1600">
                  <a:solidFill>
                    <a:schemeClr val="tx1"/>
                  </a:solidFill>
                  <a:latin typeface="+mj-lt"/>
                </a:rPr>
                <a:t>liệu trùng</a:t>
              </a:r>
              <a:endParaRPr lang="en-US" sz="16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3CFE6D26-B116-3A24-EC44-E3FFB835D97A}"/>
                </a:ext>
              </a:extLst>
            </p:cNvPr>
            <p:cNvSpPr/>
            <p:nvPr/>
          </p:nvSpPr>
          <p:spPr>
            <a:xfrm>
              <a:off x="7085528" y="3123158"/>
              <a:ext cx="1762976" cy="57302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600">
                  <a:solidFill>
                    <a:schemeClr val="tx1"/>
                  </a:solidFill>
                  <a:latin typeface="+mj-lt"/>
                </a:rPr>
                <a:t>Thống kê</a:t>
              </a:r>
            </a:p>
            <a:p>
              <a:pPr algn="ctr"/>
              <a:r>
                <a:rPr lang="vi-VN" sz="1600">
                  <a:solidFill>
                    <a:schemeClr val="tx1"/>
                  </a:solidFill>
                  <a:latin typeface="+mj-lt"/>
                </a:rPr>
                <a:t>dữ liệu</a:t>
              </a:r>
              <a:endParaRPr lang="en-US" sz="16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A4C7AFD1-8E50-7CB2-FB8E-065E58A1CDDF}"/>
                </a:ext>
              </a:extLst>
            </p:cNvPr>
            <p:cNvSpPr/>
            <p:nvPr/>
          </p:nvSpPr>
          <p:spPr>
            <a:xfrm>
              <a:off x="8392132" y="1784479"/>
              <a:ext cx="1762976" cy="57302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600">
                  <a:solidFill>
                    <a:schemeClr val="tx1"/>
                  </a:solidFill>
                  <a:latin typeface="+mj-lt"/>
                </a:rPr>
                <a:t>Phân đoạn</a:t>
              </a:r>
            </a:p>
            <a:p>
              <a:pPr algn="ctr"/>
              <a:r>
                <a:rPr lang="vi-VN" sz="1600">
                  <a:solidFill>
                    <a:schemeClr val="tx1"/>
                  </a:solidFill>
                  <a:latin typeface="+mj-lt"/>
                </a:rPr>
                <a:t>dữ liệu</a:t>
              </a:r>
              <a:endParaRPr lang="en-US" sz="16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7F6B1B42-BF2F-CFBE-F7A3-78F3DC6196E8}"/>
                </a:ext>
              </a:extLst>
            </p:cNvPr>
            <p:cNvSpPr/>
            <p:nvPr/>
          </p:nvSpPr>
          <p:spPr>
            <a:xfrm>
              <a:off x="5820568" y="1786582"/>
              <a:ext cx="1762976" cy="57302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600">
                  <a:solidFill>
                    <a:schemeClr val="tx1"/>
                  </a:solidFill>
                  <a:latin typeface="+mj-lt"/>
                </a:rPr>
                <a:t>Kiểm tra và xử lý outlier</a:t>
              </a:r>
              <a:endParaRPr lang="en-US" sz="16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661AC77E-E31B-290B-E31B-075FF4711955}"/>
                </a:ext>
              </a:extLst>
            </p:cNvPr>
            <p:cNvSpPr/>
            <p:nvPr/>
          </p:nvSpPr>
          <p:spPr>
            <a:xfrm>
              <a:off x="4522007" y="3123158"/>
              <a:ext cx="1762976" cy="57302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600">
                  <a:solidFill>
                    <a:schemeClr val="tx1"/>
                  </a:solidFill>
                  <a:latin typeface="+mj-lt"/>
                </a:rPr>
                <a:t>Loại bỏ các ký tự đặc biệt</a:t>
              </a:r>
              <a:endParaRPr lang="en-US" sz="16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4DA639AE-3159-C703-E2A8-14C0407606EE}"/>
                </a:ext>
              </a:extLst>
            </p:cNvPr>
            <p:cNvSpPr/>
            <p:nvPr/>
          </p:nvSpPr>
          <p:spPr>
            <a:xfrm>
              <a:off x="2025792" y="3123158"/>
              <a:ext cx="1762976" cy="57302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600">
                  <a:solidFill>
                    <a:schemeClr val="tx1"/>
                  </a:solidFill>
                  <a:latin typeface="+mj-lt"/>
                </a:rPr>
                <a:t>Chuẩn hóa</a:t>
              </a:r>
            </a:p>
            <a:p>
              <a:pPr algn="ctr"/>
              <a:r>
                <a:rPr lang="vi-VN" sz="1600">
                  <a:solidFill>
                    <a:schemeClr val="tx1"/>
                  </a:solidFill>
                  <a:latin typeface="+mj-lt"/>
                </a:rPr>
                <a:t>định dạng</a:t>
              </a:r>
            </a:p>
          </p:txBody>
        </p:sp>
        <p:sp>
          <p:nvSpPr>
            <p:cNvPr id="5" name="Cylinder 4">
              <a:extLst>
                <a:ext uri="{FF2B5EF4-FFF2-40B4-BE49-F238E27FC236}">
                  <a16:creationId xmlns:a16="http://schemas.microsoft.com/office/drawing/2014/main" id="{62B3E7F1-852D-6B8D-2FFA-81E9F71FFF16}"/>
                </a:ext>
              </a:extLst>
            </p:cNvPr>
            <p:cNvSpPr/>
            <p:nvPr/>
          </p:nvSpPr>
          <p:spPr>
            <a:xfrm>
              <a:off x="9738129" y="3123158"/>
              <a:ext cx="1762974" cy="1390930"/>
            </a:xfrm>
            <a:prstGeom prst="can">
              <a:avLst>
                <a:gd name="adj" fmla="val 16447"/>
              </a:avLst>
            </a:prstGeom>
            <a:solidFill>
              <a:schemeClr val="bg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50000"/>
                </a:lnSpc>
              </a:pPr>
              <a:r>
                <a:rPr lang="vi-VN" sz="160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Bộ dữ liệu về lịch sử Việt Nam đã được chuẩn hóa</a:t>
              </a:r>
            </a:p>
          </p:txBody>
        </p:sp>
        <p:cxnSp>
          <p:nvCxnSpPr>
            <p:cNvPr id="14" name="Connector: Elbow 13">
              <a:extLst>
                <a:ext uri="{FF2B5EF4-FFF2-40B4-BE49-F238E27FC236}">
                  <a16:creationId xmlns:a16="http://schemas.microsoft.com/office/drawing/2014/main" id="{945CB6F7-F5EA-43EA-6654-C8F6599BDA4C}"/>
                </a:ext>
              </a:extLst>
            </p:cNvPr>
            <p:cNvCxnSpPr>
              <a:cxnSpLocks/>
              <a:stCxn id="3" idx="3"/>
              <a:endCxn id="2" idx="0"/>
            </p:cNvCxnSpPr>
            <p:nvPr/>
          </p:nvCxnSpPr>
          <p:spPr>
            <a:xfrm rot="16200000" flipH="1">
              <a:off x="2023067" y="2238944"/>
              <a:ext cx="716819" cy="1051608"/>
            </a:xfrm>
            <a:prstGeom prst="bentConnector3">
              <a:avLst>
                <a:gd name="adj1" fmla="val 63350"/>
              </a:avLst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Connector: Elbow 15">
              <a:extLst>
                <a:ext uri="{FF2B5EF4-FFF2-40B4-BE49-F238E27FC236}">
                  <a16:creationId xmlns:a16="http://schemas.microsoft.com/office/drawing/2014/main" id="{56B5E0F6-FCC5-45E6-119D-919A05947552}"/>
                </a:ext>
              </a:extLst>
            </p:cNvPr>
            <p:cNvCxnSpPr>
              <a:stCxn id="2" idx="2"/>
              <a:endCxn id="6" idx="2"/>
            </p:cNvCxnSpPr>
            <p:nvPr/>
          </p:nvCxnSpPr>
          <p:spPr>
            <a:xfrm rot="5400000" flipH="1" flipV="1">
              <a:off x="2872680" y="2406940"/>
              <a:ext cx="1323842" cy="1254642"/>
            </a:xfrm>
            <a:prstGeom prst="bentConnector3">
              <a:avLst>
                <a:gd name="adj1" fmla="val -17268"/>
              </a:avLst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Connector: Elbow 17">
              <a:extLst>
                <a:ext uri="{FF2B5EF4-FFF2-40B4-BE49-F238E27FC236}">
                  <a16:creationId xmlns:a16="http://schemas.microsoft.com/office/drawing/2014/main" id="{B886B0F7-F125-7E8B-CCA0-0BB6E7CDDCCC}"/>
                </a:ext>
              </a:extLst>
            </p:cNvPr>
            <p:cNvCxnSpPr>
              <a:stCxn id="6" idx="0"/>
              <a:endCxn id="10" idx="0"/>
            </p:cNvCxnSpPr>
            <p:nvPr/>
          </p:nvCxnSpPr>
          <p:spPr>
            <a:xfrm rot="16200000" flipH="1">
              <a:off x="4120787" y="1840451"/>
              <a:ext cx="1323842" cy="1241573"/>
            </a:xfrm>
            <a:prstGeom prst="bentConnector3">
              <a:avLst>
                <a:gd name="adj1" fmla="val -16464"/>
              </a:avLst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Connector: Elbow 19">
              <a:extLst>
                <a:ext uri="{FF2B5EF4-FFF2-40B4-BE49-F238E27FC236}">
                  <a16:creationId xmlns:a16="http://schemas.microsoft.com/office/drawing/2014/main" id="{AD919492-94BD-56AE-FB25-7060384414C8}"/>
                </a:ext>
              </a:extLst>
            </p:cNvPr>
            <p:cNvCxnSpPr>
              <a:stCxn id="10" idx="2"/>
              <a:endCxn id="9" idx="2"/>
            </p:cNvCxnSpPr>
            <p:nvPr/>
          </p:nvCxnSpPr>
          <p:spPr>
            <a:xfrm rot="5400000" flipH="1" flipV="1">
              <a:off x="5384487" y="2378613"/>
              <a:ext cx="1336576" cy="1298561"/>
            </a:xfrm>
            <a:prstGeom prst="bentConnector3">
              <a:avLst>
                <a:gd name="adj1" fmla="val -17103"/>
              </a:avLst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Connector: Elbow 21">
              <a:extLst>
                <a:ext uri="{FF2B5EF4-FFF2-40B4-BE49-F238E27FC236}">
                  <a16:creationId xmlns:a16="http://schemas.microsoft.com/office/drawing/2014/main" id="{E8F136AC-55C9-492C-EBD6-59337CFBF672}"/>
                </a:ext>
              </a:extLst>
            </p:cNvPr>
            <p:cNvCxnSpPr>
              <a:stCxn id="9" idx="0"/>
              <a:endCxn id="7" idx="0"/>
            </p:cNvCxnSpPr>
            <p:nvPr/>
          </p:nvCxnSpPr>
          <p:spPr>
            <a:xfrm rot="16200000" flipH="1">
              <a:off x="6666248" y="1822390"/>
              <a:ext cx="1336576" cy="1264960"/>
            </a:xfrm>
            <a:prstGeom prst="bentConnector3">
              <a:avLst>
                <a:gd name="adj1" fmla="val -16307"/>
              </a:avLst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Connector: Elbow 23">
              <a:extLst>
                <a:ext uri="{FF2B5EF4-FFF2-40B4-BE49-F238E27FC236}">
                  <a16:creationId xmlns:a16="http://schemas.microsoft.com/office/drawing/2014/main" id="{AD94FCAF-E4A4-A473-715B-84E0FA26F994}"/>
                </a:ext>
              </a:extLst>
            </p:cNvPr>
            <p:cNvCxnSpPr>
              <a:stCxn id="7" idx="2"/>
              <a:endCxn id="8" idx="2"/>
            </p:cNvCxnSpPr>
            <p:nvPr/>
          </p:nvCxnSpPr>
          <p:spPr>
            <a:xfrm rot="5400000" flipH="1" flipV="1">
              <a:off x="7950978" y="2373541"/>
              <a:ext cx="1338679" cy="1306604"/>
            </a:xfrm>
            <a:prstGeom prst="bentConnector3">
              <a:avLst>
                <a:gd name="adj1" fmla="val -17077"/>
              </a:avLst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Connector: Elbow 25">
              <a:extLst>
                <a:ext uri="{FF2B5EF4-FFF2-40B4-BE49-F238E27FC236}">
                  <a16:creationId xmlns:a16="http://schemas.microsoft.com/office/drawing/2014/main" id="{C8743502-2714-E079-BF15-F637AE39EE8C}"/>
                </a:ext>
              </a:extLst>
            </p:cNvPr>
            <p:cNvCxnSpPr>
              <a:stCxn id="8" idx="0"/>
              <a:endCxn id="5" idx="1"/>
            </p:cNvCxnSpPr>
            <p:nvPr/>
          </p:nvCxnSpPr>
          <p:spPr>
            <a:xfrm rot="16200000" flipH="1">
              <a:off x="9277278" y="1780820"/>
              <a:ext cx="1338679" cy="1345996"/>
            </a:xfrm>
            <a:prstGeom prst="bentConnector3">
              <a:avLst>
                <a:gd name="adj1" fmla="val -17077"/>
              </a:avLst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C2341F0-6442-0427-B3F2-31EDD49654F7}"/>
                </a:ext>
              </a:extLst>
            </p:cNvPr>
            <p:cNvSpPr txBox="1"/>
            <p:nvPr/>
          </p:nvSpPr>
          <p:spPr>
            <a:xfrm>
              <a:off x="1945433" y="2461237"/>
              <a:ext cx="42511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600">
                  <a:latin typeface="+mj-lt"/>
                </a:rPr>
                <a:t>(1)</a:t>
              </a:r>
              <a:endParaRPr lang="en-US" sz="1600">
                <a:latin typeface="+mj-lt"/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6F85CC87-117B-AD77-530F-F7830A94F887}"/>
                </a:ext>
              </a:extLst>
            </p:cNvPr>
            <p:cNvSpPr txBox="1"/>
            <p:nvPr/>
          </p:nvSpPr>
          <p:spPr>
            <a:xfrm>
              <a:off x="3703204" y="2461237"/>
              <a:ext cx="42511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600">
                  <a:latin typeface="+mj-lt"/>
                </a:rPr>
                <a:t>(2)</a:t>
              </a:r>
              <a:endParaRPr lang="en-US" sz="1600">
                <a:latin typeface="+mj-lt"/>
              </a:endParaRP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1F453E09-60C1-84D8-4160-F013DA9DBAF0}"/>
                </a:ext>
              </a:extLst>
            </p:cNvPr>
            <p:cNvSpPr txBox="1"/>
            <p:nvPr/>
          </p:nvSpPr>
          <p:spPr>
            <a:xfrm>
              <a:off x="4969662" y="2461237"/>
              <a:ext cx="42511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600">
                  <a:latin typeface="+mj-lt"/>
                </a:rPr>
                <a:t>(3)</a:t>
              </a:r>
              <a:endParaRPr lang="en-US" sz="1600">
                <a:latin typeface="+mj-lt"/>
              </a:endParaRP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0DDEA7C5-BDDB-8282-A623-90653FF86101}"/>
                </a:ext>
              </a:extLst>
            </p:cNvPr>
            <p:cNvSpPr txBox="1"/>
            <p:nvPr/>
          </p:nvSpPr>
          <p:spPr>
            <a:xfrm>
              <a:off x="6276941" y="2461237"/>
              <a:ext cx="42511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600">
                  <a:latin typeface="+mj-lt"/>
                </a:rPr>
                <a:t>(4)</a:t>
              </a:r>
              <a:endParaRPr lang="en-US" sz="1600">
                <a:latin typeface="+mj-lt"/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088F36DE-2D69-ECA2-E8D9-5EAA6F5F8E38}"/>
                </a:ext>
              </a:extLst>
            </p:cNvPr>
            <p:cNvSpPr txBox="1"/>
            <p:nvPr/>
          </p:nvSpPr>
          <p:spPr>
            <a:xfrm>
              <a:off x="7541901" y="2461237"/>
              <a:ext cx="42511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600">
                  <a:latin typeface="+mj-lt"/>
                </a:rPr>
                <a:t>(5)</a:t>
              </a:r>
              <a:endParaRPr lang="en-US" sz="1600">
                <a:latin typeface="+mj-lt"/>
              </a:endParaRP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2FAC1699-66DF-C02E-1ED6-E3119B7E5061}"/>
                </a:ext>
              </a:extLst>
            </p:cNvPr>
            <p:cNvSpPr txBox="1"/>
            <p:nvPr/>
          </p:nvSpPr>
          <p:spPr>
            <a:xfrm>
              <a:off x="8848504" y="2461237"/>
              <a:ext cx="42511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600">
                  <a:latin typeface="+mj-lt"/>
                </a:rPr>
                <a:t>(6)</a:t>
              </a:r>
              <a:endParaRPr lang="en-US" sz="1600">
                <a:latin typeface="+mj-lt"/>
              </a:endParaRP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7B07E3FD-B578-8A16-838C-02FFF3CCEA43}"/>
                </a:ext>
              </a:extLst>
            </p:cNvPr>
            <p:cNvSpPr txBox="1"/>
            <p:nvPr/>
          </p:nvSpPr>
          <p:spPr>
            <a:xfrm>
              <a:off x="10194500" y="2461237"/>
              <a:ext cx="42511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600">
                  <a:latin typeface="+mj-lt"/>
                </a:rPr>
                <a:t>(7)</a:t>
              </a:r>
              <a:endParaRPr lang="en-US" sz="1600">
                <a:latin typeface="+mj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838821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C3B24D-E97B-2982-21AB-8F7CB06C7A45}"/>
              </a:ext>
            </a:extLst>
          </p:cNvPr>
          <p:cNvSpPr txBox="1"/>
          <p:nvPr/>
        </p:nvSpPr>
        <p:spPr>
          <a:xfrm>
            <a:off x="282388" y="349624"/>
            <a:ext cx="56110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Minh </a:t>
            </a:r>
            <a:r>
              <a:rPr lang="en-US" dirty="0" err="1"/>
              <a:t>họa</a:t>
            </a:r>
            <a:r>
              <a:rPr lang="en-US" dirty="0"/>
              <a:t> </a:t>
            </a:r>
            <a:r>
              <a:rPr lang="en-US" dirty="0" err="1"/>
              <a:t>tại</a:t>
            </a:r>
            <a:r>
              <a:rPr lang="en-US" dirty="0"/>
              <a:t> </a:t>
            </a:r>
            <a:r>
              <a:rPr lang="en-US" dirty="0" err="1"/>
              <a:t>sao</a:t>
            </a:r>
            <a:r>
              <a:rPr lang="en-US" dirty="0"/>
              <a:t> </a:t>
            </a:r>
            <a:r>
              <a:rPr lang="en-US" dirty="0" err="1"/>
              <a:t>phải</a:t>
            </a:r>
            <a:r>
              <a:rPr lang="en-US" dirty="0"/>
              <a:t> </a:t>
            </a:r>
            <a:r>
              <a:rPr lang="en-US" dirty="0" err="1"/>
              <a:t>đánh</a:t>
            </a:r>
            <a:r>
              <a:rPr lang="en-US" dirty="0"/>
              <a:t> </a:t>
            </a:r>
            <a:r>
              <a:rPr lang="en-US" dirty="0" err="1"/>
              <a:t>giá</a:t>
            </a:r>
            <a:r>
              <a:rPr lang="en-US" dirty="0"/>
              <a:t> </a:t>
            </a:r>
            <a:r>
              <a:rPr lang="en-US" dirty="0" err="1"/>
              <a:t>các</a:t>
            </a:r>
            <a:r>
              <a:rPr lang="en-US" dirty="0"/>
              <a:t> </a:t>
            </a:r>
            <a:r>
              <a:rPr lang="en-US" dirty="0" err="1"/>
              <a:t>mô</a:t>
            </a:r>
            <a:r>
              <a:rPr lang="en-US" dirty="0"/>
              <a:t> </a:t>
            </a:r>
            <a:r>
              <a:rPr lang="en-US" dirty="0" err="1"/>
              <a:t>hình</a:t>
            </a:r>
            <a:r>
              <a:rPr lang="en-US" dirty="0"/>
              <a:t> embedding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D554426-02F7-6201-3382-1D1AE96B3CE9}"/>
              </a:ext>
            </a:extLst>
          </p:cNvPr>
          <p:cNvSpPr/>
          <p:nvPr/>
        </p:nvSpPr>
        <p:spPr>
          <a:xfrm>
            <a:off x="4199664" y="2161516"/>
            <a:ext cx="3106270" cy="564775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Mô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embedding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thứ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1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5077656-6A4D-58F0-8A7A-9FBD56E062FD}"/>
              </a:ext>
            </a:extLst>
          </p:cNvPr>
          <p:cNvSpPr/>
          <p:nvPr/>
        </p:nvSpPr>
        <p:spPr>
          <a:xfrm>
            <a:off x="4199664" y="2864225"/>
            <a:ext cx="3106270" cy="564775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Mô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embedding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thứ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2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4119826-8CDE-7B01-CE12-92B08DA695BA}"/>
              </a:ext>
            </a:extLst>
          </p:cNvPr>
          <p:cNvSpPr/>
          <p:nvPr/>
        </p:nvSpPr>
        <p:spPr>
          <a:xfrm>
            <a:off x="4199664" y="3566934"/>
            <a:ext cx="3106270" cy="564775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…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D509198A-0DC1-1DD7-2B6F-2F4D3465A857}"/>
              </a:ext>
            </a:extLst>
          </p:cNvPr>
          <p:cNvSpPr/>
          <p:nvPr/>
        </p:nvSpPr>
        <p:spPr>
          <a:xfrm>
            <a:off x="4199664" y="4269643"/>
            <a:ext cx="3106270" cy="564775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Mô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embedding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thứ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9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52C132B-786B-4BBA-58ED-644F7C300F16}"/>
              </a:ext>
            </a:extLst>
          </p:cNvPr>
          <p:cNvSpPr/>
          <p:nvPr/>
        </p:nvSpPr>
        <p:spPr>
          <a:xfrm>
            <a:off x="8628642" y="2196783"/>
            <a:ext cx="3106270" cy="1267485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Đánh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err="1">
                <a:latin typeface="Times New Roman" panose="02020603050405020304" pitchFamily="18" charset="0"/>
                <a:cs typeface="Times New Roman" panose="02020603050405020304" pitchFamily="18" charset="0"/>
              </a:rPr>
              <a:t>giá</a:t>
            </a:r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 các</a:t>
            </a:r>
            <a:endParaRPr lang="vi-V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lnSpc>
                <a:spcPct val="150000"/>
              </a:lnSpc>
            </a:pPr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mô hình</a:t>
            </a:r>
            <a:r>
              <a:rPr lang="vi-VN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embedding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702AFE56-144B-3D67-0AA6-792A70207318}"/>
              </a:ext>
            </a:extLst>
          </p:cNvPr>
          <p:cNvSpPr/>
          <p:nvPr/>
        </p:nvSpPr>
        <p:spPr>
          <a:xfrm>
            <a:off x="8628642" y="4203942"/>
            <a:ext cx="3106270" cy="564775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Mô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embedding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tốt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nhất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3D85151E-3E44-E803-2997-4A581D50A246}"/>
              </a:ext>
            </a:extLst>
          </p:cNvPr>
          <p:cNvCxnSpPr>
            <a:cxnSpLocks/>
            <a:endCxn id="7" idx="1"/>
          </p:cNvCxnSpPr>
          <p:nvPr/>
        </p:nvCxnSpPr>
        <p:spPr>
          <a:xfrm>
            <a:off x="3200400" y="4210195"/>
            <a:ext cx="999264" cy="341836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3B416591-AA92-CD3B-CB62-161FE2288E92}"/>
              </a:ext>
            </a:extLst>
          </p:cNvPr>
          <p:cNvCxnSpPr>
            <a:cxnSpLocks/>
            <a:endCxn id="6" idx="1"/>
          </p:cNvCxnSpPr>
          <p:nvPr/>
        </p:nvCxnSpPr>
        <p:spPr>
          <a:xfrm flipV="1">
            <a:off x="3200400" y="3849322"/>
            <a:ext cx="999264" cy="360873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DA66796E-470B-F597-8EB2-BA2BC0D79DFB}"/>
              </a:ext>
            </a:extLst>
          </p:cNvPr>
          <p:cNvCxnSpPr>
            <a:cxnSpLocks/>
            <a:endCxn id="5" idx="1"/>
          </p:cNvCxnSpPr>
          <p:nvPr/>
        </p:nvCxnSpPr>
        <p:spPr>
          <a:xfrm flipV="1">
            <a:off x="3200400" y="3146613"/>
            <a:ext cx="999264" cy="1063582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582234F0-BED0-EFF6-A032-BC295D83E412}"/>
              </a:ext>
            </a:extLst>
          </p:cNvPr>
          <p:cNvCxnSpPr>
            <a:cxnSpLocks/>
            <a:endCxn id="4" idx="1"/>
          </p:cNvCxnSpPr>
          <p:nvPr/>
        </p:nvCxnSpPr>
        <p:spPr>
          <a:xfrm flipV="1">
            <a:off x="3200400" y="2443904"/>
            <a:ext cx="999264" cy="176629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33CD101D-6DFE-141C-1EA5-3FA099A1402B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7305934" y="2443904"/>
            <a:ext cx="1322708" cy="38662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3BD9F433-E4E8-0D2A-74D6-95D14C182EBD}"/>
              </a:ext>
            </a:extLst>
          </p:cNvPr>
          <p:cNvCxnSpPr>
            <a:cxnSpLocks/>
            <a:stCxn id="5" idx="3"/>
            <a:endCxn id="8" idx="1"/>
          </p:cNvCxnSpPr>
          <p:nvPr/>
        </p:nvCxnSpPr>
        <p:spPr>
          <a:xfrm flipV="1">
            <a:off x="7305934" y="2830526"/>
            <a:ext cx="1322708" cy="31608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D7DA4822-67CF-5A59-146F-E542C24B2290}"/>
              </a:ext>
            </a:extLst>
          </p:cNvPr>
          <p:cNvCxnSpPr>
            <a:cxnSpLocks/>
            <a:stCxn id="6" idx="3"/>
            <a:endCxn id="8" idx="1"/>
          </p:cNvCxnSpPr>
          <p:nvPr/>
        </p:nvCxnSpPr>
        <p:spPr>
          <a:xfrm flipV="1">
            <a:off x="7305934" y="2830526"/>
            <a:ext cx="1322708" cy="101879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EDE7D1EE-109E-83EC-0BD9-4020CD37FCCC}"/>
              </a:ext>
            </a:extLst>
          </p:cNvPr>
          <p:cNvCxnSpPr>
            <a:cxnSpLocks/>
            <a:stCxn id="7" idx="3"/>
            <a:endCxn id="8" idx="1"/>
          </p:cNvCxnSpPr>
          <p:nvPr/>
        </p:nvCxnSpPr>
        <p:spPr>
          <a:xfrm flipV="1">
            <a:off x="7305934" y="2830526"/>
            <a:ext cx="1322708" cy="172150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A49B7D38-4D52-C275-261C-25F35EDADFA9}"/>
              </a:ext>
            </a:extLst>
          </p:cNvPr>
          <p:cNvCxnSpPr>
            <a:stCxn id="8" idx="2"/>
            <a:endCxn id="9" idx="0"/>
          </p:cNvCxnSpPr>
          <p:nvPr/>
        </p:nvCxnSpPr>
        <p:spPr>
          <a:xfrm>
            <a:off x="10181777" y="3464268"/>
            <a:ext cx="0" cy="7396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Cylinder 9">
            <a:extLst>
              <a:ext uri="{FF2B5EF4-FFF2-40B4-BE49-F238E27FC236}">
                <a16:creationId xmlns:a16="http://schemas.microsoft.com/office/drawing/2014/main" id="{B7448E0E-1025-81CE-9FBD-D7722C494F23}"/>
              </a:ext>
            </a:extLst>
          </p:cNvPr>
          <p:cNvSpPr/>
          <p:nvPr/>
        </p:nvSpPr>
        <p:spPr>
          <a:xfrm>
            <a:off x="1437426" y="3464268"/>
            <a:ext cx="1762974" cy="1390930"/>
          </a:xfrm>
          <a:prstGeom prst="can">
            <a:avLst>
              <a:gd name="adj" fmla="val 16447"/>
            </a:avLst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vi-VN" sz="16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Bộ dữ liệu về lịch sử Việt Nam đã được chuẩn hóa</a:t>
            </a:r>
          </a:p>
        </p:txBody>
      </p:sp>
    </p:spTree>
    <p:extLst>
      <p:ext uri="{BB962C8B-B14F-4D97-AF65-F5344CB8AC3E}">
        <p14:creationId xmlns:p14="http://schemas.microsoft.com/office/powerpoint/2010/main" val="37635517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2EA15317-0687-82A7-8F34-E245BF7496A2}"/>
              </a:ext>
            </a:extLst>
          </p:cNvPr>
          <p:cNvSpPr/>
          <p:nvPr/>
        </p:nvSpPr>
        <p:spPr>
          <a:xfrm>
            <a:off x="4710543" y="1888300"/>
            <a:ext cx="2770912" cy="436418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600">
                <a:solidFill>
                  <a:schemeClr val="tx1"/>
                </a:solidFill>
                <a:latin typeface="+mj-lt"/>
              </a:rPr>
              <a:t>Giao diện đăng ký/đăng nhập</a:t>
            </a:r>
            <a:endParaRPr lang="en-US" sz="1600">
              <a:solidFill>
                <a:schemeClr val="tx1"/>
              </a:solidFill>
              <a:latin typeface="+mj-lt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40EBFA2-C2F3-9787-724E-2BF7ED3F6604}"/>
              </a:ext>
            </a:extLst>
          </p:cNvPr>
          <p:cNvSpPr/>
          <p:nvPr/>
        </p:nvSpPr>
        <p:spPr>
          <a:xfrm>
            <a:off x="2614180" y="3052081"/>
            <a:ext cx="1588078" cy="675409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600">
                <a:solidFill>
                  <a:schemeClr val="tx1"/>
                </a:solidFill>
                <a:latin typeface="+mj-lt"/>
              </a:rPr>
              <a:t>Đăng ký</a:t>
            </a:r>
            <a:endParaRPr lang="en-US" sz="1600">
              <a:solidFill>
                <a:schemeClr val="tx1"/>
              </a:solidFill>
              <a:latin typeface="+mj-lt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0C64B575-A76D-5036-8FA9-2AFD31831522}"/>
              </a:ext>
            </a:extLst>
          </p:cNvPr>
          <p:cNvSpPr/>
          <p:nvPr/>
        </p:nvSpPr>
        <p:spPr>
          <a:xfrm>
            <a:off x="5301959" y="3052082"/>
            <a:ext cx="1588078" cy="675409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600">
                <a:solidFill>
                  <a:schemeClr val="tx1"/>
                </a:solidFill>
                <a:latin typeface="+mj-lt"/>
              </a:rPr>
              <a:t>Đăng nhập</a:t>
            </a:r>
            <a:endParaRPr lang="en-US" sz="1600">
              <a:solidFill>
                <a:schemeClr val="tx1"/>
              </a:solidFill>
              <a:latin typeface="+mj-lt"/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E28BFBE-3429-1418-D209-77F555515ECD}"/>
              </a:ext>
            </a:extLst>
          </p:cNvPr>
          <p:cNvSpPr/>
          <p:nvPr/>
        </p:nvSpPr>
        <p:spPr>
          <a:xfrm>
            <a:off x="5301959" y="4454854"/>
            <a:ext cx="1588078" cy="675409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600">
                <a:solidFill>
                  <a:schemeClr val="tx1"/>
                </a:solidFill>
                <a:latin typeface="+mj-lt"/>
              </a:rPr>
              <a:t>Người dùng nhập thông tin</a:t>
            </a:r>
            <a:endParaRPr lang="en-US" sz="1600">
              <a:solidFill>
                <a:schemeClr val="tx1"/>
              </a:solidFill>
              <a:latin typeface="+mj-lt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BEBDE03-5A5E-50A8-0CAA-9BA9D30EF15A}"/>
              </a:ext>
            </a:extLst>
          </p:cNvPr>
          <p:cNvSpPr/>
          <p:nvPr/>
        </p:nvSpPr>
        <p:spPr>
          <a:xfrm>
            <a:off x="2614180" y="4413288"/>
            <a:ext cx="1588078" cy="675409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600">
                <a:solidFill>
                  <a:schemeClr val="tx1"/>
                </a:solidFill>
                <a:latin typeface="+mj-lt"/>
              </a:rPr>
              <a:t>Người dùng nhập thông tin</a:t>
            </a:r>
            <a:endParaRPr lang="en-US" sz="1600">
              <a:solidFill>
                <a:schemeClr val="tx1"/>
              </a:solidFill>
              <a:latin typeface="+mj-lt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C74779B1-D515-1EF6-1900-5F8D609F013D}"/>
              </a:ext>
            </a:extLst>
          </p:cNvPr>
          <p:cNvSpPr/>
          <p:nvPr/>
        </p:nvSpPr>
        <p:spPr>
          <a:xfrm>
            <a:off x="2614180" y="5816061"/>
            <a:ext cx="6963636" cy="675409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600">
                <a:solidFill>
                  <a:schemeClr val="tx1"/>
                </a:solidFill>
                <a:latin typeface="+mj-lt"/>
              </a:rPr>
              <a:t>Giao diện người dùng chatbot</a:t>
            </a:r>
            <a:endParaRPr lang="en-US" sz="1600">
              <a:solidFill>
                <a:schemeClr val="tx1"/>
              </a:solidFill>
              <a:latin typeface="+mj-lt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AAF0A63F-FBD6-2D94-6DCC-10B1FCC92632}"/>
              </a:ext>
            </a:extLst>
          </p:cNvPr>
          <p:cNvSpPr/>
          <p:nvPr/>
        </p:nvSpPr>
        <p:spPr>
          <a:xfrm>
            <a:off x="7989738" y="4444460"/>
            <a:ext cx="1588078" cy="675409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600">
                <a:solidFill>
                  <a:schemeClr val="tx1"/>
                </a:solidFill>
                <a:latin typeface="+mj-lt"/>
              </a:rPr>
              <a:t>Đăng xuất</a:t>
            </a:r>
            <a:endParaRPr lang="en-US" sz="1600">
              <a:solidFill>
                <a:schemeClr val="tx1"/>
              </a:solidFill>
              <a:latin typeface="+mj-lt"/>
            </a:endParaRP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3BA0F59-8489-6D44-D3EB-8179377580FA}"/>
              </a:ext>
            </a:extLst>
          </p:cNvPr>
          <p:cNvCxnSpPr>
            <a:cxnSpLocks/>
            <a:endCxn id="3" idx="0"/>
          </p:cNvCxnSpPr>
          <p:nvPr/>
        </p:nvCxnSpPr>
        <p:spPr>
          <a:xfrm>
            <a:off x="6095999" y="1479068"/>
            <a:ext cx="0" cy="4092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DA813B6C-58AF-F8F9-FA69-4AECEA469ABE}"/>
              </a:ext>
            </a:extLst>
          </p:cNvPr>
          <p:cNvCxnSpPr>
            <a:cxnSpLocks/>
            <a:stCxn id="3" idx="2"/>
            <a:endCxn id="5" idx="0"/>
          </p:cNvCxnSpPr>
          <p:nvPr/>
        </p:nvCxnSpPr>
        <p:spPr>
          <a:xfrm flipH="1">
            <a:off x="6095998" y="2324718"/>
            <a:ext cx="1" cy="7273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E6831E9B-2008-4202-FB03-7485722821DA}"/>
              </a:ext>
            </a:extLst>
          </p:cNvPr>
          <p:cNvCxnSpPr>
            <a:cxnSpLocks/>
            <a:stCxn id="3" idx="2"/>
            <a:endCxn id="4" idx="0"/>
          </p:cNvCxnSpPr>
          <p:nvPr/>
        </p:nvCxnSpPr>
        <p:spPr>
          <a:xfrm rot="5400000">
            <a:off x="4388428" y="1344509"/>
            <a:ext cx="727363" cy="268778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355E5A9-3368-5FE1-631A-DF73C9926095}"/>
              </a:ext>
            </a:extLst>
          </p:cNvPr>
          <p:cNvCxnSpPr>
            <a:stCxn id="5" idx="2"/>
            <a:endCxn id="6" idx="0"/>
          </p:cNvCxnSpPr>
          <p:nvPr/>
        </p:nvCxnSpPr>
        <p:spPr>
          <a:xfrm>
            <a:off x="6095998" y="3727491"/>
            <a:ext cx="0" cy="7273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E652D558-672F-1A4C-D571-A74E57862B81}"/>
              </a:ext>
            </a:extLst>
          </p:cNvPr>
          <p:cNvCxnSpPr>
            <a:stCxn id="4" idx="2"/>
            <a:endCxn id="8" idx="0"/>
          </p:cNvCxnSpPr>
          <p:nvPr/>
        </p:nvCxnSpPr>
        <p:spPr>
          <a:xfrm>
            <a:off x="3408219" y="3727490"/>
            <a:ext cx="0" cy="6857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4BA61D56-544D-3777-00ED-74D7C273C477}"/>
              </a:ext>
            </a:extLst>
          </p:cNvPr>
          <p:cNvCxnSpPr>
            <a:cxnSpLocks/>
            <a:stCxn id="8" idx="2"/>
          </p:cNvCxnSpPr>
          <p:nvPr/>
        </p:nvCxnSpPr>
        <p:spPr>
          <a:xfrm>
            <a:off x="3408219" y="5088697"/>
            <a:ext cx="0" cy="37407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4ADD7E55-E2CA-B3E2-9813-6E78261D1520}"/>
              </a:ext>
            </a:extLst>
          </p:cNvPr>
          <p:cNvCxnSpPr/>
          <p:nvPr/>
        </p:nvCxnSpPr>
        <p:spPr>
          <a:xfrm>
            <a:off x="3408219" y="5462773"/>
            <a:ext cx="2185814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42F78551-9762-E155-4B6D-961F07218F4B}"/>
              </a:ext>
            </a:extLst>
          </p:cNvPr>
          <p:cNvCxnSpPr>
            <a:cxnSpLocks/>
          </p:cNvCxnSpPr>
          <p:nvPr/>
        </p:nvCxnSpPr>
        <p:spPr>
          <a:xfrm>
            <a:off x="5594033" y="5462773"/>
            <a:ext cx="0" cy="35328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3033B4EB-A950-B53B-26CD-5A7783A71260}"/>
              </a:ext>
            </a:extLst>
          </p:cNvPr>
          <p:cNvCxnSpPr>
            <a:stCxn id="6" idx="2"/>
            <a:endCxn id="10" idx="0"/>
          </p:cNvCxnSpPr>
          <p:nvPr/>
        </p:nvCxnSpPr>
        <p:spPr>
          <a:xfrm>
            <a:off x="6095998" y="5130263"/>
            <a:ext cx="0" cy="6857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066B987A-3824-6F03-B748-175C64F11F8D}"/>
              </a:ext>
            </a:extLst>
          </p:cNvPr>
          <p:cNvCxnSpPr>
            <a:cxnSpLocks/>
            <a:stCxn id="6" idx="3"/>
            <a:endCxn id="3" idx="3"/>
          </p:cNvCxnSpPr>
          <p:nvPr/>
        </p:nvCxnSpPr>
        <p:spPr>
          <a:xfrm flipV="1">
            <a:off x="6890037" y="2106509"/>
            <a:ext cx="591418" cy="2686050"/>
          </a:xfrm>
          <a:prstGeom prst="bentConnector3">
            <a:avLst>
              <a:gd name="adj1" fmla="val 156223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1D38D816-4CA9-2DF2-9B2B-46532840AE4D}"/>
              </a:ext>
            </a:extLst>
          </p:cNvPr>
          <p:cNvCxnSpPr>
            <a:stCxn id="10" idx="3"/>
            <a:endCxn id="11" idx="3"/>
          </p:cNvCxnSpPr>
          <p:nvPr/>
        </p:nvCxnSpPr>
        <p:spPr>
          <a:xfrm flipV="1">
            <a:off x="9577816" y="4782165"/>
            <a:ext cx="12700" cy="1371601"/>
          </a:xfrm>
          <a:prstGeom prst="bentConnector3">
            <a:avLst>
              <a:gd name="adj1" fmla="val 180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Connector: Elbow 50">
            <a:extLst>
              <a:ext uri="{FF2B5EF4-FFF2-40B4-BE49-F238E27FC236}">
                <a16:creationId xmlns:a16="http://schemas.microsoft.com/office/drawing/2014/main" id="{F9A40D3E-EEEC-5419-76DE-483B0D80C761}"/>
              </a:ext>
            </a:extLst>
          </p:cNvPr>
          <p:cNvCxnSpPr>
            <a:cxnSpLocks/>
            <a:stCxn id="11" idx="0"/>
            <a:endCxn id="3" idx="3"/>
          </p:cNvCxnSpPr>
          <p:nvPr/>
        </p:nvCxnSpPr>
        <p:spPr>
          <a:xfrm rot="16200000" flipV="1">
            <a:off x="6963641" y="2624324"/>
            <a:ext cx="2337951" cy="130232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68" name="Group 67">
            <a:extLst>
              <a:ext uri="{FF2B5EF4-FFF2-40B4-BE49-F238E27FC236}">
                <a16:creationId xmlns:a16="http://schemas.microsoft.com/office/drawing/2014/main" id="{22213870-BA24-1EB9-AA5E-2E2878BFED94}"/>
              </a:ext>
            </a:extLst>
          </p:cNvPr>
          <p:cNvGrpSpPr/>
          <p:nvPr/>
        </p:nvGrpSpPr>
        <p:grpSpPr>
          <a:xfrm>
            <a:off x="5509138" y="214652"/>
            <a:ext cx="1173719" cy="1180574"/>
            <a:chOff x="5509139" y="42349"/>
            <a:chExt cx="1173719" cy="1180574"/>
          </a:xfrm>
        </p:grpSpPr>
        <p:pic>
          <p:nvPicPr>
            <p:cNvPr id="2" name="Graphic 1" descr="User with solid fill">
              <a:extLst>
                <a:ext uri="{FF2B5EF4-FFF2-40B4-BE49-F238E27FC236}">
                  <a16:creationId xmlns:a16="http://schemas.microsoft.com/office/drawing/2014/main" id="{A4CB7FE8-230F-062F-36CC-A4F2FC4E821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594034" y="42349"/>
              <a:ext cx="1003931" cy="1003931"/>
            </a:xfrm>
            <a:prstGeom prst="rect">
              <a:avLst/>
            </a:prstGeom>
          </p:spPr>
        </p:pic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A2BC84E2-0875-1FC8-BDCA-F2E5059A2D34}"/>
                </a:ext>
              </a:extLst>
            </p:cNvPr>
            <p:cNvSpPr txBox="1"/>
            <p:nvPr/>
          </p:nvSpPr>
          <p:spPr>
            <a:xfrm>
              <a:off x="5509139" y="884369"/>
              <a:ext cx="117371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600">
                  <a:latin typeface="+mj-lt"/>
                </a:rPr>
                <a:t>Người dùng</a:t>
              </a:r>
              <a:endParaRPr lang="en-US" sz="1600">
                <a:latin typeface="+mj-lt"/>
              </a:endParaRPr>
            </a:p>
          </p:txBody>
        </p:sp>
      </p:grpSp>
      <p:sp>
        <p:nvSpPr>
          <p:cNvPr id="69" name="TextBox 68">
            <a:extLst>
              <a:ext uri="{FF2B5EF4-FFF2-40B4-BE49-F238E27FC236}">
                <a16:creationId xmlns:a16="http://schemas.microsoft.com/office/drawing/2014/main" id="{27D9A431-6C12-C75D-2E21-ED8350B2BD23}"/>
              </a:ext>
            </a:extLst>
          </p:cNvPr>
          <p:cNvSpPr txBox="1"/>
          <p:nvPr/>
        </p:nvSpPr>
        <p:spPr>
          <a:xfrm>
            <a:off x="2547236" y="5201164"/>
            <a:ext cx="97815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400">
                <a:latin typeface="+mj-lt"/>
              </a:rPr>
              <a:t>Đăng ký</a:t>
            </a:r>
          </a:p>
          <a:p>
            <a:r>
              <a:rPr lang="vi-VN" sz="1400">
                <a:latin typeface="+mj-lt"/>
              </a:rPr>
              <a:t>thành công</a:t>
            </a:r>
            <a:endParaRPr lang="en-US" sz="140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0495738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972030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76BB85E-EAB6-2089-5682-48447CE032A4}"/>
              </a:ext>
            </a:extLst>
          </p:cNvPr>
          <p:cNvSpPr txBox="1"/>
          <p:nvPr/>
        </p:nvSpPr>
        <p:spPr>
          <a:xfrm>
            <a:off x="612648" y="795528"/>
            <a:ext cx="8497839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vi-VN"/>
              <a:t>Chức năng đăng nhập/đăng xuất: biểu đồ chức năng, usecase, tuần tự</a:t>
            </a:r>
          </a:p>
          <a:p>
            <a:pPr marL="285750" indent="-285750">
              <a:buFontTx/>
              <a:buChar char="-"/>
            </a:pPr>
            <a:r>
              <a:rPr lang="vi-VN"/>
              <a:t>Chức năng cài đặt người dùng tùy chọn: biểu đồ  chức năng, usecase, tuần tự</a:t>
            </a:r>
          </a:p>
          <a:p>
            <a:pPr marL="285750" indent="-285750">
              <a:buFontTx/>
              <a:buChar char="-"/>
            </a:pPr>
            <a:r>
              <a:rPr lang="vi-VN"/>
              <a:t>Chức năng khởi tạo starter: biểu đồ tuần tự</a:t>
            </a:r>
          </a:p>
          <a:p>
            <a:pPr marL="285750" indent="-285750">
              <a:buFontTx/>
              <a:buChar char="-"/>
            </a:pPr>
            <a:r>
              <a:rPr lang="vi-VN"/>
              <a:t>Chức năng trò chuyện văn bản: biểu đồ chức năng, usecase, tuần tự</a:t>
            </a:r>
          </a:p>
          <a:p>
            <a:pPr marL="285750" indent="-285750">
              <a:buFontTx/>
              <a:buChar char="-"/>
            </a:pPr>
            <a:r>
              <a:rPr lang="vi-VN"/>
              <a:t>Chức năng trò chuyện âm thanh: chức năng, usecase, tuần tự</a:t>
            </a:r>
          </a:p>
          <a:p>
            <a:pPr marL="285750" indent="-285750">
              <a:buFontTx/>
              <a:buChar char="-"/>
            </a:pPr>
            <a:r>
              <a:rPr lang="vi-VN"/>
              <a:t>Chức năng tăng cường trí nhớ hội thoại: chức năng, usecase, tuần tự</a:t>
            </a:r>
          </a:p>
          <a:p>
            <a:pPr marL="285750" indent="-285750">
              <a:buFontTx/>
              <a:buChar char="-"/>
            </a:pPr>
            <a:r>
              <a:rPr lang="vi-VN"/>
              <a:t>Chức năng quản lý hành vi người dùng: chức năng, usecase, tuần tự</a:t>
            </a:r>
          </a:p>
          <a:p>
            <a:pPr marL="285750" indent="-285750">
              <a:buFontTx/>
              <a:buChar char="-"/>
            </a:pPr>
            <a:r>
              <a:rPr lang="vi-VN"/>
              <a:t>Chức năng quản lý hội thoại: chức năng, usecase, tuần tự</a:t>
            </a:r>
          </a:p>
          <a:p>
            <a:pPr marL="285750" indent="-285750">
              <a:buFontTx/>
              <a:buChar char="-"/>
            </a:pPr>
            <a:r>
              <a:rPr lang="vi-VN"/>
              <a:t>Chức năng xử lý trích xuất thông tin trò chuyện</a:t>
            </a:r>
          </a:p>
          <a:p>
            <a:pPr marL="285750" indent="-285750">
              <a:buFontTx/>
              <a:buChar char="-"/>
            </a:pPr>
            <a:endParaRPr lang="vi-VN"/>
          </a:p>
          <a:p>
            <a:pPr marL="285750" indent="-285750">
              <a:buFontTx/>
              <a:buChar char="-"/>
            </a:pPr>
            <a:r>
              <a:rPr lang="vi-VN"/>
              <a:t>Thiết kế cơ sở dữ liệu embedding: có những trường nào</a:t>
            </a:r>
          </a:p>
          <a:p>
            <a:pPr marL="285750" indent="-285750">
              <a:buFontTx/>
              <a:buChar char="-"/>
            </a:pPr>
            <a:r>
              <a:rPr lang="vi-VN"/>
              <a:t>Cơ sở dữ liệu lưu trữ lịch sử hội thoại</a:t>
            </a:r>
          </a:p>
          <a:p>
            <a:pPr marL="285750" indent="-285750">
              <a:buFontTx/>
              <a:buChar char="-"/>
            </a:pPr>
            <a:r>
              <a:rPr lang="vi-VN"/>
              <a:t>Co sơ dữ liệu lưu trữ thông tin người dùng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99647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5821577-64B6-E0C7-06AB-59F7A45847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675" y="1"/>
            <a:ext cx="1104832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73344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982</TotalTime>
  <Words>712</Words>
  <Application>Microsoft Office PowerPoint</Application>
  <PresentationFormat>Widescreen</PresentationFormat>
  <Paragraphs>156</Paragraphs>
  <Slides>11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Aptos</vt:lpstr>
      <vt:lpstr>Aptos Display</vt:lpstr>
      <vt:lpstr>Arial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Úc Ngô Văn</dc:creator>
  <cp:lastModifiedBy>Úc Ngô Văn</cp:lastModifiedBy>
  <cp:revision>513</cp:revision>
  <dcterms:created xsi:type="dcterms:W3CDTF">2025-05-23T12:28:00Z</dcterms:created>
  <dcterms:modified xsi:type="dcterms:W3CDTF">2025-05-27T09:46:33Z</dcterms:modified>
</cp:coreProperties>
</file>